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6"/>
  </p:notesMasterIdLst>
  <p:sldIdLst>
    <p:sldId id="256" r:id="rId5"/>
    <p:sldId id="414" r:id="rId6"/>
    <p:sldId id="415" r:id="rId7"/>
    <p:sldId id="436" r:id="rId8"/>
    <p:sldId id="420" r:id="rId9"/>
    <p:sldId id="417" r:id="rId10"/>
    <p:sldId id="418" r:id="rId11"/>
    <p:sldId id="421" r:id="rId12"/>
    <p:sldId id="423" r:id="rId13"/>
    <p:sldId id="422" r:id="rId14"/>
    <p:sldId id="424" r:id="rId15"/>
    <p:sldId id="425" r:id="rId16"/>
    <p:sldId id="426" r:id="rId17"/>
    <p:sldId id="427" r:id="rId18"/>
    <p:sldId id="428" r:id="rId19"/>
    <p:sldId id="429" r:id="rId20"/>
    <p:sldId id="430" r:id="rId21"/>
    <p:sldId id="431" r:id="rId22"/>
    <p:sldId id="433" r:id="rId23"/>
    <p:sldId id="434" r:id="rId24"/>
    <p:sldId id="43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bon.rodrigue@imt-atlantique.fr" initials="da" lastIdx="2" clrIdx="0">
    <p:extLst>
      <p:ext uri="{19B8F6BF-5375-455C-9EA6-DF929625EA0E}">
        <p15:presenceInfo xmlns:p15="http://schemas.microsoft.com/office/powerpoint/2012/main" userId="dubon.rodrigue@imt-atlantique.f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49" autoAdjust="0"/>
    <p:restoredTop sz="81658" autoAdjust="0"/>
  </p:normalViewPr>
  <p:slideViewPr>
    <p:cSldViewPr snapToGrid="0">
      <p:cViewPr varScale="1">
        <p:scale>
          <a:sx n="66" d="100"/>
          <a:sy n="66" d="100"/>
        </p:scale>
        <p:origin x="682"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EFAC32-5CD4-4CCF-B6B4-76BF5AF8F128}" type="datetimeFigureOut">
              <a:rPr lang="en-US" smtClean="0"/>
              <a:t>6/30/2024</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DF0270-FA4E-428A-B318-947C738BDA88}" type="slidenum">
              <a:rPr lang="en-US" smtClean="0"/>
              <a:t>‹N°›</a:t>
            </a:fld>
            <a:endParaRPr lang="en-US"/>
          </a:p>
        </p:txBody>
      </p:sp>
    </p:spTree>
    <p:extLst>
      <p:ext uri="{BB962C8B-B14F-4D97-AF65-F5344CB8AC3E}">
        <p14:creationId xmlns:p14="http://schemas.microsoft.com/office/powerpoint/2010/main" val="13274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Thank you for having me</a:t>
            </a:r>
          </a:p>
          <a:p>
            <a:pPr marL="171450" indent="-171450">
              <a:buFontTx/>
              <a:buChar char="-"/>
            </a:pPr>
            <a:r>
              <a:rPr lang="en-US" dirty="0"/>
              <a:t>Give us the opportunity to present our work about …</a:t>
            </a:r>
          </a:p>
          <a:p>
            <a:pPr marL="171450" indent="-171450">
              <a:buFontTx/>
              <a:buChar char="-"/>
            </a:pPr>
            <a:endParaRPr lang="en-US" dirty="0"/>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a:t>
            </a:fld>
            <a:endParaRPr lang="en-US"/>
          </a:p>
        </p:txBody>
      </p:sp>
    </p:spTree>
    <p:extLst>
      <p:ext uri="{BB962C8B-B14F-4D97-AF65-F5344CB8AC3E}">
        <p14:creationId xmlns:p14="http://schemas.microsoft.com/office/powerpoint/2010/main" val="35210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Let us start with a little context and introduction on District Heating Network</a:t>
            </a:r>
          </a:p>
          <a:p>
            <a:endParaRPr lang="en-US" dirty="0"/>
          </a:p>
          <a:p>
            <a:r>
              <a:rPr lang="en-US" dirty="0"/>
              <a:t>Based on previous talks, I think most of the people here is familiar with it</a:t>
            </a:r>
          </a:p>
          <a:p>
            <a:pPr marL="171450" indent="-171450">
              <a:buFontTx/>
              <a:buChar char="-"/>
            </a:pPr>
            <a:r>
              <a:rPr lang="en-US" dirty="0" err="1"/>
              <a:t>Brievly</a:t>
            </a:r>
            <a:r>
              <a:rPr lang="en-US" dirty="0"/>
              <a:t>, system to transport </a:t>
            </a:r>
            <a:r>
              <a:rPr lang="en-GB" dirty="0"/>
              <a:t>system supply heat energy </a:t>
            </a:r>
          </a:p>
          <a:p>
            <a:pPr marL="171450" indent="-171450">
              <a:buFontTx/>
              <a:buChar char="-"/>
            </a:pPr>
            <a:r>
              <a:rPr lang="en-GB" dirty="0"/>
              <a:t>in a local area by transporting hot waters (or steam) via a network of insulated pair of pipes (point ENGIE website)</a:t>
            </a:r>
          </a:p>
          <a:p>
            <a:pPr marL="171450" indent="-171450">
              <a:buFontTx/>
              <a:buChar char="-"/>
            </a:pPr>
            <a:r>
              <a:rPr lang="en-US" dirty="0"/>
              <a:t>Numerous operational advantages but our focus will be on control</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2</a:t>
            </a:fld>
            <a:endParaRPr lang="en-US"/>
          </a:p>
        </p:txBody>
      </p:sp>
    </p:spTree>
    <p:extLst>
      <p:ext uri="{BB962C8B-B14F-4D97-AF65-F5344CB8AC3E}">
        <p14:creationId xmlns:p14="http://schemas.microsoft.com/office/powerpoint/2010/main" val="1231077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Controlling DHN is not an easy-task </a:t>
            </a:r>
          </a:p>
          <a:p>
            <a:pPr marL="171450" indent="-171450">
              <a:buFontTx/>
              <a:buChar char="-"/>
            </a:pPr>
            <a:r>
              <a:rPr lang="en-US" dirty="0"/>
              <a:t>MPC (a subcategory of control optimization) has recently gained momentum due to its adaptivity and effectiveness</a:t>
            </a:r>
          </a:p>
          <a:p>
            <a:pPr marL="171450" indent="-171450">
              <a:buFontTx/>
              <a:buChar char="-"/>
            </a:pPr>
            <a:r>
              <a:rPr lang="en-US" dirty="0"/>
              <a:t>MPC requires a modeling of the system in study (DHN) on with each decision will be evaluated</a:t>
            </a:r>
          </a:p>
          <a:p>
            <a:pPr marL="171450" indent="-171450">
              <a:buFontTx/>
              <a:buChar char="-"/>
            </a:pPr>
            <a:r>
              <a:rPr lang="en-US" dirty="0"/>
              <a:t>Recent works have shown that performing control within a moving horizon helps in improving the found solutions</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3</a:t>
            </a:fld>
            <a:endParaRPr lang="en-US"/>
          </a:p>
        </p:txBody>
      </p:sp>
    </p:spTree>
    <p:extLst>
      <p:ext uri="{BB962C8B-B14F-4D97-AF65-F5344CB8AC3E}">
        <p14:creationId xmlns:p14="http://schemas.microsoft.com/office/powerpoint/2010/main" val="720945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 Our case, our case, the objective is to :</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4</a:t>
            </a:fld>
            <a:endParaRPr lang="en-US"/>
          </a:p>
        </p:txBody>
      </p:sp>
    </p:spTree>
    <p:extLst>
      <p:ext uri="{BB962C8B-B14F-4D97-AF65-F5344CB8AC3E}">
        <p14:creationId xmlns:p14="http://schemas.microsoft.com/office/powerpoint/2010/main" val="2897730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In our work,</a:t>
            </a:r>
          </a:p>
          <a:p>
            <a:r>
              <a:rPr lang="en-US" dirty="0"/>
              <a:t>We formulate the objective and the constraints with one objective function J which encapsulates the energy produced by the heat sources and the responsiveness to the heat demands of the consumers. In fact, we want to both minimize the energy produced and the differences between heat delivered and heat demanded by the consumers.</a:t>
            </a:r>
          </a:p>
          <a:p>
            <a:endParaRPr lang="en-US" dirty="0"/>
          </a:p>
          <a:p>
            <a:pPr marL="0" indent="0">
              <a:buFontTx/>
              <a:buNone/>
            </a:pPr>
            <a:r>
              <a:rPr lang="en-US" dirty="0"/>
              <a:t>The model of the DHN is a dynamic-based simulation of the DHN which contains thermal and hydraulic models.</a:t>
            </a:r>
          </a:p>
          <a:p>
            <a:pPr marL="171450" indent="-171450">
              <a:buFontTx/>
              <a:buChar char="-"/>
            </a:pPr>
            <a:endParaRPr lang="en-US" dirty="0"/>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5</a:t>
            </a:fld>
            <a:endParaRPr lang="en-US"/>
          </a:p>
        </p:txBody>
      </p:sp>
    </p:spTree>
    <p:extLst>
      <p:ext uri="{BB962C8B-B14F-4D97-AF65-F5344CB8AC3E}">
        <p14:creationId xmlns:p14="http://schemas.microsoft.com/office/powerpoint/2010/main" val="138615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The problem is that: the MPC is computationally intensive</a:t>
            </a:r>
          </a:p>
          <a:p>
            <a:pPr marL="171450" indent="-171450">
              <a:buFontTx/>
              <a:buChar char="-"/>
            </a:pPr>
            <a:r>
              <a:rPr lang="en-US" dirty="0"/>
              <a:t>A simulation is expensive</a:t>
            </a:r>
          </a:p>
          <a:p>
            <a:pPr marL="171450" indent="-171450">
              <a:buFontTx/>
              <a:buChar char="-"/>
            </a:pPr>
            <a:r>
              <a:rPr lang="en-US" dirty="0"/>
              <a:t>We propose to reduce the computational time by reducing the topology of the DHN</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6</a:t>
            </a:fld>
            <a:endParaRPr lang="en-US"/>
          </a:p>
        </p:txBody>
      </p:sp>
    </p:spTree>
    <p:extLst>
      <p:ext uri="{BB962C8B-B14F-4D97-AF65-F5344CB8AC3E}">
        <p14:creationId xmlns:p14="http://schemas.microsoft.com/office/powerpoint/2010/main" val="2199546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How do you proposed to achieve that topology and computational time reduction ?</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7</a:t>
            </a:fld>
            <a:endParaRPr lang="en-US"/>
          </a:p>
        </p:txBody>
      </p:sp>
    </p:spTree>
    <p:extLst>
      <p:ext uri="{BB962C8B-B14F-4D97-AF65-F5344CB8AC3E}">
        <p14:creationId xmlns:p14="http://schemas.microsoft.com/office/powerpoint/2010/main" val="949923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Tell that we use a dynamic simulation model developed in prior of my </a:t>
            </a:r>
            <a:r>
              <a:rPr lang="en-US" dirty="0" err="1"/>
              <a:t>phd</a:t>
            </a:r>
            <a:endParaRPr lang="en-US" dirty="0"/>
          </a:p>
          <a:p>
            <a:r>
              <a:rPr lang="en-US" dirty="0"/>
              <a:t>20 units on the GRU </a:t>
            </a:r>
          </a:p>
          <a:p>
            <a:r>
              <a:rPr lang="en-US" dirty="0"/>
              <a:t>80 units on the hidden dense layer</a:t>
            </a:r>
          </a:p>
          <a:p>
            <a:r>
              <a:rPr lang="en-US" dirty="0"/>
              <a:t>Batch size of 64</a:t>
            </a:r>
          </a:p>
          <a:p>
            <a:r>
              <a:rPr lang="en-US" dirty="0"/>
              <a:t>A dropout 0,0</a:t>
            </a:r>
          </a:p>
          <a:p>
            <a:endParaRPr lang="en-US" dirty="0"/>
          </a:p>
          <a:p>
            <a:r>
              <a:rPr lang="en-US" dirty="0"/>
              <a:t>Mention here that in our paper we paper two versions of this learning approach but We found that this simple version combines effective accuracy and performances</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14</a:t>
            </a:fld>
            <a:endParaRPr lang="en-US"/>
          </a:p>
        </p:txBody>
      </p:sp>
    </p:spTree>
    <p:extLst>
      <p:ext uri="{BB962C8B-B14F-4D97-AF65-F5344CB8AC3E}">
        <p14:creationId xmlns:p14="http://schemas.microsoft.com/office/powerpoint/2010/main" val="1464974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15</a:t>
            </a:fld>
            <a:endParaRPr lang="en-US"/>
          </a:p>
        </p:txBody>
      </p:sp>
    </p:spTree>
    <p:extLst>
      <p:ext uri="{BB962C8B-B14F-4D97-AF65-F5344CB8AC3E}">
        <p14:creationId xmlns:p14="http://schemas.microsoft.com/office/powerpoint/2010/main" val="4179129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Now that if we compare our proposed hybrid MPC and physical MPC (or baseline MPC), you can see that the difference resides in the model used to evaluate the impact of each decision variables and how the objective function. Both MPC approach must be equivalent, therefore both objective functions should be equivalent</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16</a:t>
            </a:fld>
            <a:endParaRPr lang="en-US"/>
          </a:p>
        </p:txBody>
      </p:sp>
    </p:spTree>
    <p:extLst>
      <p:ext uri="{BB962C8B-B14F-4D97-AF65-F5344CB8AC3E}">
        <p14:creationId xmlns:p14="http://schemas.microsoft.com/office/powerpoint/2010/main" val="2030818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Here we compare the results of learning the clusters in terms of errors in temperatures at the interfaces of the replaced clusters and the consumption clusters</a:t>
            </a:r>
          </a:p>
          <a:p>
            <a:pPr marL="171450" indent="-171450">
              <a:buFontTx/>
              <a:buChar char="-"/>
            </a:pPr>
            <a:r>
              <a:rPr lang="en-US" dirty="0"/>
              <a:t>We note that K2 and K3 have the lowest errors </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17</a:t>
            </a:fld>
            <a:endParaRPr lang="en-US"/>
          </a:p>
        </p:txBody>
      </p:sp>
    </p:spTree>
    <p:extLst>
      <p:ext uri="{BB962C8B-B14F-4D97-AF65-F5344CB8AC3E}">
        <p14:creationId xmlns:p14="http://schemas.microsoft.com/office/powerpoint/2010/main" val="885422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Hybrid MPC </a:t>
            </a:r>
            <a:r>
              <a:rPr lang="en-US" dirty="0" err="1"/>
              <a:t>succefully</a:t>
            </a:r>
            <a:r>
              <a:rPr lang="en-US" dirty="0"/>
              <a:t> preserves the objective functions as the produced heat energy are very similar to produced by the physical MPC while satisfying the energy and surplus deficits below our threshold of 2 %</a:t>
            </a:r>
          </a:p>
          <a:p>
            <a:pPr marL="171450" indent="-171450">
              <a:buFontTx/>
              <a:buChar char="-"/>
            </a:pPr>
            <a:r>
              <a:rPr lang="en-US" dirty="0"/>
              <a:t>Again, the K2 and K3 have the lowest difference with the heat produced by the physical MPC which we use as baseline</a:t>
            </a:r>
          </a:p>
          <a:p>
            <a:pPr marL="171450" indent="-171450">
              <a:buFontTx/>
              <a:buChar char="-"/>
            </a:pPr>
            <a:r>
              <a:rPr lang="en-US" dirty="0"/>
              <a:t>On the contrary, a rule-based approach with fixed supply temperature which will be faster overproduce heat energy which is expected </a:t>
            </a:r>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18</a:t>
            </a:fld>
            <a:endParaRPr lang="en-US"/>
          </a:p>
        </p:txBody>
      </p:sp>
    </p:spTree>
    <p:extLst>
      <p:ext uri="{BB962C8B-B14F-4D97-AF65-F5344CB8AC3E}">
        <p14:creationId xmlns:p14="http://schemas.microsoft.com/office/powerpoint/2010/main" val="287518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en-US" dirty="0"/>
              <a:t>Now that we know the hybrid MPC mimics quite well the physical MPC, we compare the </a:t>
            </a:r>
            <a:r>
              <a:rPr lang="en-US" dirty="0" err="1"/>
              <a:t>computatational</a:t>
            </a:r>
            <a:r>
              <a:rPr lang="en-US" dirty="0"/>
              <a:t> gain of the reduced DHN</a:t>
            </a:r>
          </a:p>
          <a:p>
            <a:pPr marL="171450" indent="-171450">
              <a:buFontTx/>
              <a:buChar char="-"/>
            </a:pPr>
            <a:r>
              <a:rPr lang="en-US" dirty="0"/>
              <a:t>As you can see successfully reduce the </a:t>
            </a:r>
            <a:r>
              <a:rPr lang="en-US" dirty="0" err="1"/>
              <a:t>computataionl</a:t>
            </a:r>
            <a:r>
              <a:rPr lang="en-US" dirty="0"/>
              <a:t> time necessary to derive the optimal decision variables while keeping high accuracy</a:t>
            </a:r>
          </a:p>
          <a:p>
            <a:pPr marL="0" indent="0">
              <a:buFontTx/>
              <a:buNone/>
            </a:pPr>
            <a:endParaRPr lang="en-US" dirty="0"/>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19</a:t>
            </a:fld>
            <a:endParaRPr lang="en-US"/>
          </a:p>
        </p:txBody>
      </p:sp>
    </p:spTree>
    <p:extLst>
      <p:ext uri="{BB962C8B-B14F-4D97-AF65-F5344CB8AC3E}">
        <p14:creationId xmlns:p14="http://schemas.microsoft.com/office/powerpoint/2010/main" val="1430394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endParaRPr lang="en-US" dirty="0"/>
          </a:p>
        </p:txBody>
      </p:sp>
      <p:sp>
        <p:nvSpPr>
          <p:cNvPr id="4" name="Espace réservé du numéro de diapositive 3"/>
          <p:cNvSpPr>
            <a:spLocks noGrp="1"/>
          </p:cNvSpPr>
          <p:nvPr>
            <p:ph type="sldNum" sz="quarter" idx="5"/>
          </p:nvPr>
        </p:nvSpPr>
        <p:spPr/>
        <p:txBody>
          <a:bodyPr/>
          <a:lstStyle/>
          <a:p>
            <a:fld id="{20DF0270-FA4E-428A-B318-947C738BDA88}" type="slidenum">
              <a:rPr lang="en-US" smtClean="0"/>
              <a:t>20</a:t>
            </a:fld>
            <a:endParaRPr lang="en-US"/>
          </a:p>
        </p:txBody>
      </p:sp>
    </p:spTree>
    <p:extLst>
      <p:ext uri="{BB962C8B-B14F-4D97-AF65-F5344CB8AC3E}">
        <p14:creationId xmlns:p14="http://schemas.microsoft.com/office/powerpoint/2010/main" val="337369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A218004-A497-427E-9B88-603179A92130}" type="datetime1">
              <a:rPr lang="en-US" smtClean="0"/>
              <a:t>6/30/2024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0FD3A-9437-4772-BA54-5C858BED7CD8}"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70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9C1E59C-F8E2-4BEB-9116-FFB49ED9C842}" type="datetime1">
              <a:rPr lang="en-US" smtClean="0"/>
              <a:t>6/30/2024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32731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0DEAC81-483D-4543-8DF7-2977723DB9ED}" type="datetime1">
              <a:rPr lang="en-US" smtClean="0"/>
              <a:t>6/30/2024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0FD3A-9437-4772-BA54-5C858BED7CD8}"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441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8BBBA16-D9D1-4FD6-BD99-3DF74451915E}" type="datetime1">
              <a:rPr lang="en-US" smtClean="0"/>
              <a:t>6/30/2024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1353100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E63F442-7296-4406-86DB-7AC0F1C04F0F}" type="datetime1">
              <a:rPr lang="en-US" smtClean="0"/>
              <a:t>6/30/2024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1388626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3B3A51E-0447-483E-B753-AFB04AFCC227}" type="datetime1">
              <a:rPr lang="en-US" smtClean="0"/>
              <a:t>6/30/2024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2975971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48AE4AB-499D-49FE-BFA4-C27C78FE1733}" type="datetime1">
              <a:rPr lang="en-US" smtClean="0"/>
              <a:t>6/30/2024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1913139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7E17961-A7AF-4B77-86C3-DB853CCF7BB2}" type="datetime1">
              <a:rPr lang="en-US" smtClean="0"/>
              <a:t>6/30/2024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440FD3A-9437-4772-BA54-5C858BED7CD8}" type="slidenum">
              <a:rPr lang="en-US" smtClean="0"/>
              <a:t>‹N°›</a:t>
            </a:fld>
            <a:endParaRPr lang="en-US"/>
          </a:p>
        </p:txBody>
      </p:sp>
    </p:spTree>
    <p:extLst>
      <p:ext uri="{BB962C8B-B14F-4D97-AF65-F5344CB8AC3E}">
        <p14:creationId xmlns:p14="http://schemas.microsoft.com/office/powerpoint/2010/main" val="334043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B0AE513-43C8-4BD3-AE50-558446399341}" type="datetime1">
              <a:rPr lang="en-US" smtClean="0"/>
              <a:t>6/30/2024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3494280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AC35B7B-3FC2-4755-907B-54C0E697107F}" type="datetime1">
              <a:rPr lang="en-US" smtClean="0"/>
              <a:t>6/30/2024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276242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8288015-E5C9-496F-B47D-26BEA7879F2D}" type="datetime1">
              <a:rPr lang="en-US" smtClean="0"/>
              <a:t>6/30/2024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0FD3A-9437-4772-BA54-5C858BED7CD8}" type="slidenum">
              <a:rPr lang="en-US" smtClean="0"/>
              <a:t>‹N°›</a:t>
            </a:fld>
            <a:endParaRPr lang="en-US"/>
          </a:p>
        </p:txBody>
      </p:sp>
    </p:spTree>
    <p:extLst>
      <p:ext uri="{BB962C8B-B14F-4D97-AF65-F5344CB8AC3E}">
        <p14:creationId xmlns:p14="http://schemas.microsoft.com/office/powerpoint/2010/main" val="2929086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2D497E-C55C-46E6-8E10-D94F292E25FA}" type="datetime1">
              <a:rPr lang="en-US" smtClean="0"/>
              <a:t>6/30/2024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440FD3A-9437-4772-BA54-5C858BED7CD8}" type="slidenum">
              <a:rPr lang="en-US" smtClean="0"/>
              <a:t>‹N°›</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1312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engie.com/en/businesses/district-heating-cooling-system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0.png"/><Relationship Id="rId7" Type="http://schemas.openxmlformats.org/officeDocument/2006/relationships/image" Target="../media/image5.tm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jpg"/><Relationship Id="rId4" Type="http://schemas.openxmlformats.org/officeDocument/2006/relationships/image" Target="../media/image6.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4.png"/><Relationship Id="rId7"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4F77CA-9647-4B93-BE76-09995D5F19DC}"/>
              </a:ext>
            </a:extLst>
          </p:cNvPr>
          <p:cNvSpPr>
            <a:spLocks noGrp="1"/>
          </p:cNvSpPr>
          <p:nvPr>
            <p:ph type="ctrTitle"/>
          </p:nvPr>
        </p:nvSpPr>
        <p:spPr>
          <a:xfrm>
            <a:off x="1312127" y="2136098"/>
            <a:ext cx="9567746" cy="1732615"/>
          </a:xfrm>
        </p:spPr>
        <p:txBody>
          <a:bodyPr>
            <a:noAutofit/>
          </a:bodyPr>
          <a:lstStyle/>
          <a:p>
            <a:pPr algn="ctr"/>
            <a:r>
              <a:rPr lang="en-GB" sz="3800" dirty="0">
                <a:latin typeface="Times New Roman" panose="02020603050405020304" pitchFamily="18" charset="0"/>
                <a:cs typeface="Times New Roman" panose="02020603050405020304" pitchFamily="18" charset="0"/>
              </a:rPr>
              <a:t>Leveraging Neural Networks In a </a:t>
            </a:r>
            <a:r>
              <a:rPr lang="en-GB" sz="3800" b="1" dirty="0">
                <a:latin typeface="Times New Roman" panose="02020603050405020304" pitchFamily="18" charset="0"/>
                <a:cs typeface="Times New Roman" panose="02020603050405020304" pitchFamily="18" charset="0"/>
              </a:rPr>
              <a:t>Hybrid Model Predictive Control</a:t>
            </a:r>
            <a:r>
              <a:rPr lang="en-GB" sz="3800" dirty="0">
                <a:latin typeface="Times New Roman" panose="02020603050405020304" pitchFamily="18" charset="0"/>
                <a:cs typeface="Times New Roman" panose="02020603050405020304" pitchFamily="18" charset="0"/>
              </a:rPr>
              <a:t> framework for District Heating Networks</a:t>
            </a:r>
            <a:endParaRPr lang="en-US" sz="3800" dirty="0">
              <a:solidFill>
                <a:schemeClr val="tx1"/>
              </a:solidFill>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67866A6E-7599-4B95-A090-09F52C33384C}"/>
              </a:ext>
            </a:extLst>
          </p:cNvPr>
          <p:cNvPicPr>
            <a:picLocks noChangeAspect="1"/>
          </p:cNvPicPr>
          <p:nvPr/>
        </p:nvPicPr>
        <p:blipFill rotWithShape="1">
          <a:blip r:embed="rId3">
            <a:extLst>
              <a:ext uri="{28A0092B-C50C-407E-A947-70E740481C1C}">
                <a14:useLocalDpi xmlns:a14="http://schemas.microsoft.com/office/drawing/2010/main" val="0"/>
              </a:ext>
            </a:extLst>
          </a:blip>
          <a:srcRect l="5138" t="11002" r="8090" b="12828"/>
          <a:stretch/>
        </p:blipFill>
        <p:spPr>
          <a:xfrm>
            <a:off x="0" y="0"/>
            <a:ext cx="2232268" cy="1332452"/>
          </a:xfrm>
          <a:prstGeom prst="rect">
            <a:avLst/>
          </a:prstGeom>
        </p:spPr>
      </p:pic>
      <p:sp>
        <p:nvSpPr>
          <p:cNvPr id="4" name="ZoneTexte 3">
            <a:extLst>
              <a:ext uri="{FF2B5EF4-FFF2-40B4-BE49-F238E27FC236}">
                <a16:creationId xmlns:a16="http://schemas.microsoft.com/office/drawing/2014/main" id="{0F509923-0A9F-4C26-9211-396720C4B132}"/>
              </a:ext>
            </a:extLst>
          </p:cNvPr>
          <p:cNvSpPr txBox="1"/>
          <p:nvPr/>
        </p:nvSpPr>
        <p:spPr>
          <a:xfrm>
            <a:off x="2148336" y="4493942"/>
            <a:ext cx="7608981" cy="769441"/>
          </a:xfrm>
          <a:prstGeom prst="rect">
            <a:avLst/>
          </a:prstGeom>
          <a:noFill/>
        </p:spPr>
        <p:txBody>
          <a:bodyPr wrap="square" rtlCol="0">
            <a:spAutoFit/>
          </a:bodyPr>
          <a:lstStyle/>
          <a:p>
            <a:pPr algn="ctr"/>
            <a:r>
              <a:rPr lang="en-US" sz="2200" b="1" u="sng" dirty="0">
                <a:latin typeface="Times New Roman" panose="02020603050405020304" pitchFamily="18" charset="0"/>
                <a:cs typeface="Times New Roman" panose="02020603050405020304" pitchFamily="18" charset="0"/>
              </a:rPr>
              <a:t>Dubon Rodrigue</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Mohamed Tahar Mabrouk, Bastien </a:t>
            </a:r>
            <a:r>
              <a:rPr lang="en-US" sz="2200" dirty="0" err="1">
                <a:latin typeface="Times New Roman" panose="02020603050405020304" pitchFamily="18" charset="0"/>
                <a:cs typeface="Times New Roman" panose="02020603050405020304" pitchFamily="18" charset="0"/>
              </a:rPr>
              <a:t>Pasdeloup</a:t>
            </a:r>
            <a:r>
              <a:rPr lang="en-US" sz="2200" dirty="0">
                <a:latin typeface="Times New Roman" panose="02020603050405020304" pitchFamily="18" charset="0"/>
                <a:cs typeface="Times New Roman" panose="02020603050405020304" pitchFamily="18" charset="0"/>
              </a:rPr>
              <a:t>, Patrick Meyer, Bruno </a:t>
            </a:r>
            <a:r>
              <a:rPr lang="en-US" sz="2200" dirty="0" err="1">
                <a:latin typeface="Times New Roman" panose="02020603050405020304" pitchFamily="18" charset="0"/>
                <a:cs typeface="Times New Roman" panose="02020603050405020304" pitchFamily="18" charset="0"/>
              </a:rPr>
              <a:t>Lacarrière</a:t>
            </a:r>
            <a:endParaRPr lang="en-US" sz="2200" dirty="0">
              <a:latin typeface="Times New Roman" panose="02020603050405020304" pitchFamily="18" charset="0"/>
              <a:cs typeface="Times New Roman" panose="02020603050405020304" pitchFamily="18" charset="0"/>
            </a:endParaRPr>
          </a:p>
        </p:txBody>
      </p:sp>
      <p:sp>
        <p:nvSpPr>
          <p:cNvPr id="14" name="ZoneTexte 13">
            <a:extLst>
              <a:ext uri="{FF2B5EF4-FFF2-40B4-BE49-F238E27FC236}">
                <a16:creationId xmlns:a16="http://schemas.microsoft.com/office/drawing/2014/main" id="{BAD106BE-53B4-4990-9589-7B373BF91011}"/>
              </a:ext>
            </a:extLst>
          </p:cNvPr>
          <p:cNvSpPr txBox="1"/>
          <p:nvPr/>
        </p:nvSpPr>
        <p:spPr>
          <a:xfrm>
            <a:off x="2148337" y="5761011"/>
            <a:ext cx="7608980" cy="430887"/>
          </a:xfrm>
          <a:prstGeom prst="rect">
            <a:avLst/>
          </a:prstGeom>
          <a:noFill/>
        </p:spPr>
        <p:txBody>
          <a:bodyPr wrap="square" rtlCol="0">
            <a:spAutoFit/>
          </a:bodyPr>
          <a:lstStyle/>
          <a:p>
            <a:pPr algn="ctr"/>
            <a:r>
              <a:rPr lang="en-US" sz="2200" dirty="0">
                <a:latin typeface="Times New Roman" panose="02020603050405020304" pitchFamily="18" charset="0"/>
                <a:cs typeface="Times New Roman" panose="02020603050405020304" pitchFamily="18" charset="0"/>
              </a:rPr>
              <a:t>ECOS 2024, Rhodes, Greece</a:t>
            </a:r>
          </a:p>
        </p:txBody>
      </p:sp>
      <p:pic>
        <p:nvPicPr>
          <p:cNvPr id="6" name="Image 5">
            <a:extLst>
              <a:ext uri="{FF2B5EF4-FFF2-40B4-BE49-F238E27FC236}">
                <a16:creationId xmlns:a16="http://schemas.microsoft.com/office/drawing/2014/main" id="{E0D33D54-A345-4BF4-BADD-806AD6EBFA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0142" y="62862"/>
            <a:ext cx="1622677" cy="719751"/>
          </a:xfrm>
          <a:prstGeom prst="rect">
            <a:avLst/>
          </a:prstGeom>
        </p:spPr>
      </p:pic>
      <p:pic>
        <p:nvPicPr>
          <p:cNvPr id="8" name="Image 7">
            <a:extLst>
              <a:ext uri="{FF2B5EF4-FFF2-40B4-BE49-F238E27FC236}">
                <a16:creationId xmlns:a16="http://schemas.microsoft.com/office/drawing/2014/main" id="{70940EBF-1ACC-4BF6-BBFD-94B200A3DE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05308" y="61777"/>
            <a:ext cx="792729" cy="719752"/>
          </a:xfrm>
          <a:prstGeom prst="rect">
            <a:avLst/>
          </a:prstGeom>
        </p:spPr>
      </p:pic>
      <p:sp>
        <p:nvSpPr>
          <p:cNvPr id="3" name="ZoneTexte 2">
            <a:extLst>
              <a:ext uri="{FF2B5EF4-FFF2-40B4-BE49-F238E27FC236}">
                <a16:creationId xmlns:a16="http://schemas.microsoft.com/office/drawing/2014/main" id="{E218559A-A0AC-4FA7-A05E-EEF8A2F88534}"/>
              </a:ext>
            </a:extLst>
          </p:cNvPr>
          <p:cNvSpPr txBox="1"/>
          <p:nvPr/>
        </p:nvSpPr>
        <p:spPr>
          <a:xfrm>
            <a:off x="9460142" y="3996314"/>
            <a:ext cx="16226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Full paper #87</a:t>
            </a:r>
          </a:p>
        </p:txBody>
      </p:sp>
    </p:spTree>
    <p:extLst>
      <p:ext uri="{BB962C8B-B14F-4D97-AF65-F5344CB8AC3E}">
        <p14:creationId xmlns:p14="http://schemas.microsoft.com/office/powerpoint/2010/main" val="2469202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a:xfrm>
            <a:off x="1097280" y="241998"/>
            <a:ext cx="10058400" cy="1450757"/>
          </a:xfrm>
        </p:spPr>
        <p:txBody>
          <a:bodyPr/>
          <a:lstStyle/>
          <a:p>
            <a:r>
              <a:rPr lang="en-US" dirty="0">
                <a:solidFill>
                  <a:schemeClr val="tx1"/>
                </a:solidFill>
                <a:latin typeface="Times New Roman" panose="02020603050405020304" pitchFamily="18" charset="0"/>
                <a:cs typeface="Times New Roman" panose="02020603050405020304" pitchFamily="18" charset="0"/>
              </a:rPr>
              <a:t>Context</a:t>
            </a:r>
          </a:p>
        </p:txBody>
      </p:sp>
      <p:pic>
        <p:nvPicPr>
          <p:cNvPr id="4" name="Image 3">
            <a:extLst>
              <a:ext uri="{FF2B5EF4-FFF2-40B4-BE49-F238E27FC236}">
                <a16:creationId xmlns:a16="http://schemas.microsoft.com/office/drawing/2014/main" id="{56383BA6-AAA7-4A8C-A12F-8E0B9F421E9E}"/>
              </a:ext>
            </a:extLst>
          </p:cNvPr>
          <p:cNvPicPr>
            <a:picLocks noChangeAspect="1"/>
          </p:cNvPicPr>
          <p:nvPr/>
        </p:nvPicPr>
        <p:blipFill rotWithShape="1">
          <a:blip r:embed="rId3">
            <a:extLst>
              <a:ext uri="{28A0092B-C50C-407E-A947-70E740481C1C}">
                <a14:useLocalDpi xmlns:a14="http://schemas.microsoft.com/office/drawing/2010/main" val="0"/>
              </a:ext>
            </a:extLst>
          </a:blip>
          <a:srcRect l="7290" t="5428" r="7602" b="9784"/>
          <a:stretch/>
        </p:blipFill>
        <p:spPr>
          <a:xfrm>
            <a:off x="1118383" y="1915927"/>
            <a:ext cx="4790384" cy="3235677"/>
          </a:xfrm>
          <a:prstGeom prst="rect">
            <a:avLst/>
          </a:prstGeom>
        </p:spPr>
      </p:pic>
      <p:sp>
        <p:nvSpPr>
          <p:cNvPr id="5" name="ZoneTexte 4">
            <a:extLst>
              <a:ext uri="{FF2B5EF4-FFF2-40B4-BE49-F238E27FC236}">
                <a16:creationId xmlns:a16="http://schemas.microsoft.com/office/drawing/2014/main" id="{B4F9BC39-3E45-4FFA-944F-503FC7527DF0}"/>
              </a:ext>
            </a:extLst>
          </p:cNvPr>
          <p:cNvSpPr txBox="1"/>
          <p:nvPr/>
        </p:nvSpPr>
        <p:spPr>
          <a:xfrm>
            <a:off x="1245550" y="5220945"/>
            <a:ext cx="4536051" cy="584775"/>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District Heating Network (DHN)</a:t>
            </a:r>
            <a:endParaRPr lang="en-US"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Source: ENGIE website [</a:t>
            </a:r>
            <a:r>
              <a:rPr lang="en-US" sz="14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link</a:t>
            </a:r>
            <a:r>
              <a:rPr lang="en-US" sz="1400" dirty="0">
                <a:latin typeface="Times New Roman" panose="02020603050405020304" pitchFamily="18" charset="0"/>
                <a:cs typeface="Times New Roman" panose="02020603050405020304" pitchFamily="18" charset="0"/>
              </a:rPr>
              <a:t>]</a:t>
            </a:r>
          </a:p>
        </p:txBody>
      </p:sp>
      <p:sp>
        <p:nvSpPr>
          <p:cNvPr id="6" name="ZoneTexte 5">
            <a:extLst>
              <a:ext uri="{FF2B5EF4-FFF2-40B4-BE49-F238E27FC236}">
                <a16:creationId xmlns:a16="http://schemas.microsoft.com/office/drawing/2014/main" id="{EFFD6FD0-C24E-4082-954D-5381580848A8}"/>
              </a:ext>
            </a:extLst>
          </p:cNvPr>
          <p:cNvSpPr txBox="1"/>
          <p:nvPr/>
        </p:nvSpPr>
        <p:spPr>
          <a:xfrm>
            <a:off x="6879558" y="2057215"/>
            <a:ext cx="4405475" cy="369332"/>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local sized heat energy supply system</a:t>
            </a:r>
          </a:p>
        </p:txBody>
      </p:sp>
      <p:sp>
        <p:nvSpPr>
          <p:cNvPr id="7" name="ZoneTexte 6">
            <a:extLst>
              <a:ext uri="{FF2B5EF4-FFF2-40B4-BE49-F238E27FC236}">
                <a16:creationId xmlns:a16="http://schemas.microsoft.com/office/drawing/2014/main" id="{A3321265-A8CB-45A0-AF38-01F1590BC1BA}"/>
              </a:ext>
            </a:extLst>
          </p:cNvPr>
          <p:cNvSpPr txBox="1"/>
          <p:nvPr/>
        </p:nvSpPr>
        <p:spPr>
          <a:xfrm>
            <a:off x="6879557" y="2991432"/>
            <a:ext cx="4405476"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Hot waters traverse </a:t>
            </a:r>
            <a:r>
              <a:rPr lang="en-US" b="1" dirty="0">
                <a:latin typeface="Times New Roman" panose="02020603050405020304" pitchFamily="18" charset="0"/>
                <a:cs typeface="Times New Roman" panose="02020603050405020304" pitchFamily="18" charset="0"/>
              </a:rPr>
              <a:t>network of pipes</a:t>
            </a:r>
            <a:r>
              <a:rPr lang="en-US" dirty="0">
                <a:latin typeface="Times New Roman" panose="02020603050405020304" pitchFamily="18" charset="0"/>
                <a:cs typeface="Times New Roman" panose="02020603050405020304" pitchFamily="18" charset="0"/>
              </a:rPr>
              <a:t> to transport heat from sources to consumers</a:t>
            </a:r>
          </a:p>
        </p:txBody>
      </p:sp>
      <p:sp>
        <p:nvSpPr>
          <p:cNvPr id="8" name="ZoneTexte 7">
            <a:extLst>
              <a:ext uri="{FF2B5EF4-FFF2-40B4-BE49-F238E27FC236}">
                <a16:creationId xmlns:a16="http://schemas.microsoft.com/office/drawing/2014/main" id="{440D722C-08C5-40F3-BF3F-25177CFEC706}"/>
              </a:ext>
            </a:extLst>
          </p:cNvPr>
          <p:cNvSpPr txBox="1"/>
          <p:nvPr/>
        </p:nvSpPr>
        <p:spPr>
          <a:xfrm>
            <a:off x="6879557" y="4202648"/>
            <a:ext cx="4405476" cy="369332"/>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Enhances flexibility and efficiency</a:t>
            </a:r>
          </a:p>
        </p:txBody>
      </p:sp>
      <p:sp>
        <p:nvSpPr>
          <p:cNvPr id="9" name="ZoneTexte 8">
            <a:extLst>
              <a:ext uri="{FF2B5EF4-FFF2-40B4-BE49-F238E27FC236}">
                <a16:creationId xmlns:a16="http://schemas.microsoft.com/office/drawing/2014/main" id="{53C75B7E-F9D3-4B2D-BDA3-B0CB85ED382F}"/>
              </a:ext>
            </a:extLst>
          </p:cNvPr>
          <p:cNvSpPr txBox="1"/>
          <p:nvPr/>
        </p:nvSpPr>
        <p:spPr>
          <a:xfrm>
            <a:off x="7536994" y="4749276"/>
            <a:ext cx="3309920" cy="553998"/>
          </a:xfrm>
          <a:prstGeom prst="rect">
            <a:avLst/>
          </a:prstGeom>
          <a:noFill/>
        </p:spPr>
        <p:txBody>
          <a:bodyPr wrap="square" rtlCol="0">
            <a:spAutoFit/>
          </a:bodyPr>
          <a:lstStyle/>
          <a:p>
            <a:pPr marL="285750" indent="-28575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Optimal control of the network </a:t>
            </a:r>
          </a:p>
          <a:p>
            <a:pPr lvl="1" algn="r"/>
            <a:r>
              <a:rPr lang="en-US" sz="1400" dirty="0">
                <a:latin typeface="Times New Roman" panose="02020603050405020304" pitchFamily="18" charset="0"/>
                <a:cs typeface="Times New Roman" panose="02020603050405020304" pitchFamily="18" charset="0"/>
              </a:rPr>
              <a:t>(Jansen </a:t>
            </a:r>
            <a:r>
              <a:rPr lang="en-US" sz="1400" i="1" dirty="0">
                <a:latin typeface="Times New Roman" panose="02020603050405020304" pitchFamily="18" charset="0"/>
                <a:cs typeface="Times New Roman" panose="02020603050405020304" pitchFamily="18" charset="0"/>
              </a:rPr>
              <a:t>et al., </a:t>
            </a:r>
            <a:r>
              <a:rPr lang="en-US" sz="1400" dirty="0">
                <a:latin typeface="Times New Roman" panose="02020603050405020304" pitchFamily="18" charset="0"/>
                <a:cs typeface="Times New Roman" panose="02020603050405020304" pitchFamily="18" charset="0"/>
              </a:rPr>
              <a:t>2023) </a:t>
            </a:r>
          </a:p>
        </p:txBody>
      </p:sp>
      <p:sp>
        <p:nvSpPr>
          <p:cNvPr id="11" name="ZoneTexte 10">
            <a:extLst>
              <a:ext uri="{FF2B5EF4-FFF2-40B4-BE49-F238E27FC236}">
                <a16:creationId xmlns:a16="http://schemas.microsoft.com/office/drawing/2014/main" id="{757E0AFE-CA3A-409F-A0FC-66AD0BF00104}"/>
              </a:ext>
            </a:extLst>
          </p:cNvPr>
          <p:cNvSpPr txBox="1"/>
          <p:nvPr/>
        </p:nvSpPr>
        <p:spPr>
          <a:xfrm>
            <a:off x="7536994" y="5513333"/>
            <a:ext cx="3309920" cy="553998"/>
          </a:xfrm>
          <a:prstGeom prst="rect">
            <a:avLst/>
          </a:prstGeom>
          <a:noFill/>
        </p:spPr>
        <p:txBody>
          <a:bodyPr wrap="square" rtlCol="0">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Integration of renewable sources </a:t>
            </a:r>
          </a:p>
          <a:p>
            <a:pPr algn="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Saloux</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et al., </a:t>
            </a:r>
            <a:r>
              <a:rPr lang="en-US" sz="1400" dirty="0">
                <a:latin typeface="Times New Roman" panose="02020603050405020304" pitchFamily="18" charset="0"/>
                <a:cs typeface="Times New Roman" panose="02020603050405020304" pitchFamily="18" charset="0"/>
              </a:rPr>
              <a:t>2023</a:t>
            </a:r>
          </a:p>
        </p:txBody>
      </p:sp>
      <p:pic>
        <p:nvPicPr>
          <p:cNvPr id="10" name="Image 9">
            <a:extLst>
              <a:ext uri="{FF2B5EF4-FFF2-40B4-BE49-F238E27FC236}">
                <a16:creationId xmlns:a16="http://schemas.microsoft.com/office/drawing/2014/main" id="{F8A247C4-A6DB-4630-8BBE-6FEB2AB857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2" name="Image 11">
            <a:extLst>
              <a:ext uri="{FF2B5EF4-FFF2-40B4-BE49-F238E27FC236}">
                <a16:creationId xmlns:a16="http://schemas.microsoft.com/office/drawing/2014/main" id="{BE70AEB9-AFD2-4679-959A-B313FA9EF7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3" name="Image 12">
            <a:extLst>
              <a:ext uri="{FF2B5EF4-FFF2-40B4-BE49-F238E27FC236}">
                <a16:creationId xmlns:a16="http://schemas.microsoft.com/office/drawing/2014/main" id="{F1CDED29-FB1F-49FC-9F7F-8A8A2E9872A5}"/>
              </a:ext>
            </a:extLst>
          </p:cNvPr>
          <p:cNvPicPr>
            <a:picLocks noChangeAspect="1"/>
          </p:cNvPicPr>
          <p:nvPr/>
        </p:nvPicPr>
        <p:blipFill rotWithShape="1">
          <a:blip r:embed="rId7">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4" name="ZoneTexte 13">
            <a:extLst>
              <a:ext uri="{FF2B5EF4-FFF2-40B4-BE49-F238E27FC236}">
                <a16:creationId xmlns:a16="http://schemas.microsoft.com/office/drawing/2014/main" id="{8D704BFB-E77F-47C6-ABCC-D8B6EBD3246F}"/>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075075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a:xfrm>
            <a:off x="1097280" y="241998"/>
            <a:ext cx="10058400" cy="1450757"/>
          </a:xfrm>
        </p:spPr>
        <p:txBody>
          <a:bodyPr/>
          <a:lstStyle/>
          <a:p>
            <a:r>
              <a:rPr lang="en-US" dirty="0">
                <a:solidFill>
                  <a:schemeClr val="tx1"/>
                </a:solidFill>
                <a:latin typeface="Times New Roman" panose="02020603050405020304" pitchFamily="18" charset="0"/>
                <a:cs typeface="Times New Roman" panose="02020603050405020304" pitchFamily="18" charset="0"/>
              </a:rPr>
              <a:t>Model Predictive Control (MPC)</a:t>
            </a:r>
          </a:p>
        </p:txBody>
      </p:sp>
      <p:sp>
        <p:nvSpPr>
          <p:cNvPr id="6" name="ZoneTexte 5">
            <a:extLst>
              <a:ext uri="{FF2B5EF4-FFF2-40B4-BE49-F238E27FC236}">
                <a16:creationId xmlns:a16="http://schemas.microsoft.com/office/drawing/2014/main" id="{EFFD6FD0-C24E-4082-954D-5381580848A8}"/>
              </a:ext>
            </a:extLst>
          </p:cNvPr>
          <p:cNvSpPr txBox="1"/>
          <p:nvPr/>
        </p:nvSpPr>
        <p:spPr>
          <a:xfrm>
            <a:off x="1153285" y="2261894"/>
            <a:ext cx="4578690" cy="369332"/>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subcategory of control optimization </a:t>
            </a:r>
          </a:p>
        </p:txBody>
      </p:sp>
      <p:pic>
        <p:nvPicPr>
          <p:cNvPr id="16" name="Image 15">
            <a:extLst>
              <a:ext uri="{FF2B5EF4-FFF2-40B4-BE49-F238E27FC236}">
                <a16:creationId xmlns:a16="http://schemas.microsoft.com/office/drawing/2014/main" id="{26B068C3-DFB9-4E9D-AC85-3D5C8D3D32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7" name="Image 16">
            <a:extLst>
              <a:ext uri="{FF2B5EF4-FFF2-40B4-BE49-F238E27FC236}">
                <a16:creationId xmlns:a16="http://schemas.microsoft.com/office/drawing/2014/main" id="{276487EA-C82B-4203-BA08-2CD22ADBCB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8" name="Image 17">
            <a:extLst>
              <a:ext uri="{FF2B5EF4-FFF2-40B4-BE49-F238E27FC236}">
                <a16:creationId xmlns:a16="http://schemas.microsoft.com/office/drawing/2014/main" id="{617E9DA9-72E4-4F60-9317-59CF4ED67E0B}"/>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9" name="ZoneTexte 18">
            <a:extLst>
              <a:ext uri="{FF2B5EF4-FFF2-40B4-BE49-F238E27FC236}">
                <a16:creationId xmlns:a16="http://schemas.microsoft.com/office/drawing/2014/main" id="{E73ADCE8-71FA-4BE9-8757-4AD00D9C4E68}"/>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2</a:t>
            </a:r>
          </a:p>
        </p:txBody>
      </p:sp>
      <p:grpSp>
        <p:nvGrpSpPr>
          <p:cNvPr id="24" name="Groupe 23">
            <a:extLst>
              <a:ext uri="{FF2B5EF4-FFF2-40B4-BE49-F238E27FC236}">
                <a16:creationId xmlns:a16="http://schemas.microsoft.com/office/drawing/2014/main" id="{6B157DB3-7B7A-46CB-9AA5-7EAD93977585}"/>
              </a:ext>
            </a:extLst>
          </p:cNvPr>
          <p:cNvGrpSpPr/>
          <p:nvPr/>
        </p:nvGrpSpPr>
        <p:grpSpPr>
          <a:xfrm>
            <a:off x="7291596" y="3270026"/>
            <a:ext cx="3728471" cy="1163740"/>
            <a:chOff x="6358172" y="2936240"/>
            <a:chExt cx="3728471" cy="1163740"/>
          </a:xfrm>
        </p:grpSpPr>
        <p:sp>
          <p:nvSpPr>
            <p:cNvPr id="4" name="Rectangle 3">
              <a:extLst>
                <a:ext uri="{FF2B5EF4-FFF2-40B4-BE49-F238E27FC236}">
                  <a16:creationId xmlns:a16="http://schemas.microsoft.com/office/drawing/2014/main" id="{ABC33931-0F6C-4615-9226-5A39911F890D}"/>
                </a:ext>
              </a:extLst>
            </p:cNvPr>
            <p:cNvSpPr/>
            <p:nvPr/>
          </p:nvSpPr>
          <p:spPr>
            <a:xfrm>
              <a:off x="7096320" y="2936240"/>
              <a:ext cx="2340333" cy="7924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A6C330-18A7-49B2-B2CB-C2C4CE0F3710}"/>
                </a:ext>
              </a:extLst>
            </p:cNvPr>
            <p:cNvSpPr/>
            <p:nvPr/>
          </p:nvSpPr>
          <p:spPr>
            <a:xfrm>
              <a:off x="6358172"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t-1</a:t>
              </a:r>
            </a:p>
          </p:txBody>
        </p:sp>
        <p:sp>
          <p:nvSpPr>
            <p:cNvPr id="20" name="Rectangle 19">
              <a:extLst>
                <a:ext uri="{FF2B5EF4-FFF2-40B4-BE49-F238E27FC236}">
                  <a16:creationId xmlns:a16="http://schemas.microsoft.com/office/drawing/2014/main" id="{093F2B01-E69A-4A0E-AD29-F884008983A6}"/>
                </a:ext>
              </a:extLst>
            </p:cNvPr>
            <p:cNvSpPr/>
            <p:nvPr/>
          </p:nvSpPr>
          <p:spPr>
            <a:xfrm>
              <a:off x="7176114"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a:t>
              </a:r>
            </a:p>
          </p:txBody>
        </p:sp>
        <p:sp>
          <p:nvSpPr>
            <p:cNvPr id="21" name="Rectangle 20">
              <a:extLst>
                <a:ext uri="{FF2B5EF4-FFF2-40B4-BE49-F238E27FC236}">
                  <a16:creationId xmlns:a16="http://schemas.microsoft.com/office/drawing/2014/main" id="{457B8818-28B3-44B2-83B9-232A25908174}"/>
                </a:ext>
              </a:extLst>
            </p:cNvPr>
            <p:cNvSpPr/>
            <p:nvPr/>
          </p:nvSpPr>
          <p:spPr>
            <a:xfrm>
              <a:off x="7994056" y="3145345"/>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t+1</a:t>
              </a:r>
            </a:p>
          </p:txBody>
        </p:sp>
        <p:sp>
          <p:nvSpPr>
            <p:cNvPr id="22" name="Rectangle 21">
              <a:extLst>
                <a:ext uri="{FF2B5EF4-FFF2-40B4-BE49-F238E27FC236}">
                  <a16:creationId xmlns:a16="http://schemas.microsoft.com/office/drawing/2014/main" id="{6CA05436-EC4D-4415-8B87-940FE8522054}"/>
                </a:ext>
              </a:extLst>
            </p:cNvPr>
            <p:cNvSpPr/>
            <p:nvPr/>
          </p:nvSpPr>
          <p:spPr>
            <a:xfrm>
              <a:off x="8786474"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t+2</a:t>
              </a:r>
            </a:p>
          </p:txBody>
        </p:sp>
        <p:sp>
          <p:nvSpPr>
            <p:cNvPr id="23" name="Rectangle 22">
              <a:extLst>
                <a:ext uri="{FF2B5EF4-FFF2-40B4-BE49-F238E27FC236}">
                  <a16:creationId xmlns:a16="http://schemas.microsoft.com/office/drawing/2014/main" id="{ABB7C1AF-564A-4489-9618-3E2D3FDC8AB0}"/>
                </a:ext>
              </a:extLst>
            </p:cNvPr>
            <p:cNvSpPr/>
            <p:nvPr/>
          </p:nvSpPr>
          <p:spPr>
            <a:xfrm>
              <a:off x="9524622"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t+3</a:t>
              </a:r>
            </a:p>
          </p:txBody>
        </p:sp>
        <p:cxnSp>
          <p:nvCxnSpPr>
            <p:cNvPr id="7" name="Connecteur droit avec flèche 6">
              <a:extLst>
                <a:ext uri="{FF2B5EF4-FFF2-40B4-BE49-F238E27FC236}">
                  <a16:creationId xmlns:a16="http://schemas.microsoft.com/office/drawing/2014/main" id="{022AB789-42E5-45BE-B1B1-0643389503D2}"/>
                </a:ext>
              </a:extLst>
            </p:cNvPr>
            <p:cNvCxnSpPr>
              <a:cxnSpLocks/>
            </p:cNvCxnSpPr>
            <p:nvPr/>
          </p:nvCxnSpPr>
          <p:spPr>
            <a:xfrm>
              <a:off x="9160597" y="3915314"/>
              <a:ext cx="755311"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1" name="ZoneTexte 10">
              <a:extLst>
                <a:ext uri="{FF2B5EF4-FFF2-40B4-BE49-F238E27FC236}">
                  <a16:creationId xmlns:a16="http://schemas.microsoft.com/office/drawing/2014/main" id="{A6C26447-E470-4B0A-8905-BF01F11979CF}"/>
                </a:ext>
              </a:extLst>
            </p:cNvPr>
            <p:cNvSpPr txBox="1"/>
            <p:nvPr/>
          </p:nvSpPr>
          <p:spPr>
            <a:xfrm>
              <a:off x="7372375" y="3730648"/>
              <a:ext cx="178822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Moving horizon</a:t>
              </a:r>
            </a:p>
          </p:txBody>
        </p:sp>
      </p:grpSp>
      <p:sp>
        <p:nvSpPr>
          <p:cNvPr id="30" name="ZoneTexte 29">
            <a:extLst>
              <a:ext uri="{FF2B5EF4-FFF2-40B4-BE49-F238E27FC236}">
                <a16:creationId xmlns:a16="http://schemas.microsoft.com/office/drawing/2014/main" id="{B02E8E1D-B3CD-4C92-9351-64D72DB5E02E}"/>
              </a:ext>
            </a:extLst>
          </p:cNvPr>
          <p:cNvSpPr txBox="1"/>
          <p:nvPr/>
        </p:nvSpPr>
        <p:spPr>
          <a:xfrm>
            <a:off x="8418931" y="4580982"/>
            <a:ext cx="3588092" cy="923330"/>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Optimization within the horizon</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Applying the first step decisions</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Slide the horizon to one step </a:t>
            </a:r>
          </a:p>
        </p:txBody>
      </p:sp>
      <p:sp>
        <p:nvSpPr>
          <p:cNvPr id="31" name="ZoneTexte 30">
            <a:extLst>
              <a:ext uri="{FF2B5EF4-FFF2-40B4-BE49-F238E27FC236}">
                <a16:creationId xmlns:a16="http://schemas.microsoft.com/office/drawing/2014/main" id="{004BAD03-445F-48EC-BDCB-E8AB6FF24316}"/>
              </a:ext>
            </a:extLst>
          </p:cNvPr>
          <p:cNvSpPr txBox="1"/>
          <p:nvPr/>
        </p:nvSpPr>
        <p:spPr>
          <a:xfrm>
            <a:off x="1153285" y="3376479"/>
            <a:ext cx="457869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High effectiveness by combining predictions and decision optimization</a:t>
            </a:r>
          </a:p>
        </p:txBody>
      </p:sp>
      <p:sp>
        <p:nvSpPr>
          <p:cNvPr id="32" name="ZoneTexte 31">
            <a:extLst>
              <a:ext uri="{FF2B5EF4-FFF2-40B4-BE49-F238E27FC236}">
                <a16:creationId xmlns:a16="http://schemas.microsoft.com/office/drawing/2014/main" id="{B3AAB546-D95A-4CCD-9D75-1E3855FF3639}"/>
              </a:ext>
            </a:extLst>
          </p:cNvPr>
          <p:cNvSpPr txBox="1"/>
          <p:nvPr/>
        </p:nvSpPr>
        <p:spPr>
          <a:xfrm>
            <a:off x="3442630" y="3720698"/>
            <a:ext cx="2497873" cy="369332"/>
          </a:xfrm>
          <a:prstGeom prst="rect">
            <a:avLst/>
          </a:prstGeom>
          <a:noFill/>
        </p:spPr>
        <p:txBody>
          <a:bodyPr wrap="square">
            <a:spAutoFit/>
          </a:bodyPr>
          <a:lstStyle/>
          <a:p>
            <a:pPr lvl="1"/>
            <a:r>
              <a:rPr lang="en-US" sz="1800" dirty="0">
                <a:latin typeface="Times New Roman" panose="02020603050405020304" pitchFamily="18" charset="0"/>
                <a:cs typeface="Times New Roman" panose="02020603050405020304" pitchFamily="18" charset="0"/>
              </a:rPr>
              <a:t>(Jansen </a:t>
            </a:r>
            <a:r>
              <a:rPr lang="en-US" sz="1800" i="1" dirty="0">
                <a:latin typeface="Times New Roman" panose="02020603050405020304" pitchFamily="18" charset="0"/>
                <a:cs typeface="Times New Roman" panose="02020603050405020304" pitchFamily="18" charset="0"/>
              </a:rPr>
              <a:t>et al., </a:t>
            </a:r>
            <a:r>
              <a:rPr lang="en-US" sz="1800" dirty="0">
                <a:latin typeface="Times New Roman" panose="02020603050405020304" pitchFamily="18" charset="0"/>
                <a:cs typeface="Times New Roman" panose="02020603050405020304" pitchFamily="18" charset="0"/>
              </a:rPr>
              <a:t>2023) </a:t>
            </a:r>
          </a:p>
        </p:txBody>
      </p:sp>
      <p:sp>
        <p:nvSpPr>
          <p:cNvPr id="33" name="ZoneTexte 32">
            <a:extLst>
              <a:ext uri="{FF2B5EF4-FFF2-40B4-BE49-F238E27FC236}">
                <a16:creationId xmlns:a16="http://schemas.microsoft.com/office/drawing/2014/main" id="{BF82D47F-DD8D-472A-985D-6AE0B483C315}"/>
              </a:ext>
            </a:extLst>
          </p:cNvPr>
          <p:cNvSpPr txBox="1"/>
          <p:nvPr/>
        </p:nvSpPr>
        <p:spPr>
          <a:xfrm>
            <a:off x="1153285" y="4930352"/>
            <a:ext cx="457869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Can be used with analytic or metaheuristics based optimizer</a:t>
            </a:r>
          </a:p>
        </p:txBody>
      </p:sp>
      <p:sp>
        <p:nvSpPr>
          <p:cNvPr id="34" name="ZoneTexte 33">
            <a:extLst>
              <a:ext uri="{FF2B5EF4-FFF2-40B4-BE49-F238E27FC236}">
                <a16:creationId xmlns:a16="http://schemas.microsoft.com/office/drawing/2014/main" id="{17A2482B-5EF7-4217-A697-A4C29E3235CF}"/>
              </a:ext>
            </a:extLst>
          </p:cNvPr>
          <p:cNvSpPr txBox="1"/>
          <p:nvPr/>
        </p:nvSpPr>
        <p:spPr>
          <a:xfrm>
            <a:off x="6787440" y="2173347"/>
            <a:ext cx="4251275"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 of moving horizon in which decisions are taken </a:t>
            </a:r>
          </a:p>
        </p:txBody>
      </p:sp>
      <p:sp>
        <p:nvSpPr>
          <p:cNvPr id="35" name="ZoneTexte 34">
            <a:extLst>
              <a:ext uri="{FF2B5EF4-FFF2-40B4-BE49-F238E27FC236}">
                <a16:creationId xmlns:a16="http://schemas.microsoft.com/office/drawing/2014/main" id="{EB1CF1AA-6F54-49AD-9D4B-9DC16F187305}"/>
              </a:ext>
            </a:extLst>
          </p:cNvPr>
          <p:cNvSpPr txBox="1"/>
          <p:nvPr/>
        </p:nvSpPr>
        <p:spPr>
          <a:xfrm>
            <a:off x="8937045" y="2462565"/>
            <a:ext cx="2340333" cy="369332"/>
          </a:xfrm>
          <a:prstGeom prst="rect">
            <a:avLst/>
          </a:prstGeom>
          <a:noFill/>
        </p:spPr>
        <p:txBody>
          <a:bodyPr wrap="square">
            <a:spAutoFit/>
          </a:bodyPr>
          <a:lstStyle/>
          <a:p>
            <a:pPr marL="0" lvl="1"/>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Marquant</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et al., </a:t>
            </a:r>
            <a:r>
              <a:rPr lang="en-US" sz="1800" dirty="0">
                <a:latin typeface="Times New Roman" panose="02020603050405020304" pitchFamily="18" charset="0"/>
                <a:cs typeface="Times New Roman" panose="02020603050405020304" pitchFamily="18" charset="0"/>
              </a:rPr>
              <a:t>2023) </a:t>
            </a:r>
          </a:p>
        </p:txBody>
      </p:sp>
    </p:spTree>
    <p:extLst>
      <p:ext uri="{BB962C8B-B14F-4D97-AF65-F5344CB8AC3E}">
        <p14:creationId xmlns:p14="http://schemas.microsoft.com/office/powerpoint/2010/main" val="230566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a:xfrm>
            <a:off x="1097280" y="241998"/>
            <a:ext cx="10058400" cy="1450757"/>
          </a:xfrm>
        </p:spPr>
        <p:txBody>
          <a:bodyPr/>
          <a:lstStyle/>
          <a:p>
            <a:r>
              <a:rPr lang="en-US" dirty="0">
                <a:solidFill>
                  <a:schemeClr val="tx1"/>
                </a:solidFill>
                <a:latin typeface="Times New Roman" panose="02020603050405020304" pitchFamily="18" charset="0"/>
                <a:cs typeface="Times New Roman" panose="02020603050405020304" pitchFamily="18" charset="0"/>
              </a:rPr>
              <a:t>Model Predictive Control (MPC)</a:t>
            </a:r>
          </a:p>
        </p:txBody>
      </p:sp>
      <p:pic>
        <p:nvPicPr>
          <p:cNvPr id="16" name="Image 15">
            <a:extLst>
              <a:ext uri="{FF2B5EF4-FFF2-40B4-BE49-F238E27FC236}">
                <a16:creationId xmlns:a16="http://schemas.microsoft.com/office/drawing/2014/main" id="{26B068C3-DFB9-4E9D-AC85-3D5C8D3D32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7" name="Image 16">
            <a:extLst>
              <a:ext uri="{FF2B5EF4-FFF2-40B4-BE49-F238E27FC236}">
                <a16:creationId xmlns:a16="http://schemas.microsoft.com/office/drawing/2014/main" id="{276487EA-C82B-4203-BA08-2CD22ADBCB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8" name="Image 17">
            <a:extLst>
              <a:ext uri="{FF2B5EF4-FFF2-40B4-BE49-F238E27FC236}">
                <a16:creationId xmlns:a16="http://schemas.microsoft.com/office/drawing/2014/main" id="{617E9DA9-72E4-4F60-9317-59CF4ED67E0B}"/>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9" name="ZoneTexte 18">
            <a:extLst>
              <a:ext uri="{FF2B5EF4-FFF2-40B4-BE49-F238E27FC236}">
                <a16:creationId xmlns:a16="http://schemas.microsoft.com/office/drawing/2014/main" id="{E73ADCE8-71FA-4BE9-8757-4AD00D9C4E68}"/>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2</a:t>
            </a:r>
          </a:p>
        </p:txBody>
      </p:sp>
      <p:grpSp>
        <p:nvGrpSpPr>
          <p:cNvPr id="24" name="Groupe 23">
            <a:extLst>
              <a:ext uri="{FF2B5EF4-FFF2-40B4-BE49-F238E27FC236}">
                <a16:creationId xmlns:a16="http://schemas.microsoft.com/office/drawing/2014/main" id="{6B157DB3-7B7A-46CB-9AA5-7EAD93977585}"/>
              </a:ext>
            </a:extLst>
          </p:cNvPr>
          <p:cNvGrpSpPr/>
          <p:nvPr/>
        </p:nvGrpSpPr>
        <p:grpSpPr>
          <a:xfrm>
            <a:off x="7291596" y="3270026"/>
            <a:ext cx="3728471" cy="1163740"/>
            <a:chOff x="6358172" y="2936240"/>
            <a:chExt cx="3728471" cy="1163740"/>
          </a:xfrm>
        </p:grpSpPr>
        <p:sp>
          <p:nvSpPr>
            <p:cNvPr id="4" name="Rectangle 3">
              <a:extLst>
                <a:ext uri="{FF2B5EF4-FFF2-40B4-BE49-F238E27FC236}">
                  <a16:creationId xmlns:a16="http://schemas.microsoft.com/office/drawing/2014/main" id="{ABC33931-0F6C-4615-9226-5A39911F890D}"/>
                </a:ext>
              </a:extLst>
            </p:cNvPr>
            <p:cNvSpPr/>
            <p:nvPr/>
          </p:nvSpPr>
          <p:spPr>
            <a:xfrm>
              <a:off x="7096320" y="2936240"/>
              <a:ext cx="2340333" cy="7924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A6C330-18A7-49B2-B2CB-C2C4CE0F3710}"/>
                </a:ext>
              </a:extLst>
            </p:cNvPr>
            <p:cNvSpPr/>
            <p:nvPr/>
          </p:nvSpPr>
          <p:spPr>
            <a:xfrm>
              <a:off x="6358172"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t-1</a:t>
              </a:r>
            </a:p>
          </p:txBody>
        </p:sp>
        <p:sp>
          <p:nvSpPr>
            <p:cNvPr id="20" name="Rectangle 19">
              <a:extLst>
                <a:ext uri="{FF2B5EF4-FFF2-40B4-BE49-F238E27FC236}">
                  <a16:creationId xmlns:a16="http://schemas.microsoft.com/office/drawing/2014/main" id="{093F2B01-E69A-4A0E-AD29-F884008983A6}"/>
                </a:ext>
              </a:extLst>
            </p:cNvPr>
            <p:cNvSpPr/>
            <p:nvPr/>
          </p:nvSpPr>
          <p:spPr>
            <a:xfrm>
              <a:off x="7176114"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a:t>
              </a:r>
            </a:p>
          </p:txBody>
        </p:sp>
        <p:sp>
          <p:nvSpPr>
            <p:cNvPr id="21" name="Rectangle 20">
              <a:extLst>
                <a:ext uri="{FF2B5EF4-FFF2-40B4-BE49-F238E27FC236}">
                  <a16:creationId xmlns:a16="http://schemas.microsoft.com/office/drawing/2014/main" id="{457B8818-28B3-44B2-83B9-232A25908174}"/>
                </a:ext>
              </a:extLst>
            </p:cNvPr>
            <p:cNvSpPr/>
            <p:nvPr/>
          </p:nvSpPr>
          <p:spPr>
            <a:xfrm>
              <a:off x="7994056" y="3145345"/>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t+1</a:t>
              </a:r>
            </a:p>
          </p:txBody>
        </p:sp>
        <p:sp>
          <p:nvSpPr>
            <p:cNvPr id="22" name="Rectangle 21">
              <a:extLst>
                <a:ext uri="{FF2B5EF4-FFF2-40B4-BE49-F238E27FC236}">
                  <a16:creationId xmlns:a16="http://schemas.microsoft.com/office/drawing/2014/main" id="{6CA05436-EC4D-4415-8B87-940FE8522054}"/>
                </a:ext>
              </a:extLst>
            </p:cNvPr>
            <p:cNvSpPr/>
            <p:nvPr/>
          </p:nvSpPr>
          <p:spPr>
            <a:xfrm>
              <a:off x="8786474"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t+2</a:t>
              </a:r>
            </a:p>
          </p:txBody>
        </p:sp>
        <p:sp>
          <p:nvSpPr>
            <p:cNvPr id="23" name="Rectangle 22">
              <a:extLst>
                <a:ext uri="{FF2B5EF4-FFF2-40B4-BE49-F238E27FC236}">
                  <a16:creationId xmlns:a16="http://schemas.microsoft.com/office/drawing/2014/main" id="{ABB7C1AF-564A-4489-9618-3E2D3FDC8AB0}"/>
                </a:ext>
              </a:extLst>
            </p:cNvPr>
            <p:cNvSpPr/>
            <p:nvPr/>
          </p:nvSpPr>
          <p:spPr>
            <a:xfrm>
              <a:off x="9524622" y="3152211"/>
              <a:ext cx="562021"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t+3</a:t>
              </a:r>
            </a:p>
          </p:txBody>
        </p:sp>
        <p:cxnSp>
          <p:nvCxnSpPr>
            <p:cNvPr id="7" name="Connecteur droit avec flèche 6">
              <a:extLst>
                <a:ext uri="{FF2B5EF4-FFF2-40B4-BE49-F238E27FC236}">
                  <a16:creationId xmlns:a16="http://schemas.microsoft.com/office/drawing/2014/main" id="{022AB789-42E5-45BE-B1B1-0643389503D2}"/>
                </a:ext>
              </a:extLst>
            </p:cNvPr>
            <p:cNvCxnSpPr>
              <a:cxnSpLocks/>
            </p:cNvCxnSpPr>
            <p:nvPr/>
          </p:nvCxnSpPr>
          <p:spPr>
            <a:xfrm>
              <a:off x="9160597" y="3915314"/>
              <a:ext cx="755311"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1" name="ZoneTexte 10">
              <a:extLst>
                <a:ext uri="{FF2B5EF4-FFF2-40B4-BE49-F238E27FC236}">
                  <a16:creationId xmlns:a16="http://schemas.microsoft.com/office/drawing/2014/main" id="{A6C26447-E470-4B0A-8905-BF01F11979CF}"/>
                </a:ext>
              </a:extLst>
            </p:cNvPr>
            <p:cNvSpPr txBox="1"/>
            <p:nvPr/>
          </p:nvSpPr>
          <p:spPr>
            <a:xfrm>
              <a:off x="7372375" y="3730648"/>
              <a:ext cx="178822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Moving horizon</a:t>
              </a:r>
            </a:p>
          </p:txBody>
        </p:sp>
      </p:grpSp>
      <p:sp>
        <p:nvSpPr>
          <p:cNvPr id="30" name="ZoneTexte 29">
            <a:extLst>
              <a:ext uri="{FF2B5EF4-FFF2-40B4-BE49-F238E27FC236}">
                <a16:creationId xmlns:a16="http://schemas.microsoft.com/office/drawing/2014/main" id="{B02E8E1D-B3CD-4C92-9351-64D72DB5E02E}"/>
              </a:ext>
            </a:extLst>
          </p:cNvPr>
          <p:cNvSpPr txBox="1"/>
          <p:nvPr/>
        </p:nvSpPr>
        <p:spPr>
          <a:xfrm>
            <a:off x="8418931" y="4580982"/>
            <a:ext cx="3588092" cy="923330"/>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Optimization within the horizon</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Applying the first step decisions</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Slide the horizon to one step </a:t>
            </a:r>
          </a:p>
        </p:txBody>
      </p:sp>
      <p:sp>
        <p:nvSpPr>
          <p:cNvPr id="34" name="ZoneTexte 33">
            <a:extLst>
              <a:ext uri="{FF2B5EF4-FFF2-40B4-BE49-F238E27FC236}">
                <a16:creationId xmlns:a16="http://schemas.microsoft.com/office/drawing/2014/main" id="{17A2482B-5EF7-4217-A697-A4C29E3235CF}"/>
              </a:ext>
            </a:extLst>
          </p:cNvPr>
          <p:cNvSpPr txBox="1"/>
          <p:nvPr/>
        </p:nvSpPr>
        <p:spPr>
          <a:xfrm>
            <a:off x="6787440" y="2173347"/>
            <a:ext cx="4251275"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 of moving horizon in which decisions are taken </a:t>
            </a:r>
          </a:p>
        </p:txBody>
      </p:sp>
      <p:sp>
        <p:nvSpPr>
          <p:cNvPr id="35" name="ZoneTexte 34">
            <a:extLst>
              <a:ext uri="{FF2B5EF4-FFF2-40B4-BE49-F238E27FC236}">
                <a16:creationId xmlns:a16="http://schemas.microsoft.com/office/drawing/2014/main" id="{EB1CF1AA-6F54-49AD-9D4B-9DC16F187305}"/>
              </a:ext>
            </a:extLst>
          </p:cNvPr>
          <p:cNvSpPr txBox="1"/>
          <p:nvPr/>
        </p:nvSpPr>
        <p:spPr>
          <a:xfrm>
            <a:off x="8937045" y="2462565"/>
            <a:ext cx="2340333" cy="369332"/>
          </a:xfrm>
          <a:prstGeom prst="rect">
            <a:avLst/>
          </a:prstGeom>
          <a:noFill/>
        </p:spPr>
        <p:txBody>
          <a:bodyPr wrap="square">
            <a:spAutoFit/>
          </a:bodyPr>
          <a:lstStyle/>
          <a:p>
            <a:pPr marL="0" lvl="1"/>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Marquant</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et al., </a:t>
            </a:r>
            <a:r>
              <a:rPr lang="en-US" sz="1800" dirty="0">
                <a:latin typeface="Times New Roman" panose="02020603050405020304" pitchFamily="18" charset="0"/>
                <a:cs typeface="Times New Roman" panose="02020603050405020304" pitchFamily="18" charset="0"/>
              </a:rPr>
              <a:t>2023) </a:t>
            </a: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45897698-B80F-454D-9958-B4DA5562BAF7}"/>
                  </a:ext>
                </a:extLst>
              </p:cNvPr>
              <p:cNvSpPr txBox="1"/>
              <p:nvPr/>
            </p:nvSpPr>
            <p:spPr>
              <a:xfrm>
                <a:off x="1453439" y="3174412"/>
                <a:ext cx="4578690" cy="1234697"/>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Decide the optimal sequence of power  to produce, controlled by</a:t>
                </a:r>
              </a:p>
              <a:p>
                <a:pPr marL="742950" lvl="1" indent="-285750" algn="just">
                  <a:buFont typeface="Arial" panose="020B0604020202020204" pitchFamily="34" charset="0"/>
                  <a:buChar char="•"/>
                </a:pPr>
                <a:r>
                  <a:rPr lang="en-US" dirty="0">
                    <a:solidFill>
                      <a:srgbClr val="FF0000"/>
                    </a:solidFill>
                    <a:latin typeface="Times New Roman" panose="02020603050405020304" pitchFamily="18" charset="0"/>
                    <a:cs typeface="Times New Roman" panose="02020603050405020304" pitchFamily="18" charset="0"/>
                  </a:rPr>
                  <a:t>Sources supply temperatures </a:t>
                </a:r>
                <a14:m>
                  <m:oMath xmlns:m="http://schemas.openxmlformats.org/officeDocument/2006/math">
                    <m:sSub>
                      <m:sSubPr>
                        <m:ctrlPr>
                          <a:rPr lang="fr-FR" b="0" i="1" smtClean="0">
                            <a:solidFill>
                              <a:srgbClr val="FF0000"/>
                            </a:solidFill>
                            <a:latin typeface="Cambria Math" panose="02040503050406030204" pitchFamily="18" charset="0"/>
                            <a:cs typeface="Times New Roman" panose="02020603050405020304" pitchFamily="18" charset="0"/>
                          </a:rPr>
                        </m:ctrlPr>
                      </m:sSubPr>
                      <m:e>
                        <m:r>
                          <a:rPr lang="fr-FR" b="0" i="1" smtClean="0">
                            <a:solidFill>
                              <a:srgbClr val="FF0000"/>
                            </a:solidFill>
                            <a:latin typeface="Cambria Math" panose="02040503050406030204" pitchFamily="18" charset="0"/>
                            <a:cs typeface="Times New Roman" panose="02020603050405020304" pitchFamily="18" charset="0"/>
                          </a:rPr>
                          <m:t>𝑇</m:t>
                        </m:r>
                      </m:e>
                      <m:sub>
                        <m:r>
                          <a:rPr lang="fr-FR" b="0" i="1" smtClean="0">
                            <a:solidFill>
                              <a:srgbClr val="FF0000"/>
                            </a:solidFill>
                            <a:latin typeface="Cambria Math" panose="02040503050406030204" pitchFamily="18" charset="0"/>
                            <a:cs typeface="Times New Roman" panose="02020603050405020304" pitchFamily="18" charset="0"/>
                          </a:rPr>
                          <m:t>𝑠𝑠</m:t>
                        </m:r>
                      </m:sub>
                    </m:sSub>
                  </m:oMath>
                </a14:m>
                <a:endParaRPr lang="en-US" dirty="0">
                  <a:solidFill>
                    <a:srgbClr val="FF0000"/>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solidFill>
                      <a:srgbClr val="FF0000"/>
                    </a:solidFill>
                    <a:latin typeface="Times New Roman" panose="02020603050405020304" pitchFamily="18" charset="0"/>
                    <a:cs typeface="Times New Roman" panose="02020603050405020304" pitchFamily="18" charset="0"/>
                  </a:rPr>
                  <a:t>Supply mass flow rates </a:t>
                </a:r>
                <a14:m>
                  <m:oMath xmlns:m="http://schemas.openxmlformats.org/officeDocument/2006/math">
                    <m:sSub>
                      <m:sSubPr>
                        <m:ctrlPr>
                          <a:rPr lang="fr-FR" b="0" i="1" smtClean="0">
                            <a:solidFill>
                              <a:srgbClr val="FF0000"/>
                            </a:solidFill>
                            <a:latin typeface="Cambria Math" panose="02040503050406030204" pitchFamily="18" charset="0"/>
                            <a:cs typeface="Times New Roman" panose="02020603050405020304" pitchFamily="18" charset="0"/>
                          </a:rPr>
                        </m:ctrlPr>
                      </m:sSubPr>
                      <m:e>
                        <m:acc>
                          <m:accPr>
                            <m:chr m:val="̇"/>
                            <m:ctrlPr>
                              <a:rPr lang="en-US" i="1" smtClean="0">
                                <a:solidFill>
                                  <a:srgbClr val="FF0000"/>
                                </a:solidFill>
                                <a:latin typeface="Cambria Math" panose="02040503050406030204" pitchFamily="18" charset="0"/>
                                <a:cs typeface="Times New Roman" panose="02020603050405020304" pitchFamily="18" charset="0"/>
                              </a:rPr>
                            </m:ctrlPr>
                          </m:accPr>
                          <m:e>
                            <m:r>
                              <a:rPr lang="fr-FR" b="0" i="1" smtClean="0">
                                <a:solidFill>
                                  <a:srgbClr val="FF0000"/>
                                </a:solidFill>
                                <a:latin typeface="Cambria Math" panose="02040503050406030204" pitchFamily="18" charset="0"/>
                                <a:cs typeface="Times New Roman" panose="02020603050405020304" pitchFamily="18" charset="0"/>
                              </a:rPr>
                              <m:t>𝑚</m:t>
                            </m:r>
                          </m:e>
                        </m:acc>
                      </m:e>
                      <m:sub>
                        <m:r>
                          <a:rPr lang="fr-FR" b="0" i="1" smtClean="0">
                            <a:solidFill>
                              <a:srgbClr val="FF0000"/>
                            </a:solidFill>
                            <a:latin typeface="Cambria Math" panose="02040503050406030204" pitchFamily="18" charset="0"/>
                            <a:cs typeface="Times New Roman" panose="02020603050405020304" pitchFamily="18" charset="0"/>
                          </a:rPr>
                          <m:t>𝑠</m:t>
                        </m:r>
                      </m:sub>
                    </m:sSub>
                  </m:oMath>
                </a14:m>
                <a:endParaRPr lang="en-US" dirty="0">
                  <a:latin typeface="Times New Roman" panose="02020603050405020304" pitchFamily="18" charset="0"/>
                  <a:cs typeface="Times New Roman" panose="02020603050405020304" pitchFamily="18" charset="0"/>
                </a:endParaRPr>
              </a:p>
            </p:txBody>
          </p:sp>
        </mc:Choice>
        <mc:Fallback xmlns="">
          <p:sp>
            <p:nvSpPr>
              <p:cNvPr id="25" name="ZoneTexte 24">
                <a:extLst>
                  <a:ext uri="{FF2B5EF4-FFF2-40B4-BE49-F238E27FC236}">
                    <a16:creationId xmlns:a16="http://schemas.microsoft.com/office/drawing/2014/main" id="{45897698-B80F-454D-9958-B4DA5562BAF7}"/>
                  </a:ext>
                </a:extLst>
              </p:cNvPr>
              <p:cNvSpPr txBox="1">
                <a:spLocks noRot="1" noChangeAspect="1" noMove="1" noResize="1" noEditPoints="1" noAdjustHandles="1" noChangeArrowheads="1" noChangeShapeType="1" noTextEdit="1"/>
              </p:cNvSpPr>
              <p:nvPr/>
            </p:nvSpPr>
            <p:spPr>
              <a:xfrm>
                <a:off x="1453439" y="3174412"/>
                <a:ext cx="4578690" cy="1234697"/>
              </a:xfrm>
              <a:prstGeom prst="rect">
                <a:avLst/>
              </a:prstGeom>
              <a:blipFill>
                <a:blip r:embed="rId6"/>
                <a:stretch>
                  <a:fillRect l="-798" t="-2970" r="-1064" b="-4455"/>
                </a:stretch>
              </a:blipFill>
            </p:spPr>
            <p:txBody>
              <a:bodyPr/>
              <a:lstStyle/>
              <a:p>
                <a:r>
                  <a:rPr lang="en-US">
                    <a:noFill/>
                  </a:rPr>
                  <a:t> </a:t>
                </a:r>
              </a:p>
            </p:txBody>
          </p:sp>
        </mc:Fallback>
      </mc:AlternateContent>
      <p:sp>
        <p:nvSpPr>
          <p:cNvPr id="26" name="ZoneTexte 25">
            <a:extLst>
              <a:ext uri="{FF2B5EF4-FFF2-40B4-BE49-F238E27FC236}">
                <a16:creationId xmlns:a16="http://schemas.microsoft.com/office/drawing/2014/main" id="{3F6DEB25-BAA4-4581-A0E4-B70289659CD2}"/>
              </a:ext>
            </a:extLst>
          </p:cNvPr>
          <p:cNvSpPr txBox="1"/>
          <p:nvPr/>
        </p:nvSpPr>
        <p:spPr>
          <a:xfrm>
            <a:off x="1453438" y="4857981"/>
            <a:ext cx="4642561"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Optimally fulfilling all consumers </a:t>
            </a:r>
            <a:r>
              <a:rPr lang="en-US" dirty="0">
                <a:solidFill>
                  <a:srgbClr val="00B0F0"/>
                </a:solidFill>
                <a:latin typeface="Times New Roman" panose="02020603050405020304" pitchFamily="18" charset="0"/>
                <a:cs typeface="Times New Roman" panose="02020603050405020304" pitchFamily="18" charset="0"/>
              </a:rPr>
              <a:t>heating demands</a:t>
            </a:r>
          </a:p>
        </p:txBody>
      </p:sp>
      <p:sp>
        <p:nvSpPr>
          <p:cNvPr id="27" name="ZoneTexte 26">
            <a:extLst>
              <a:ext uri="{FF2B5EF4-FFF2-40B4-BE49-F238E27FC236}">
                <a16:creationId xmlns:a16="http://schemas.microsoft.com/office/drawing/2014/main" id="{1A9E1625-4A4D-418F-8C88-8109C6955524}"/>
              </a:ext>
            </a:extLst>
          </p:cNvPr>
          <p:cNvSpPr txBox="1"/>
          <p:nvPr/>
        </p:nvSpPr>
        <p:spPr>
          <a:xfrm>
            <a:off x="1453439" y="2462565"/>
            <a:ext cx="4578690" cy="369332"/>
          </a:xfrm>
          <a:prstGeom prst="rect">
            <a:avLst/>
          </a:prstGeom>
          <a:noFill/>
        </p:spPr>
        <p:txBody>
          <a:bodyPr wrap="square" rtlCol="0">
            <a:spAutoFit/>
          </a:bodyPr>
          <a:lstStyle/>
          <a:p>
            <a:r>
              <a:rPr lang="en-US" u="sng" dirty="0">
                <a:latin typeface="Times New Roman" panose="02020603050405020304" pitchFamily="18" charset="0"/>
                <a:cs typeface="Times New Roman" panose="02020603050405020304" pitchFamily="18" charset="0"/>
              </a:rPr>
              <a:t>In our case:</a:t>
            </a:r>
          </a:p>
        </p:txBody>
      </p:sp>
    </p:spTree>
    <p:extLst>
      <p:ext uri="{BB962C8B-B14F-4D97-AF65-F5344CB8AC3E}">
        <p14:creationId xmlns:p14="http://schemas.microsoft.com/office/powerpoint/2010/main" val="348158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a:xfrm>
            <a:off x="1097280" y="241998"/>
            <a:ext cx="10058400" cy="1450757"/>
          </a:xfrm>
        </p:spPr>
        <p:txBody>
          <a:bodyPr/>
          <a:lstStyle/>
          <a:p>
            <a:r>
              <a:rPr lang="en-US" dirty="0">
                <a:solidFill>
                  <a:schemeClr val="tx1"/>
                </a:solidFill>
                <a:latin typeface="Times New Roman" panose="02020603050405020304" pitchFamily="18" charset="0"/>
                <a:cs typeface="Times New Roman" panose="02020603050405020304" pitchFamily="18" charset="0"/>
              </a:rPr>
              <a:t>Model Predictive Control (MPC)</a:t>
            </a:r>
          </a:p>
        </p:txBody>
      </p:sp>
      <p:grpSp>
        <p:nvGrpSpPr>
          <p:cNvPr id="3" name="Groupe 2">
            <a:extLst>
              <a:ext uri="{FF2B5EF4-FFF2-40B4-BE49-F238E27FC236}">
                <a16:creationId xmlns:a16="http://schemas.microsoft.com/office/drawing/2014/main" id="{3410870B-C9B4-44B0-B5D4-A2F8B49B607A}"/>
              </a:ext>
            </a:extLst>
          </p:cNvPr>
          <p:cNvGrpSpPr/>
          <p:nvPr/>
        </p:nvGrpSpPr>
        <p:grpSpPr>
          <a:xfrm>
            <a:off x="1097280" y="1941897"/>
            <a:ext cx="10060827" cy="1940078"/>
            <a:chOff x="6226006" y="2772656"/>
            <a:chExt cx="4924071" cy="1940078"/>
          </a:xfrm>
        </p:grpSpPr>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4171D803-00E3-4B54-9319-DDADAE4D8BA0}"/>
                    </a:ext>
                  </a:extLst>
                </p:cNvPr>
                <p:cNvSpPr txBox="1"/>
                <p:nvPr/>
              </p:nvSpPr>
              <p:spPr>
                <a:xfrm>
                  <a:off x="6383670" y="2772656"/>
                  <a:ext cx="4596924" cy="88036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fr-FR" b="0" i="1" smtClean="0">
                            <a:solidFill>
                              <a:schemeClr val="tx1"/>
                            </a:solidFill>
                            <a:latin typeface="Cambria Math" panose="02040503050406030204" pitchFamily="18" charset="0"/>
                          </a:rPr>
                          <m:t>𝐽</m:t>
                        </m:r>
                        <m:r>
                          <a:rPr lang="fr-FR" b="0" i="1" smtClean="0">
                            <a:solidFill>
                              <a:schemeClr val="tx1"/>
                            </a:solidFill>
                            <a:latin typeface="Cambria Math" panose="02040503050406030204" pitchFamily="18" charset="0"/>
                          </a:rPr>
                          <m:t>=</m:t>
                        </m:r>
                        <m:nary>
                          <m:naryPr>
                            <m:chr m:val="∑"/>
                            <m:limLoc m:val="undOvr"/>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=1</m:t>
                            </m:r>
                          </m:sub>
                          <m: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𝑁</m:t>
                                </m:r>
                              </m:e>
                              <m:sub>
                                <m:r>
                                  <a:rPr lang="en-US" i="1">
                                    <a:solidFill>
                                      <a:schemeClr val="tx1"/>
                                    </a:solidFill>
                                    <a:latin typeface="Cambria Math" panose="02040503050406030204" pitchFamily="18" charset="0"/>
                                  </a:rPr>
                                  <m:t>𝑡</m:t>
                                </m:r>
                              </m:sub>
                            </m:sSub>
                          </m:sup>
                          <m:e>
                            <m:d>
                              <m:dPr>
                                <m:begChr m:val="["/>
                                <m:endChr m:val="]"/>
                                <m:ctrlPr>
                                  <a:rPr lang="en-US" i="1">
                                    <a:solidFill>
                                      <a:schemeClr val="tx1"/>
                                    </a:solidFill>
                                    <a:latin typeface="Cambria Math" panose="02040503050406030204" pitchFamily="18" charset="0"/>
                                  </a:rPr>
                                </m:ctrlPr>
                              </m:dPr>
                              <m:e>
                                <m:nary>
                                  <m:naryPr>
                                    <m:chr m:val="∑"/>
                                    <m:limLoc m:val="undOvr"/>
                                    <m:ctrlPr>
                                      <a:rPr lang="en-US" i="1">
                                        <a:solidFill>
                                          <a:schemeClr val="tx1"/>
                                        </a:solidFill>
                                        <a:latin typeface="Cambria Math" panose="02040503050406030204" pitchFamily="18" charset="0"/>
                                      </a:rPr>
                                    </m:ctrlPr>
                                  </m:naryPr>
                                  <m:sub>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𝑖</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𝑆</m:t>
                                        </m:r>
                                      </m:e>
                                    </m:d>
                                  </m:sub>
                                  <m:sup/>
                                  <m:e>
                                    <m:sSubSup>
                                      <m:sSubSupPr>
                                        <m:ctrlPr>
                                          <a:rPr lang="en-US" i="1" smtClean="0">
                                            <a:solidFill>
                                              <a:srgbClr val="FF0000"/>
                                            </a:solidFill>
                                            <a:latin typeface="Cambria Math" panose="02040503050406030204" pitchFamily="18" charset="0"/>
                                          </a:rPr>
                                        </m:ctrlPr>
                                      </m:sSubSupPr>
                                      <m:e>
                                        <m:acc>
                                          <m:accPr>
                                            <m:chr m:val="̇"/>
                                            <m:ctrlPr>
                                              <a:rPr lang="en-US" i="1">
                                                <a:solidFill>
                                                  <a:srgbClr val="FF0000"/>
                                                </a:solidFill>
                                                <a:latin typeface="Cambria Math" panose="02040503050406030204" pitchFamily="18" charset="0"/>
                                              </a:rPr>
                                            </m:ctrlPr>
                                          </m:accPr>
                                          <m:e>
                                            <m:r>
                                              <a:rPr lang="en-US" b="1" i="1">
                                                <a:solidFill>
                                                  <a:srgbClr val="FF0000"/>
                                                </a:solidFill>
                                                <a:latin typeface="Cambria Math" panose="02040503050406030204" pitchFamily="18" charset="0"/>
                                              </a:rPr>
                                              <m:t>𝒎</m:t>
                                            </m:r>
                                          </m:e>
                                        </m:acc>
                                      </m:e>
                                      <m:sub>
                                        <m:sSub>
                                          <m:sSubPr>
                                            <m:ctrlPr>
                                              <a:rPr lang="en-US"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𝒔</m:t>
                                            </m:r>
                                          </m:e>
                                          <m:sub>
                                            <m:r>
                                              <a:rPr lang="en-US" b="1" i="1">
                                                <a:solidFill>
                                                  <a:srgbClr val="FF0000"/>
                                                </a:solidFill>
                                                <a:latin typeface="Cambria Math" panose="02040503050406030204" pitchFamily="18" charset="0"/>
                                              </a:rPr>
                                              <m:t>𝒊</m:t>
                                            </m:r>
                                          </m:sub>
                                        </m:sSub>
                                      </m:sub>
                                      <m:sup>
                                        <m:r>
                                          <a:rPr lang="en-US" b="1" i="1">
                                            <a:solidFill>
                                              <a:srgbClr val="FF0000"/>
                                            </a:solidFill>
                                            <a:latin typeface="Cambria Math" panose="02040503050406030204" pitchFamily="18" charset="0"/>
                                          </a:rPr>
                                          <m:t>𝒕</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𝑐</m:t>
                                        </m:r>
                                      </m:e>
                                      <m:sub>
                                        <m:r>
                                          <a:rPr lang="en-US" i="1">
                                            <a:solidFill>
                                              <a:schemeClr val="tx1"/>
                                            </a:solidFill>
                                            <a:latin typeface="Cambria Math" panose="02040503050406030204" pitchFamily="18" charset="0"/>
                                          </a:rPr>
                                          <m:t>𝑝</m:t>
                                        </m:r>
                                      </m:sub>
                                    </m:sSub>
                                    <m:d>
                                      <m:dPr>
                                        <m:ctrlPr>
                                          <a:rPr lang="en-US" i="1">
                                            <a:solidFill>
                                              <a:schemeClr val="tx1"/>
                                            </a:solidFill>
                                            <a:latin typeface="Cambria Math" panose="02040503050406030204" pitchFamily="18" charset="0"/>
                                          </a:rPr>
                                        </m:ctrlPr>
                                      </m:dPr>
                                      <m:e>
                                        <m:sSubSup>
                                          <m:sSubSupPr>
                                            <m:ctrlPr>
                                              <a:rPr lang="en-US" i="1" smtClean="0">
                                                <a:solidFill>
                                                  <a:srgbClr val="FF0000"/>
                                                </a:solidFill>
                                                <a:latin typeface="Cambria Math" panose="02040503050406030204" pitchFamily="18" charset="0"/>
                                              </a:rPr>
                                            </m:ctrlPr>
                                          </m:sSubSupPr>
                                          <m:e>
                                            <m:r>
                                              <a:rPr lang="en-US" b="1" i="1">
                                                <a:solidFill>
                                                  <a:srgbClr val="FF0000"/>
                                                </a:solidFill>
                                                <a:latin typeface="Cambria Math" panose="02040503050406030204" pitchFamily="18" charset="0"/>
                                              </a:rPr>
                                              <m:t>𝑻</m:t>
                                            </m:r>
                                          </m:e>
                                          <m:sub>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𝒔𝒔</m:t>
                                                </m:r>
                                              </m:e>
                                              <m:sub>
                                                <m:r>
                                                  <a:rPr lang="en-US" b="1" i="1">
                                                    <a:solidFill>
                                                      <a:srgbClr val="FF0000"/>
                                                    </a:solidFill>
                                                    <a:latin typeface="Cambria Math" panose="02040503050406030204" pitchFamily="18" charset="0"/>
                                                  </a:rPr>
                                                  <m:t>𝒊</m:t>
                                                </m:r>
                                              </m:sub>
                                            </m:sSub>
                                          </m:sub>
                                          <m:sup>
                                            <m:r>
                                              <a:rPr lang="en-US" b="1" i="1">
                                                <a:solidFill>
                                                  <a:srgbClr val="FF0000"/>
                                                </a:solidFill>
                                                <a:latin typeface="Cambria Math" panose="02040503050406030204" pitchFamily="18" charset="0"/>
                                              </a:rPr>
                                              <m:t>𝒕</m:t>
                                            </m:r>
                                          </m:sup>
                                        </m:sSubSup>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𝑠</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𝑟</m:t>
                                                </m:r>
                                              </m:e>
                                              <m:sub>
                                                <m:r>
                                                  <a:rPr lang="en-US" i="1">
                                                    <a:solidFill>
                                                      <a:schemeClr val="tx1"/>
                                                    </a:solidFill>
                                                    <a:latin typeface="Cambria Math" panose="02040503050406030204" pitchFamily="18" charset="0"/>
                                                  </a:rPr>
                                                  <m:t>𝑖</m:t>
                                                </m:r>
                                              </m:sub>
                                            </m:sSub>
                                          </m:sub>
                                        </m:sSub>
                                      </m:e>
                                    </m:d>
                                  </m:e>
                                </m:nary>
                              </m:e>
                            </m:d>
                          </m:e>
                        </m:nary>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𝑀</m:t>
                        </m:r>
                        <m:d>
                          <m:dPr>
                            <m:ctrlPr>
                              <a:rPr lang="fr-FR" b="0" i="1" smtClean="0">
                                <a:solidFill>
                                  <a:schemeClr val="tx1"/>
                                </a:solidFill>
                                <a:latin typeface="Cambria Math" panose="02040503050406030204" pitchFamily="18" charset="0"/>
                              </a:rPr>
                            </m:ctrlPr>
                          </m:dPr>
                          <m:e>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max</m:t>
                                </m:r>
                              </m:fName>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0, </m:t>
                                        </m:r>
                                        <m:d>
                                          <m:dPr>
                                            <m:ctrlPr>
                                              <a:rPr lang="en-US" i="1">
                                                <a:solidFill>
                                                  <a:schemeClr val="tx1"/>
                                                </a:solidFill>
                                                <a:latin typeface="Cambria Math" panose="02040503050406030204" pitchFamily="18" charset="0"/>
                                              </a:rPr>
                                            </m:ctrlPr>
                                          </m:dPr>
                                          <m:e>
                                            <m:sSub>
                                              <m:sSubPr>
                                                <m:ctrlPr>
                                                  <a:rPr lang="en-US"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𝛿</m:t>
                                                </m:r>
                                              </m:e>
                                              <m:sub>
                                                <m:r>
                                                  <a:rPr lang="en-US" i="1">
                                                    <a:solidFill>
                                                      <a:srgbClr val="00B0F0"/>
                                                    </a:solidFill>
                                                    <a:latin typeface="Cambria Math" panose="02040503050406030204" pitchFamily="18" charset="0"/>
                                                  </a:rPr>
                                                  <m:t>𝑠𝑢𝑟𝑝𝑙𝑢𝑠</m:t>
                                                </m:r>
                                              </m:sub>
                                            </m:sSub>
                                            <m:r>
                                              <a:rPr lang="en-US">
                                                <a:solidFill>
                                                  <a:schemeClr val="tx1"/>
                                                </a:solidFill>
                                                <a:latin typeface="Cambria Math" panose="02040503050406030204" pitchFamily="18" charset="0"/>
                                              </a:rPr>
                                              <m:t>−2</m:t>
                                            </m:r>
                                          </m:e>
                                        </m:d>
                                      </m:e>
                                    </m:d>
                                  </m:e>
                                  <m:sup>
                                    <m:r>
                                      <a:rPr lang="en-US">
                                        <a:solidFill>
                                          <a:schemeClr val="tx1"/>
                                        </a:solidFill>
                                        <a:latin typeface="Cambria Math" panose="02040503050406030204" pitchFamily="18" charset="0"/>
                                      </a:rPr>
                                      <m:t>2</m:t>
                                    </m:r>
                                  </m:sup>
                                </m:sSup>
                              </m:e>
                            </m:func>
                            <m:r>
                              <a:rPr lang="en-US">
                                <a:solidFill>
                                  <a:schemeClr val="tx1"/>
                                </a:solidFill>
                                <a:latin typeface="Cambria Math" panose="02040503050406030204" pitchFamily="18" charset="0"/>
                              </a:rPr>
                              <m:t>+</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max</m:t>
                                </m:r>
                              </m:fName>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0, </m:t>
                                        </m:r>
                                        <m:d>
                                          <m:dPr>
                                            <m:ctrlPr>
                                              <a:rPr lang="en-US" i="1">
                                                <a:solidFill>
                                                  <a:schemeClr val="tx1"/>
                                                </a:solidFill>
                                                <a:latin typeface="Cambria Math" panose="02040503050406030204" pitchFamily="18" charset="0"/>
                                              </a:rPr>
                                            </m:ctrlPr>
                                          </m:dPr>
                                          <m:e>
                                            <m:sSub>
                                              <m:sSubPr>
                                                <m:ctrlPr>
                                                  <a:rPr lang="en-US"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𝛿</m:t>
                                                </m:r>
                                              </m:e>
                                              <m:sub>
                                                <m:r>
                                                  <a:rPr lang="en-US" i="1">
                                                    <a:solidFill>
                                                      <a:srgbClr val="00B0F0"/>
                                                    </a:solidFill>
                                                    <a:latin typeface="Cambria Math" panose="02040503050406030204" pitchFamily="18" charset="0"/>
                                                  </a:rPr>
                                                  <m:t>𝑑𝑒𝑓𝑖𝑐𝑖𝑡𝑠</m:t>
                                                </m:r>
                                              </m:sub>
                                            </m:sSub>
                                            <m:r>
                                              <a:rPr lang="en-US">
                                                <a:solidFill>
                                                  <a:schemeClr val="tx1"/>
                                                </a:solidFill>
                                                <a:latin typeface="Cambria Math" panose="02040503050406030204" pitchFamily="18" charset="0"/>
                                              </a:rPr>
                                              <m:t>−2</m:t>
                                            </m:r>
                                          </m:e>
                                        </m:d>
                                      </m:e>
                                    </m:d>
                                  </m:e>
                                  <m:sup>
                                    <m:r>
                                      <a:rPr lang="en-US">
                                        <a:solidFill>
                                          <a:schemeClr val="tx1"/>
                                        </a:solidFill>
                                        <a:latin typeface="Cambria Math" panose="02040503050406030204" pitchFamily="18" charset="0"/>
                                      </a:rPr>
                                      <m:t>2</m:t>
                                    </m:r>
                                  </m:sup>
                                </m:sSup>
                              </m:e>
                            </m:func>
                          </m:e>
                        </m:d>
                      </m:oMath>
                    </m:oMathPara>
                  </a14:m>
                  <a:endParaRPr lang="en-US" dirty="0">
                    <a:solidFill>
                      <a:schemeClr val="tx1"/>
                    </a:solidFill>
                  </a:endParaRPr>
                </a:p>
              </p:txBody>
            </p:sp>
          </mc:Choice>
          <mc:Fallback xmlns="">
            <p:sp>
              <p:nvSpPr>
                <p:cNvPr id="19" name="ZoneTexte 18">
                  <a:extLst>
                    <a:ext uri="{FF2B5EF4-FFF2-40B4-BE49-F238E27FC236}">
                      <a16:creationId xmlns:a16="http://schemas.microsoft.com/office/drawing/2014/main" id="{4171D803-00E3-4B54-9319-DDADAE4D8BA0}"/>
                    </a:ext>
                  </a:extLst>
                </p:cNvPr>
                <p:cNvSpPr txBox="1">
                  <a:spLocks noRot="1" noChangeAspect="1" noMove="1" noResize="1" noEditPoints="1" noAdjustHandles="1" noChangeArrowheads="1" noChangeShapeType="1" noTextEdit="1"/>
                </p:cNvSpPr>
                <p:nvPr/>
              </p:nvSpPr>
              <p:spPr>
                <a:xfrm>
                  <a:off x="6383670" y="2772656"/>
                  <a:ext cx="4596924" cy="8803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BD78CFDF-F66A-4259-9581-5E1F7EB96336}"/>
                    </a:ext>
                  </a:extLst>
                </p:cNvPr>
                <p:cNvSpPr txBox="1"/>
                <p:nvPr/>
              </p:nvSpPr>
              <p:spPr>
                <a:xfrm>
                  <a:off x="6226006" y="4003629"/>
                  <a:ext cx="1917389" cy="7091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600" i="1" smtClean="0">
                                <a:solidFill>
                                  <a:srgbClr val="00B0F0"/>
                                </a:solidFill>
                                <a:latin typeface="Cambria Math" panose="02040503050406030204" pitchFamily="18" charset="0"/>
                              </a:rPr>
                            </m:ctrlPr>
                          </m:sSubPr>
                          <m:e>
                            <m:r>
                              <a:rPr lang="en-US" sz="1600" i="1">
                                <a:solidFill>
                                  <a:srgbClr val="00B0F0"/>
                                </a:solidFill>
                                <a:latin typeface="Cambria Math" panose="02040503050406030204" pitchFamily="18" charset="0"/>
                              </a:rPr>
                              <m:t>𝛿</m:t>
                            </m:r>
                          </m:e>
                          <m:sub>
                            <m:r>
                              <a:rPr lang="en-US" sz="1600" i="1">
                                <a:solidFill>
                                  <a:srgbClr val="00B0F0"/>
                                </a:solidFill>
                                <a:latin typeface="Cambria Math" panose="02040503050406030204" pitchFamily="18" charset="0"/>
                              </a:rPr>
                              <m:t>𝑑𝑒𝑓𝑖𝑐𝑖𝑡𝑠</m:t>
                            </m:r>
                          </m:sub>
                        </m:sSub>
                        <m:r>
                          <a:rPr lang="en-US" sz="1600" i="1">
                            <a:latin typeface="Cambria Math" panose="02040503050406030204" pitchFamily="18" charset="0"/>
                          </a:rPr>
                          <m:t>=100∗</m:t>
                        </m:r>
                        <m:f>
                          <m:fPr>
                            <m:ctrlPr>
                              <a:rPr lang="en-GB" sz="1600" i="1">
                                <a:latin typeface="Cambria Math" panose="02040503050406030204" pitchFamily="18" charset="0"/>
                              </a:rPr>
                            </m:ctrlPr>
                          </m:fPr>
                          <m:num>
                            <m:nary>
                              <m:naryPr>
                                <m:chr m:val="∑"/>
                                <m:limLoc m:val="undOvr"/>
                                <m:supHide m:val="on"/>
                                <m:ctrlPr>
                                  <a:rPr lang="en-GB" sz="1600" i="1">
                                    <a:latin typeface="Cambria Math" panose="02040503050406030204" pitchFamily="18" charset="0"/>
                                  </a:rPr>
                                </m:ctrlPr>
                              </m:naryPr>
                              <m:sub>
                                <m:d>
                                  <m:dPr>
                                    <m:ctrlPr>
                                      <a:rPr lang="en-GB" sz="1600" i="1">
                                        <a:latin typeface="Cambria Math" panose="02040503050406030204" pitchFamily="18" charset="0"/>
                                      </a:rPr>
                                    </m:ctrlPr>
                                  </m:dPr>
                                  <m:e>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𝑡</m:t>
                                    </m:r>
                                  </m:e>
                                </m:d>
                              </m:sub>
                              <m:sup/>
                              <m:e>
                                <m:func>
                                  <m:funcPr>
                                    <m:ctrlPr>
                                      <a:rPr lang="en-GB" sz="1600" i="1">
                                        <a:latin typeface="Cambria Math" panose="02040503050406030204" pitchFamily="18" charset="0"/>
                                      </a:rPr>
                                    </m:ctrlPr>
                                  </m:funcPr>
                                  <m:fName>
                                    <m:r>
                                      <m:rPr>
                                        <m:sty m:val="p"/>
                                      </m:rPr>
                                      <a:rPr lang="en-US" sz="1600">
                                        <a:latin typeface="Cambria Math" panose="02040503050406030204" pitchFamily="18" charset="0"/>
                                      </a:rPr>
                                      <m:t>min</m:t>
                                    </m:r>
                                  </m:fName>
                                  <m:e>
                                    <m:d>
                                      <m:dPr>
                                        <m:ctrlPr>
                                          <a:rPr lang="en-GB" sz="1600" i="1">
                                            <a:latin typeface="Cambria Math" panose="02040503050406030204" pitchFamily="18" charset="0"/>
                                          </a:rPr>
                                        </m:ctrlPr>
                                      </m:dPr>
                                      <m:e>
                                        <m:sSubSup>
                                          <m:sSubSupPr>
                                            <m:ctrlPr>
                                              <a:rPr lang="en-GB" sz="1600" i="1">
                                                <a:latin typeface="Cambria Math" panose="02040503050406030204" pitchFamily="18" charset="0"/>
                                              </a:rPr>
                                            </m:ctrlPr>
                                          </m:sSubSupPr>
                                          <m:e>
                                            <m:r>
                                              <a:rPr lang="en-US" sz="1600" i="1">
                                                <a:latin typeface="Cambria Math" panose="02040503050406030204" pitchFamily="18" charset="0"/>
                                              </a:rPr>
                                              <m:t>𝛿</m:t>
                                            </m:r>
                                          </m:e>
                                          <m:sub>
                                            <m:r>
                                              <a:rPr lang="en-US" sz="1600" i="1">
                                                <a:latin typeface="Cambria Math" panose="02040503050406030204" pitchFamily="18" charset="0"/>
                                              </a:rPr>
                                              <m:t>𝑖</m:t>
                                            </m:r>
                                          </m:sub>
                                          <m:sup>
                                            <m:r>
                                              <a:rPr lang="en-US" sz="1600" i="1">
                                                <a:latin typeface="Cambria Math" panose="02040503050406030204" pitchFamily="18" charset="0"/>
                                              </a:rPr>
                                              <m:t>𝑡</m:t>
                                            </m:r>
                                          </m:sup>
                                        </m:sSubSup>
                                        <m:r>
                                          <a:rPr lang="en-US" sz="1600" i="1">
                                            <a:latin typeface="Cambria Math" panose="02040503050406030204" pitchFamily="18" charset="0"/>
                                          </a:rPr>
                                          <m:t>, 0</m:t>
                                        </m:r>
                                      </m:e>
                                    </m:d>
                                  </m:e>
                                </m:func>
                              </m:e>
                            </m:nary>
                          </m:num>
                          <m:den>
                            <m:nary>
                              <m:naryPr>
                                <m:chr m:val="∑"/>
                                <m:limLoc m:val="undOvr"/>
                                <m:supHide m:val="on"/>
                                <m:ctrlPr>
                                  <a:rPr lang="en-GB" sz="1600" i="1">
                                    <a:latin typeface="Cambria Math" panose="02040503050406030204" pitchFamily="18" charset="0"/>
                                  </a:rPr>
                                </m:ctrlPr>
                              </m:naryPr>
                              <m:sub>
                                <m:d>
                                  <m:dPr>
                                    <m:ctrlPr>
                                      <a:rPr lang="en-GB" sz="1600" i="1">
                                        <a:latin typeface="Cambria Math" panose="02040503050406030204" pitchFamily="18" charset="0"/>
                                      </a:rPr>
                                    </m:ctrlPr>
                                  </m:dPr>
                                  <m:e>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𝑡</m:t>
                                    </m:r>
                                  </m:e>
                                </m:d>
                              </m:sub>
                              <m:sup/>
                              <m:e>
                                <m:sSubSup>
                                  <m:sSubSupPr>
                                    <m:ctrlPr>
                                      <a:rPr lang="en-GB" sz="1600" i="1">
                                        <a:latin typeface="Cambria Math" panose="02040503050406030204" pitchFamily="18" charset="0"/>
                                      </a:rPr>
                                    </m:ctrlPr>
                                  </m:sSubSupPr>
                                  <m:e>
                                    <m:r>
                                      <a:rPr lang="en-US" sz="1600" i="1">
                                        <a:latin typeface="Cambria Math" panose="02040503050406030204" pitchFamily="18" charset="0"/>
                                      </a:rPr>
                                      <m:t>𝐷</m:t>
                                    </m:r>
                                  </m:e>
                                  <m:sub>
                                    <m:r>
                                      <a:rPr lang="en-US" sz="1600" i="1">
                                        <a:latin typeface="Cambria Math" panose="02040503050406030204" pitchFamily="18" charset="0"/>
                                      </a:rPr>
                                      <m:t>𝑖</m:t>
                                    </m:r>
                                  </m:sub>
                                  <m:sup>
                                    <m:r>
                                      <a:rPr lang="en-US" sz="1600" i="1">
                                        <a:latin typeface="Cambria Math" panose="02040503050406030204" pitchFamily="18" charset="0"/>
                                      </a:rPr>
                                      <m:t>𝑡</m:t>
                                    </m:r>
                                  </m:sup>
                                </m:sSubSup>
                              </m:e>
                            </m:nary>
                          </m:den>
                        </m:f>
                      </m:oMath>
                    </m:oMathPara>
                  </a14:m>
                  <a:endParaRPr lang="en-US" sz="1600" dirty="0"/>
                </a:p>
              </p:txBody>
            </p:sp>
          </mc:Choice>
          <mc:Fallback xmlns="">
            <p:sp>
              <p:nvSpPr>
                <p:cNvPr id="21" name="ZoneTexte 20">
                  <a:extLst>
                    <a:ext uri="{FF2B5EF4-FFF2-40B4-BE49-F238E27FC236}">
                      <a16:creationId xmlns:a16="http://schemas.microsoft.com/office/drawing/2014/main" id="{BD78CFDF-F66A-4259-9581-5E1F7EB96336}"/>
                    </a:ext>
                  </a:extLst>
                </p:cNvPr>
                <p:cNvSpPr txBox="1">
                  <a:spLocks noRot="1" noChangeAspect="1" noMove="1" noResize="1" noEditPoints="1" noAdjustHandles="1" noChangeArrowheads="1" noChangeShapeType="1" noTextEdit="1"/>
                </p:cNvSpPr>
                <p:nvPr/>
              </p:nvSpPr>
              <p:spPr>
                <a:xfrm>
                  <a:off x="6226006" y="4003629"/>
                  <a:ext cx="1917389" cy="70910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C449A1FC-BD9D-4486-970E-80DC495F5789}"/>
                    </a:ext>
                  </a:extLst>
                </p:cNvPr>
                <p:cNvSpPr txBox="1"/>
                <p:nvPr/>
              </p:nvSpPr>
              <p:spPr>
                <a:xfrm>
                  <a:off x="8022755" y="3962065"/>
                  <a:ext cx="1667779" cy="7091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rgbClr val="00B0F0"/>
                                </a:solidFill>
                                <a:latin typeface="Cambria Math" panose="02040503050406030204" pitchFamily="18" charset="0"/>
                              </a:rPr>
                            </m:ctrlPr>
                          </m:sSubPr>
                          <m:e>
                            <m:r>
                              <a:rPr lang="en-US" sz="1600" i="1">
                                <a:solidFill>
                                  <a:srgbClr val="00B0F0"/>
                                </a:solidFill>
                                <a:latin typeface="Cambria Math" panose="02040503050406030204" pitchFamily="18" charset="0"/>
                              </a:rPr>
                              <m:t>𝛿</m:t>
                            </m:r>
                          </m:e>
                          <m:sub>
                            <m:r>
                              <a:rPr lang="en-US" sz="1600" i="1">
                                <a:solidFill>
                                  <a:srgbClr val="00B0F0"/>
                                </a:solidFill>
                                <a:latin typeface="Cambria Math" panose="02040503050406030204" pitchFamily="18" charset="0"/>
                              </a:rPr>
                              <m:t>𝑠𝑢𝑟𝑝𝑙𝑢𝑠</m:t>
                            </m:r>
                          </m:sub>
                        </m:sSub>
                        <m:r>
                          <a:rPr lang="en-US" sz="1600" i="0">
                            <a:latin typeface="Cambria Math" panose="02040503050406030204" pitchFamily="18" charset="0"/>
                          </a:rPr>
                          <m:t>=100∗</m:t>
                        </m:r>
                        <m:f>
                          <m:fPr>
                            <m:ctrlPr>
                              <a:rPr lang="en-US" sz="1600" i="1">
                                <a:solidFill>
                                  <a:srgbClr val="836967"/>
                                </a:solidFill>
                                <a:latin typeface="Cambria Math" panose="02040503050406030204" pitchFamily="18" charset="0"/>
                              </a:rPr>
                            </m:ctrlPr>
                          </m:fPr>
                          <m:num>
                            <m:nary>
                              <m:naryPr>
                                <m:chr m:val="∑"/>
                                <m:limLoc m:val="undOvr"/>
                                <m:supHide m:val="on"/>
                                <m:ctrlPr>
                                  <a:rPr lang="en-US" sz="1600" i="1">
                                    <a:latin typeface="Cambria Math" panose="02040503050406030204" pitchFamily="18" charset="0"/>
                                  </a:rPr>
                                </m:ctrlPr>
                              </m:naryPr>
                              <m:sub>
                                <m:d>
                                  <m:dPr>
                                    <m:ctrlPr>
                                      <a:rPr lang="en-US" sz="1600" i="1">
                                        <a:solidFill>
                                          <a:srgbClr val="836967"/>
                                        </a:solidFill>
                                        <a:latin typeface="Cambria Math" panose="02040503050406030204" pitchFamily="18" charset="0"/>
                                      </a:rPr>
                                    </m:ctrlPr>
                                  </m:dPr>
                                  <m:e>
                                    <m:r>
                                      <a:rPr lang="en-US" sz="1600" i="1">
                                        <a:latin typeface="Cambria Math" panose="02040503050406030204" pitchFamily="18" charset="0"/>
                                      </a:rPr>
                                      <m:t>𝑖</m:t>
                                    </m:r>
                                    <m:r>
                                      <a:rPr lang="en-US" sz="1600" i="0">
                                        <a:latin typeface="Cambria Math" panose="02040503050406030204" pitchFamily="18" charset="0"/>
                                      </a:rPr>
                                      <m:t>,</m:t>
                                    </m:r>
                                    <m:r>
                                      <a:rPr lang="en-US" sz="1600" i="1">
                                        <a:latin typeface="Cambria Math" panose="02040503050406030204" pitchFamily="18" charset="0"/>
                                      </a:rPr>
                                      <m:t>𝑡</m:t>
                                    </m:r>
                                  </m:e>
                                </m:d>
                              </m:sub>
                              <m:sup/>
                              <m:e>
                                <m:func>
                                  <m:funcPr>
                                    <m:ctrlPr>
                                      <a:rPr lang="en-US" sz="1600" i="1">
                                        <a:latin typeface="Cambria Math" panose="02040503050406030204" pitchFamily="18" charset="0"/>
                                      </a:rPr>
                                    </m:ctrlPr>
                                  </m:funcPr>
                                  <m:fName>
                                    <m:r>
                                      <m:rPr>
                                        <m:sty m:val="p"/>
                                      </m:rPr>
                                      <a:rPr lang="en-US" sz="1600" i="0">
                                        <a:latin typeface="Cambria Math" panose="02040503050406030204" pitchFamily="18" charset="0"/>
                                      </a:rPr>
                                      <m:t>max</m:t>
                                    </m:r>
                                  </m:fName>
                                  <m:e>
                                    <m:d>
                                      <m:dPr>
                                        <m:ctrlPr>
                                          <a:rPr lang="en-US" sz="1600" i="1">
                                            <a:solidFill>
                                              <a:srgbClr val="836967"/>
                                            </a:solidFill>
                                            <a:latin typeface="Cambria Math" panose="02040503050406030204" pitchFamily="18" charset="0"/>
                                          </a:rPr>
                                        </m:ctrlPr>
                                      </m:dPr>
                                      <m:e>
                                        <m:sSubSup>
                                          <m:sSubSupPr>
                                            <m:ctrlPr>
                                              <a:rPr lang="en-US" sz="1600" i="1">
                                                <a:solidFill>
                                                  <a:srgbClr val="836967"/>
                                                </a:solidFill>
                                                <a:latin typeface="Cambria Math" panose="02040503050406030204" pitchFamily="18" charset="0"/>
                                              </a:rPr>
                                            </m:ctrlPr>
                                          </m:sSubSupPr>
                                          <m:e>
                                            <m:r>
                                              <a:rPr lang="en-US" sz="1600" i="1">
                                                <a:latin typeface="Cambria Math" panose="02040503050406030204" pitchFamily="18" charset="0"/>
                                              </a:rPr>
                                              <m:t>𝛿</m:t>
                                            </m:r>
                                          </m:e>
                                          <m:sub>
                                            <m:r>
                                              <a:rPr lang="en-US" sz="1600" i="1">
                                                <a:latin typeface="Cambria Math" panose="02040503050406030204" pitchFamily="18" charset="0"/>
                                              </a:rPr>
                                              <m:t>𝑖</m:t>
                                            </m:r>
                                          </m:sub>
                                          <m:sup>
                                            <m:r>
                                              <a:rPr lang="en-US" sz="1600" i="1">
                                                <a:latin typeface="Cambria Math" panose="02040503050406030204" pitchFamily="18" charset="0"/>
                                              </a:rPr>
                                              <m:t>𝑡</m:t>
                                            </m:r>
                                          </m:sup>
                                        </m:sSubSup>
                                        <m:r>
                                          <a:rPr lang="en-US" sz="1600" i="0">
                                            <a:latin typeface="Cambria Math" panose="02040503050406030204" pitchFamily="18" charset="0"/>
                                          </a:rPr>
                                          <m:t>, 0</m:t>
                                        </m:r>
                                      </m:e>
                                    </m:d>
                                  </m:e>
                                </m:func>
                              </m:e>
                            </m:nary>
                          </m:num>
                          <m:den>
                            <m:nary>
                              <m:naryPr>
                                <m:chr m:val="∑"/>
                                <m:limLoc m:val="undOvr"/>
                                <m:supHide m:val="on"/>
                                <m:ctrlPr>
                                  <a:rPr lang="en-US" sz="1600" i="1">
                                    <a:latin typeface="Cambria Math" panose="02040503050406030204" pitchFamily="18" charset="0"/>
                                  </a:rPr>
                                </m:ctrlPr>
                              </m:naryPr>
                              <m:sub>
                                <m:d>
                                  <m:dPr>
                                    <m:ctrlPr>
                                      <a:rPr lang="en-US" sz="1600" i="1">
                                        <a:solidFill>
                                          <a:srgbClr val="836967"/>
                                        </a:solidFill>
                                        <a:latin typeface="Cambria Math" panose="02040503050406030204" pitchFamily="18" charset="0"/>
                                      </a:rPr>
                                    </m:ctrlPr>
                                  </m:dPr>
                                  <m:e>
                                    <m:r>
                                      <a:rPr lang="en-US" sz="1600" i="1">
                                        <a:latin typeface="Cambria Math" panose="02040503050406030204" pitchFamily="18" charset="0"/>
                                      </a:rPr>
                                      <m:t>𝑖</m:t>
                                    </m:r>
                                    <m:r>
                                      <a:rPr lang="en-US" sz="1600" i="0">
                                        <a:latin typeface="Cambria Math" panose="02040503050406030204" pitchFamily="18" charset="0"/>
                                      </a:rPr>
                                      <m:t>,</m:t>
                                    </m:r>
                                    <m:r>
                                      <a:rPr lang="en-US" sz="1600" i="1">
                                        <a:latin typeface="Cambria Math" panose="02040503050406030204" pitchFamily="18" charset="0"/>
                                      </a:rPr>
                                      <m:t>𝑡</m:t>
                                    </m:r>
                                  </m:e>
                                </m:d>
                              </m:sub>
                              <m:sup/>
                              <m:e>
                                <m:sSubSup>
                                  <m:sSubSupPr>
                                    <m:ctrlPr>
                                      <a:rPr lang="en-US" sz="1600" i="1">
                                        <a:solidFill>
                                          <a:srgbClr val="836967"/>
                                        </a:solidFill>
                                        <a:latin typeface="Cambria Math" panose="02040503050406030204" pitchFamily="18" charset="0"/>
                                      </a:rPr>
                                    </m:ctrlPr>
                                  </m:sSubSupPr>
                                  <m:e>
                                    <m:r>
                                      <a:rPr lang="en-US" sz="1600" i="1">
                                        <a:latin typeface="Cambria Math" panose="02040503050406030204" pitchFamily="18" charset="0"/>
                                      </a:rPr>
                                      <m:t>𝐷</m:t>
                                    </m:r>
                                  </m:e>
                                  <m:sub>
                                    <m:r>
                                      <a:rPr lang="en-US" sz="1600" i="1">
                                        <a:latin typeface="Cambria Math" panose="02040503050406030204" pitchFamily="18" charset="0"/>
                                      </a:rPr>
                                      <m:t>𝑖</m:t>
                                    </m:r>
                                  </m:sub>
                                  <m:sup>
                                    <m:r>
                                      <a:rPr lang="en-US" sz="1600" i="1">
                                        <a:latin typeface="Cambria Math" panose="02040503050406030204" pitchFamily="18" charset="0"/>
                                      </a:rPr>
                                      <m:t>𝑡</m:t>
                                    </m:r>
                                  </m:sup>
                                </m:sSubSup>
                              </m:e>
                            </m:nary>
                          </m:den>
                        </m:f>
                      </m:oMath>
                    </m:oMathPara>
                  </a14:m>
                  <a:endParaRPr lang="en-US" sz="1600" dirty="0"/>
                </a:p>
              </p:txBody>
            </p:sp>
          </mc:Choice>
          <mc:Fallback xmlns="">
            <p:sp>
              <p:nvSpPr>
                <p:cNvPr id="23" name="ZoneTexte 22">
                  <a:extLst>
                    <a:ext uri="{FF2B5EF4-FFF2-40B4-BE49-F238E27FC236}">
                      <a16:creationId xmlns:a16="http://schemas.microsoft.com/office/drawing/2014/main" id="{C449A1FC-BD9D-4486-970E-80DC495F5789}"/>
                    </a:ext>
                  </a:extLst>
                </p:cNvPr>
                <p:cNvSpPr txBox="1">
                  <a:spLocks noRot="1" noChangeAspect="1" noMove="1" noResize="1" noEditPoints="1" noAdjustHandles="1" noChangeArrowheads="1" noChangeShapeType="1" noTextEdit="1"/>
                </p:cNvSpPr>
                <p:nvPr/>
              </p:nvSpPr>
              <p:spPr>
                <a:xfrm>
                  <a:off x="8022755" y="3962065"/>
                  <a:ext cx="1667779" cy="70910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4E83741D-71CB-41D4-B5DD-53717F4F5040}"/>
                    </a:ext>
                  </a:extLst>
                </p:cNvPr>
                <p:cNvSpPr txBox="1"/>
                <p:nvPr/>
              </p:nvSpPr>
              <p:spPr>
                <a:xfrm>
                  <a:off x="9794511" y="4080646"/>
                  <a:ext cx="1355566" cy="46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solidFill>
                                  <a:schemeClr val="tx1"/>
                                </a:solidFill>
                                <a:latin typeface="Cambria Math" panose="02040503050406030204" pitchFamily="18" charset="0"/>
                              </a:rPr>
                            </m:ctrlPr>
                          </m:sSubSupPr>
                          <m:e>
                            <m:r>
                              <a:rPr lang="en-US" sz="1600" i="1">
                                <a:solidFill>
                                  <a:schemeClr val="tx1"/>
                                </a:solidFill>
                                <a:latin typeface="Cambria Math" panose="02040503050406030204" pitchFamily="18" charset="0"/>
                              </a:rPr>
                              <m:t>𝛿</m:t>
                            </m:r>
                          </m:e>
                          <m:sub>
                            <m:r>
                              <a:rPr lang="en-US" sz="1600" i="1">
                                <a:solidFill>
                                  <a:schemeClr val="tx1"/>
                                </a:solidFill>
                                <a:latin typeface="Cambria Math" panose="02040503050406030204" pitchFamily="18" charset="0"/>
                              </a:rPr>
                              <m:t>𝑖</m:t>
                            </m:r>
                          </m:sub>
                          <m:sup>
                            <m:r>
                              <a:rPr lang="en-US" sz="1600" i="1">
                                <a:solidFill>
                                  <a:schemeClr val="tx1"/>
                                </a:solidFill>
                                <a:latin typeface="Cambria Math" panose="02040503050406030204" pitchFamily="18" charset="0"/>
                              </a:rPr>
                              <m:t>𝑡</m:t>
                            </m:r>
                          </m:sup>
                        </m:sSubSup>
                        <m:r>
                          <a:rPr lang="fr-FR" sz="1600" b="0" i="1" smtClean="0">
                            <a:solidFill>
                              <a:schemeClr val="tx1"/>
                            </a:solidFill>
                            <a:latin typeface="Cambria Math" panose="02040503050406030204" pitchFamily="18" charset="0"/>
                          </a:rPr>
                          <m:t>=</m:t>
                        </m:r>
                        <m:sSubSup>
                          <m:sSubSupPr>
                            <m:ctrlPr>
                              <a:rPr lang="fr-FR" sz="1600" b="0" i="1" smtClean="0">
                                <a:solidFill>
                                  <a:schemeClr val="tx1"/>
                                </a:solidFill>
                                <a:latin typeface="Cambria Math" panose="02040503050406030204" pitchFamily="18" charset="0"/>
                              </a:rPr>
                            </m:ctrlPr>
                          </m:sSubSupPr>
                          <m:e>
                            <m:r>
                              <a:rPr lang="fr-FR" sz="1600" b="0" i="1" smtClean="0">
                                <a:solidFill>
                                  <a:schemeClr val="tx1"/>
                                </a:solidFill>
                                <a:latin typeface="Cambria Math" panose="02040503050406030204" pitchFamily="18" charset="0"/>
                              </a:rPr>
                              <m:t>𝐷</m:t>
                            </m:r>
                          </m:e>
                          <m:sub>
                            <m:r>
                              <a:rPr lang="fr-FR" sz="1600" b="0" i="1" smtClean="0">
                                <a:solidFill>
                                  <a:schemeClr val="tx1"/>
                                </a:solidFill>
                                <a:latin typeface="Cambria Math" panose="02040503050406030204" pitchFamily="18" charset="0"/>
                              </a:rPr>
                              <m:t>𝑖</m:t>
                            </m:r>
                          </m:sub>
                          <m:sup>
                            <m:r>
                              <a:rPr lang="fr-FR" sz="1600" b="0" i="1" smtClean="0">
                                <a:solidFill>
                                  <a:schemeClr val="tx1"/>
                                </a:solidFill>
                                <a:latin typeface="Cambria Math" panose="02040503050406030204" pitchFamily="18" charset="0"/>
                              </a:rPr>
                              <m:t>𝑡</m:t>
                            </m:r>
                          </m:sup>
                        </m:sSubSup>
                        <m:r>
                          <a:rPr lang="fr-FR" sz="1600" b="0" i="1" smtClean="0">
                            <a:solidFill>
                              <a:schemeClr val="tx1"/>
                            </a:solidFill>
                            <a:latin typeface="Cambria Math" panose="02040503050406030204" pitchFamily="18" charset="0"/>
                          </a:rPr>
                          <m:t>−</m:t>
                        </m:r>
                        <m:sSub>
                          <m:sSubPr>
                            <m:ctrlPr>
                              <a:rPr lang="fr-FR" sz="1600" b="0" i="1" smtClean="0">
                                <a:solidFill>
                                  <a:schemeClr val="tx1"/>
                                </a:solidFill>
                                <a:latin typeface="Cambria Math" panose="02040503050406030204" pitchFamily="18" charset="0"/>
                              </a:rPr>
                            </m:ctrlPr>
                          </m:sSubPr>
                          <m:e>
                            <m:acc>
                              <m:accPr>
                                <m:chr m:val="̇"/>
                                <m:ctrlPr>
                                  <a:rPr lang="fr-FR" sz="1600" b="0" i="1" smtClean="0">
                                    <a:solidFill>
                                      <a:schemeClr val="tx1"/>
                                    </a:solidFill>
                                    <a:latin typeface="Cambria Math" panose="02040503050406030204" pitchFamily="18" charset="0"/>
                                  </a:rPr>
                                </m:ctrlPr>
                              </m:accPr>
                              <m:e>
                                <m:r>
                                  <a:rPr lang="fr-FR" sz="1600" b="0" i="1" smtClean="0">
                                    <a:solidFill>
                                      <a:schemeClr val="tx1"/>
                                    </a:solidFill>
                                    <a:latin typeface="Cambria Math" panose="02040503050406030204" pitchFamily="18" charset="0"/>
                                  </a:rPr>
                                  <m:t>𝑚</m:t>
                                </m:r>
                              </m:e>
                            </m:acc>
                          </m:e>
                          <m:sub>
                            <m:r>
                              <a:rPr lang="fr-FR" sz="1600" b="0" i="1" smtClean="0">
                                <a:solidFill>
                                  <a:schemeClr val="tx1"/>
                                </a:solidFill>
                                <a:latin typeface="Cambria Math" panose="02040503050406030204" pitchFamily="18" charset="0"/>
                              </a:rPr>
                              <m:t>𝑐</m:t>
                            </m:r>
                          </m:sub>
                        </m:sSub>
                        <m:sSub>
                          <m:sSubPr>
                            <m:ctrlPr>
                              <a:rPr lang="fr-FR" sz="1600" b="0" i="1" smtClean="0">
                                <a:solidFill>
                                  <a:schemeClr val="tx1"/>
                                </a:solidFill>
                                <a:latin typeface="Cambria Math" panose="02040503050406030204" pitchFamily="18" charset="0"/>
                              </a:rPr>
                            </m:ctrlPr>
                          </m:sSubPr>
                          <m:e>
                            <m:r>
                              <a:rPr lang="fr-FR" sz="1600" b="0" i="1" smtClean="0">
                                <a:solidFill>
                                  <a:schemeClr val="tx1"/>
                                </a:solidFill>
                                <a:latin typeface="Cambria Math" panose="02040503050406030204" pitchFamily="18" charset="0"/>
                              </a:rPr>
                              <m:t>𝑐</m:t>
                            </m:r>
                          </m:e>
                          <m:sub>
                            <m:r>
                              <a:rPr lang="fr-FR" sz="1600" b="0" i="1" smtClean="0">
                                <a:solidFill>
                                  <a:schemeClr val="tx1"/>
                                </a:solidFill>
                                <a:latin typeface="Cambria Math" panose="02040503050406030204" pitchFamily="18" charset="0"/>
                              </a:rPr>
                              <m:t>𝑝</m:t>
                            </m:r>
                          </m:sub>
                        </m:sSub>
                        <m:d>
                          <m:dPr>
                            <m:ctrlPr>
                              <a:rPr lang="fr-FR" sz="1600" b="0" i="1" smtClean="0">
                                <a:solidFill>
                                  <a:schemeClr val="tx1"/>
                                </a:solidFill>
                                <a:latin typeface="Cambria Math" panose="02040503050406030204" pitchFamily="18" charset="0"/>
                              </a:rPr>
                            </m:ctrlPr>
                          </m:dPr>
                          <m:e>
                            <m:sSubSup>
                              <m:sSubSupPr>
                                <m:ctrlPr>
                                  <a:rPr lang="fr-FR" sz="1600" b="0" i="1" smtClean="0">
                                    <a:solidFill>
                                      <a:schemeClr val="tx1"/>
                                    </a:solidFill>
                                    <a:latin typeface="Cambria Math" panose="02040503050406030204" pitchFamily="18" charset="0"/>
                                  </a:rPr>
                                </m:ctrlPr>
                              </m:sSubSupPr>
                              <m:e>
                                <m:r>
                                  <a:rPr lang="fr-FR" sz="1600" b="0" i="1" smtClean="0">
                                    <a:solidFill>
                                      <a:schemeClr val="tx1"/>
                                    </a:solidFill>
                                    <a:latin typeface="Cambria Math" panose="02040503050406030204" pitchFamily="18" charset="0"/>
                                  </a:rPr>
                                  <m:t>𝑇</m:t>
                                </m:r>
                              </m:e>
                              <m:sub>
                                <m:sSub>
                                  <m:sSubPr>
                                    <m:ctrlPr>
                                      <a:rPr lang="fr-FR" sz="1600" b="0" i="1" smtClean="0">
                                        <a:solidFill>
                                          <a:schemeClr val="tx1"/>
                                        </a:solidFill>
                                        <a:latin typeface="Cambria Math" panose="02040503050406030204" pitchFamily="18" charset="0"/>
                                      </a:rPr>
                                    </m:ctrlPr>
                                  </m:sSubPr>
                                  <m:e>
                                    <m:r>
                                      <a:rPr lang="fr-FR" sz="1600" b="0" i="1" smtClean="0">
                                        <a:solidFill>
                                          <a:schemeClr val="tx1"/>
                                        </a:solidFill>
                                        <a:latin typeface="Cambria Math" panose="02040503050406030204" pitchFamily="18" charset="0"/>
                                      </a:rPr>
                                      <m:t>𝑠</m:t>
                                    </m:r>
                                  </m:e>
                                  <m:sub>
                                    <m:r>
                                      <a:rPr lang="fr-FR" sz="1600" b="0" i="1" smtClean="0">
                                        <a:solidFill>
                                          <a:schemeClr val="tx1"/>
                                        </a:solidFill>
                                        <a:latin typeface="Cambria Math" panose="02040503050406030204" pitchFamily="18" charset="0"/>
                                      </a:rPr>
                                      <m:t>𝑖</m:t>
                                    </m:r>
                                  </m:sub>
                                </m:sSub>
                              </m:sub>
                              <m:sup>
                                <m:r>
                                  <a:rPr lang="fr-FR" sz="1600" b="0" i="1" smtClean="0">
                                    <a:solidFill>
                                      <a:schemeClr val="tx1"/>
                                    </a:solidFill>
                                    <a:latin typeface="Cambria Math" panose="02040503050406030204" pitchFamily="18" charset="0"/>
                                  </a:rPr>
                                  <m:t>𝑡</m:t>
                                </m:r>
                              </m:sup>
                            </m:sSubSup>
                            <m:r>
                              <a:rPr lang="fr-FR" sz="1600" b="0" i="1" smtClean="0">
                                <a:solidFill>
                                  <a:schemeClr val="tx1"/>
                                </a:solidFill>
                                <a:latin typeface="Cambria Math" panose="02040503050406030204" pitchFamily="18" charset="0"/>
                              </a:rPr>
                              <m:t>−</m:t>
                            </m:r>
                            <m:sSub>
                              <m:sSubPr>
                                <m:ctrlPr>
                                  <a:rPr lang="fr-FR" sz="1600" b="0" i="1" smtClean="0">
                                    <a:solidFill>
                                      <a:schemeClr val="tx1"/>
                                    </a:solidFill>
                                    <a:latin typeface="Cambria Math" panose="02040503050406030204" pitchFamily="18" charset="0"/>
                                  </a:rPr>
                                </m:ctrlPr>
                              </m:sSubPr>
                              <m:e>
                                <m:r>
                                  <a:rPr lang="fr-FR" sz="1600" b="0" i="1" smtClean="0">
                                    <a:solidFill>
                                      <a:schemeClr val="tx1"/>
                                    </a:solidFill>
                                    <a:latin typeface="Cambria Math" panose="02040503050406030204" pitchFamily="18" charset="0"/>
                                  </a:rPr>
                                  <m:t>𝑇</m:t>
                                </m:r>
                              </m:e>
                              <m:sub>
                                <m:sSub>
                                  <m:sSubPr>
                                    <m:ctrlPr>
                                      <a:rPr lang="fr-FR" sz="1600" b="0" i="1" smtClean="0">
                                        <a:solidFill>
                                          <a:schemeClr val="tx1"/>
                                        </a:solidFill>
                                        <a:latin typeface="Cambria Math" panose="02040503050406030204" pitchFamily="18" charset="0"/>
                                      </a:rPr>
                                    </m:ctrlPr>
                                  </m:sSubPr>
                                  <m:e>
                                    <m:sSub>
                                      <m:sSubPr>
                                        <m:ctrlPr>
                                          <a:rPr lang="fr-FR" sz="1600" b="0" i="1" smtClean="0">
                                            <a:solidFill>
                                              <a:schemeClr val="tx1"/>
                                            </a:solidFill>
                                            <a:latin typeface="Cambria Math" panose="02040503050406030204" pitchFamily="18" charset="0"/>
                                          </a:rPr>
                                        </m:ctrlPr>
                                      </m:sSubPr>
                                      <m:e>
                                        <m:r>
                                          <a:rPr lang="fr-FR" sz="1600" b="0" i="1" smtClean="0">
                                            <a:solidFill>
                                              <a:schemeClr val="tx1"/>
                                            </a:solidFill>
                                            <a:latin typeface="Cambria Math" panose="02040503050406030204" pitchFamily="18" charset="0"/>
                                          </a:rPr>
                                          <m:t>𝑟</m:t>
                                        </m:r>
                                      </m:e>
                                      <m:sub>
                                        <m:r>
                                          <a:rPr lang="fr-FR" sz="1600" b="0" i="1" smtClean="0">
                                            <a:solidFill>
                                              <a:schemeClr val="tx1"/>
                                            </a:solidFill>
                                            <a:latin typeface="Cambria Math" panose="02040503050406030204" pitchFamily="18" charset="0"/>
                                          </a:rPr>
                                          <m:t>𝑐</m:t>
                                        </m:r>
                                      </m:sub>
                                    </m:sSub>
                                  </m:e>
                                  <m:sub>
                                    <m:r>
                                      <a:rPr lang="fr-FR" sz="1600" b="0" i="1" smtClean="0">
                                        <a:solidFill>
                                          <a:schemeClr val="tx1"/>
                                        </a:solidFill>
                                        <a:latin typeface="Cambria Math" panose="02040503050406030204" pitchFamily="18" charset="0"/>
                                      </a:rPr>
                                      <m:t>𝑖</m:t>
                                    </m:r>
                                  </m:sub>
                                </m:sSub>
                              </m:sub>
                            </m:sSub>
                          </m:e>
                        </m:d>
                      </m:oMath>
                    </m:oMathPara>
                  </a14:m>
                  <a:endParaRPr lang="en-US" sz="1600" dirty="0">
                    <a:solidFill>
                      <a:schemeClr val="tx1"/>
                    </a:solidFill>
                  </a:endParaRPr>
                </a:p>
              </p:txBody>
            </p:sp>
          </mc:Choice>
          <mc:Fallback xmlns="">
            <p:sp>
              <p:nvSpPr>
                <p:cNvPr id="25" name="ZoneTexte 24">
                  <a:extLst>
                    <a:ext uri="{FF2B5EF4-FFF2-40B4-BE49-F238E27FC236}">
                      <a16:creationId xmlns:a16="http://schemas.microsoft.com/office/drawing/2014/main" id="{4E83741D-71CB-41D4-B5DD-53717F4F5040}"/>
                    </a:ext>
                  </a:extLst>
                </p:cNvPr>
                <p:cNvSpPr txBox="1">
                  <a:spLocks noRot="1" noChangeAspect="1" noMove="1" noResize="1" noEditPoints="1" noAdjustHandles="1" noChangeArrowheads="1" noChangeShapeType="1" noTextEdit="1"/>
                </p:cNvSpPr>
                <p:nvPr/>
              </p:nvSpPr>
              <p:spPr>
                <a:xfrm>
                  <a:off x="9794511" y="4080646"/>
                  <a:ext cx="1355566" cy="460832"/>
                </a:xfrm>
                <a:prstGeom prst="rect">
                  <a:avLst/>
                </a:prstGeom>
                <a:blipFill>
                  <a:blip r:embed="rId6"/>
                  <a:stretch>
                    <a:fillRect/>
                  </a:stretch>
                </a:blipFill>
              </p:spPr>
              <p:txBody>
                <a:bodyPr/>
                <a:lstStyle/>
                <a:p>
                  <a:r>
                    <a:rPr lang="en-US">
                      <a:noFill/>
                    </a:rPr>
                    <a:t> </a:t>
                  </a:r>
                </a:p>
              </p:txBody>
            </p:sp>
          </mc:Fallback>
        </mc:AlternateContent>
      </p:grpSp>
      <p:pic>
        <p:nvPicPr>
          <p:cNvPr id="14" name="Image 13">
            <a:extLst>
              <a:ext uri="{FF2B5EF4-FFF2-40B4-BE49-F238E27FC236}">
                <a16:creationId xmlns:a16="http://schemas.microsoft.com/office/drawing/2014/main" id="{EF7C966B-E506-4876-8BF7-CFB0DCA768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71487" y="4119492"/>
            <a:ext cx="4433873" cy="2109666"/>
          </a:xfrm>
          <a:prstGeom prst="rect">
            <a:avLst/>
          </a:prstGeom>
        </p:spPr>
      </p:pic>
      <p:pic>
        <p:nvPicPr>
          <p:cNvPr id="15" name="Image 14">
            <a:extLst>
              <a:ext uri="{FF2B5EF4-FFF2-40B4-BE49-F238E27FC236}">
                <a16:creationId xmlns:a16="http://schemas.microsoft.com/office/drawing/2014/main" id="{72ED57AC-448F-48DF-B0A2-E42211CCB2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7" name="Image 16">
            <a:extLst>
              <a:ext uri="{FF2B5EF4-FFF2-40B4-BE49-F238E27FC236}">
                <a16:creationId xmlns:a16="http://schemas.microsoft.com/office/drawing/2014/main" id="{350F1A02-7DF6-43B8-AD2E-2EE4E596CA4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8" name="Image 17">
            <a:extLst>
              <a:ext uri="{FF2B5EF4-FFF2-40B4-BE49-F238E27FC236}">
                <a16:creationId xmlns:a16="http://schemas.microsoft.com/office/drawing/2014/main" id="{61B83F7D-631B-4C78-BF0D-B18038CF5F73}"/>
              </a:ext>
            </a:extLst>
          </p:cNvPr>
          <p:cNvPicPr>
            <a:picLocks noChangeAspect="1"/>
          </p:cNvPicPr>
          <p:nvPr/>
        </p:nvPicPr>
        <p:blipFill rotWithShape="1">
          <a:blip r:embed="rId10">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20" name="ZoneTexte 19">
            <a:extLst>
              <a:ext uri="{FF2B5EF4-FFF2-40B4-BE49-F238E27FC236}">
                <a16:creationId xmlns:a16="http://schemas.microsoft.com/office/drawing/2014/main" id="{738B9BB4-D3A0-483F-A4B3-CD7635A45D7E}"/>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3</a:t>
            </a:r>
          </a:p>
        </p:txBody>
      </p:sp>
      <p:sp>
        <p:nvSpPr>
          <p:cNvPr id="16" name="ZoneTexte 15">
            <a:extLst>
              <a:ext uri="{FF2B5EF4-FFF2-40B4-BE49-F238E27FC236}">
                <a16:creationId xmlns:a16="http://schemas.microsoft.com/office/drawing/2014/main" id="{D53135D9-6626-4E3A-9F9B-5F13A8BD8EB4}"/>
              </a:ext>
            </a:extLst>
          </p:cNvPr>
          <p:cNvSpPr txBox="1"/>
          <p:nvPr/>
        </p:nvSpPr>
        <p:spPr>
          <a:xfrm>
            <a:off x="2056510" y="4851159"/>
            <a:ext cx="3321066"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Requires the numerical solving of differential equations</a:t>
            </a:r>
          </a:p>
        </p:txBody>
      </p:sp>
    </p:spTree>
    <p:extLst>
      <p:ext uri="{BB962C8B-B14F-4D97-AF65-F5344CB8AC3E}">
        <p14:creationId xmlns:p14="http://schemas.microsoft.com/office/powerpoint/2010/main" val="223790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Problematic</a:t>
            </a:r>
          </a:p>
        </p:txBody>
      </p:sp>
      <p:grpSp>
        <p:nvGrpSpPr>
          <p:cNvPr id="16" name="Groupe 15">
            <a:extLst>
              <a:ext uri="{FF2B5EF4-FFF2-40B4-BE49-F238E27FC236}">
                <a16:creationId xmlns:a16="http://schemas.microsoft.com/office/drawing/2014/main" id="{9C84FFDF-2820-4627-9045-FEDBB4635B0C}"/>
              </a:ext>
            </a:extLst>
          </p:cNvPr>
          <p:cNvGrpSpPr/>
          <p:nvPr/>
        </p:nvGrpSpPr>
        <p:grpSpPr>
          <a:xfrm>
            <a:off x="1217559" y="1876256"/>
            <a:ext cx="4630529" cy="4085297"/>
            <a:chOff x="3921730" y="739017"/>
            <a:chExt cx="6296322" cy="4772829"/>
          </a:xfrm>
        </p:grpSpPr>
        <p:grpSp>
          <p:nvGrpSpPr>
            <p:cNvPr id="17" name="Groupe 16">
              <a:extLst>
                <a:ext uri="{FF2B5EF4-FFF2-40B4-BE49-F238E27FC236}">
                  <a16:creationId xmlns:a16="http://schemas.microsoft.com/office/drawing/2014/main" id="{2ED44753-649C-42EE-805A-B02396F91135}"/>
                </a:ext>
              </a:extLst>
            </p:cNvPr>
            <p:cNvGrpSpPr/>
            <p:nvPr/>
          </p:nvGrpSpPr>
          <p:grpSpPr>
            <a:xfrm>
              <a:off x="3921730" y="739017"/>
              <a:ext cx="6296322" cy="4057360"/>
              <a:chOff x="3921730" y="739017"/>
              <a:chExt cx="6296322" cy="4057360"/>
            </a:xfrm>
          </p:grpSpPr>
          <p:sp>
            <p:nvSpPr>
              <p:cNvPr id="22" name="Rectangle : coins arrondis 21">
                <a:extLst>
                  <a:ext uri="{FF2B5EF4-FFF2-40B4-BE49-F238E27FC236}">
                    <a16:creationId xmlns:a16="http://schemas.microsoft.com/office/drawing/2014/main" id="{44FF981F-932C-430D-AAB6-CAB977658987}"/>
                  </a:ext>
                </a:extLst>
              </p:cNvPr>
              <p:cNvSpPr/>
              <p:nvPr/>
            </p:nvSpPr>
            <p:spPr>
              <a:xfrm>
                <a:off x="3921730" y="2162668"/>
                <a:ext cx="3906314" cy="47063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27" name="Connecteur droit avec flèche 26">
                <a:extLst>
                  <a:ext uri="{FF2B5EF4-FFF2-40B4-BE49-F238E27FC236}">
                    <a16:creationId xmlns:a16="http://schemas.microsoft.com/office/drawing/2014/main" id="{E1A79BC5-44E6-4D52-A50D-74FB7E4C6A0C}"/>
                  </a:ext>
                </a:extLst>
              </p:cNvPr>
              <p:cNvCxnSpPr>
                <a:cxnSpLocks/>
                <a:stCxn id="28" idx="2"/>
                <a:endCxn id="22" idx="0"/>
              </p:cNvCxnSpPr>
              <p:nvPr/>
            </p:nvCxnSpPr>
            <p:spPr>
              <a:xfrm flipH="1">
                <a:off x="5874887" y="1601994"/>
                <a:ext cx="4635" cy="56067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8" name="ZoneTexte 27">
                <a:extLst>
                  <a:ext uri="{FF2B5EF4-FFF2-40B4-BE49-F238E27FC236}">
                    <a16:creationId xmlns:a16="http://schemas.microsoft.com/office/drawing/2014/main" id="{2DD25649-5DC7-4726-8084-3F5CDE1D9912}"/>
                  </a:ext>
                </a:extLst>
              </p:cNvPr>
              <p:cNvSpPr txBox="1"/>
              <p:nvPr/>
            </p:nvSpPr>
            <p:spPr>
              <a:xfrm>
                <a:off x="4933609" y="739017"/>
                <a:ext cx="1891826" cy="8629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Control variables of the heat sources</a:t>
                </a:r>
              </a:p>
            </p:txBody>
          </p:sp>
          <mc:AlternateContent xmlns:mc="http://schemas.openxmlformats.org/markup-compatibility/2006" xmlns:a14="http://schemas.microsoft.com/office/drawing/2010/main">
            <mc:Choice Requires="a14">
              <p:sp>
                <p:nvSpPr>
                  <p:cNvPr id="37" name="Rectangle : coins arrondis 36">
                    <a:extLst>
                      <a:ext uri="{FF2B5EF4-FFF2-40B4-BE49-F238E27FC236}">
                        <a16:creationId xmlns:a16="http://schemas.microsoft.com/office/drawing/2014/main" id="{1FCD5604-7A96-4B1E-8606-0734952CE7C1}"/>
                      </a:ext>
                    </a:extLst>
                  </p:cNvPr>
                  <p:cNvSpPr/>
                  <p:nvPr/>
                </p:nvSpPr>
                <p:spPr>
                  <a:xfrm>
                    <a:off x="4503824" y="3243826"/>
                    <a:ext cx="2803452" cy="470638"/>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Evaluation of objective </a:t>
                    </a:r>
                    <a14:m>
                      <m:oMath xmlns:m="http://schemas.openxmlformats.org/officeDocument/2006/math">
                        <m:r>
                          <a:rPr lang="en-US" sz="1400" i="1" dirty="0" smtClean="0">
                            <a:solidFill>
                              <a:schemeClr val="tx1"/>
                            </a:solidFill>
                            <a:latin typeface="Cambria Math" panose="02040503050406030204" pitchFamily="18" charset="0"/>
                            <a:cs typeface="Times New Roman" panose="02020603050405020304" pitchFamily="18" charset="0"/>
                          </a:rPr>
                          <m:t>𝐽</m:t>
                        </m:r>
                      </m:oMath>
                    </a14:m>
                    <a:endParaRPr lang="en-US" sz="1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7" name="Rectangle : coins arrondis 36">
                    <a:extLst>
                      <a:ext uri="{FF2B5EF4-FFF2-40B4-BE49-F238E27FC236}">
                        <a16:creationId xmlns:a16="http://schemas.microsoft.com/office/drawing/2014/main" id="{1FCD5604-7A96-4B1E-8606-0734952CE7C1}"/>
                      </a:ext>
                    </a:extLst>
                  </p:cNvPr>
                  <p:cNvSpPr>
                    <a:spLocks noRot="1" noChangeAspect="1" noMove="1" noResize="1" noEditPoints="1" noAdjustHandles="1" noChangeArrowheads="1" noChangeShapeType="1" noTextEdit="1"/>
                  </p:cNvSpPr>
                  <p:nvPr/>
                </p:nvSpPr>
                <p:spPr>
                  <a:xfrm>
                    <a:off x="4503824" y="3243826"/>
                    <a:ext cx="2803452" cy="470638"/>
                  </a:xfrm>
                  <a:prstGeom prst="roundRect">
                    <a:avLst/>
                  </a:prstGeom>
                  <a:blipFill>
                    <a:blip r:embed="rId3"/>
                    <a:stretch>
                      <a:fillRect b="-2985"/>
                    </a:stretch>
                  </a:blipFill>
                  <a:ln>
                    <a:noFill/>
                  </a:ln>
                </p:spPr>
                <p:txBody>
                  <a:bodyPr/>
                  <a:lstStyle/>
                  <a:p>
                    <a:r>
                      <a:rPr lang="en-US">
                        <a:noFill/>
                      </a:rPr>
                      <a:t> </a:t>
                    </a:r>
                  </a:p>
                </p:txBody>
              </p:sp>
            </mc:Fallback>
          </mc:AlternateContent>
          <p:cxnSp>
            <p:nvCxnSpPr>
              <p:cNvPr id="38" name="Connecteur droit avec flèche 37">
                <a:extLst>
                  <a:ext uri="{FF2B5EF4-FFF2-40B4-BE49-F238E27FC236}">
                    <a16:creationId xmlns:a16="http://schemas.microsoft.com/office/drawing/2014/main" id="{82F6EF8B-6556-4B71-902C-9F85F9B5DFE8}"/>
                  </a:ext>
                </a:extLst>
              </p:cNvPr>
              <p:cNvCxnSpPr>
                <a:cxnSpLocks/>
              </p:cNvCxnSpPr>
              <p:nvPr/>
            </p:nvCxnSpPr>
            <p:spPr>
              <a:xfrm flipH="1">
                <a:off x="5874886" y="2798649"/>
                <a:ext cx="1" cy="39333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9" name="ZoneTexte 38">
                <a:extLst>
                  <a:ext uri="{FF2B5EF4-FFF2-40B4-BE49-F238E27FC236}">
                    <a16:creationId xmlns:a16="http://schemas.microsoft.com/office/drawing/2014/main" id="{BC24421C-6300-4B70-8ABE-A93BDE6B4293}"/>
                  </a:ext>
                </a:extLst>
              </p:cNvPr>
              <p:cNvSpPr txBox="1"/>
              <p:nvPr/>
            </p:nvSpPr>
            <p:spPr>
              <a:xfrm>
                <a:off x="4149020" y="2245011"/>
                <a:ext cx="3658853" cy="359574"/>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Dynamic simulation </a:t>
                </a:r>
                <a:r>
                  <a:rPr lang="en-US" sz="1400" dirty="0">
                    <a:latin typeface="Times New Roman" panose="02020603050405020304" pitchFamily="18" charset="0"/>
                    <a:cs typeface="Times New Roman" panose="02020603050405020304" pitchFamily="18" charset="0"/>
                  </a:rPr>
                  <a:t>of the DHN </a:t>
                </a:r>
              </a:p>
            </p:txBody>
          </p:sp>
          <p:cxnSp>
            <p:nvCxnSpPr>
              <p:cNvPr id="40" name="Connecteur droit 39">
                <a:extLst>
                  <a:ext uri="{FF2B5EF4-FFF2-40B4-BE49-F238E27FC236}">
                    <a16:creationId xmlns:a16="http://schemas.microsoft.com/office/drawing/2014/main" id="{53E26BD6-67B2-44E8-95AA-35FCC3DB63AD}"/>
                  </a:ext>
                </a:extLst>
              </p:cNvPr>
              <p:cNvCxnSpPr>
                <a:cxnSpLocks/>
              </p:cNvCxnSpPr>
              <p:nvPr/>
            </p:nvCxnSpPr>
            <p:spPr>
              <a:xfrm>
                <a:off x="6897169" y="4533247"/>
                <a:ext cx="216045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1" name="Connecteur droit 40">
                <a:extLst>
                  <a:ext uri="{FF2B5EF4-FFF2-40B4-BE49-F238E27FC236}">
                    <a16:creationId xmlns:a16="http://schemas.microsoft.com/office/drawing/2014/main" id="{8FC78457-9CC7-47CD-9707-78B2F98A7152}"/>
                  </a:ext>
                </a:extLst>
              </p:cNvPr>
              <p:cNvCxnSpPr>
                <a:cxnSpLocks/>
              </p:cNvCxnSpPr>
              <p:nvPr/>
            </p:nvCxnSpPr>
            <p:spPr>
              <a:xfrm>
                <a:off x="9074141" y="1478363"/>
                <a:ext cx="0" cy="3054884"/>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Connecteur droit avec flèche 41">
                <a:extLst>
                  <a:ext uri="{FF2B5EF4-FFF2-40B4-BE49-F238E27FC236}">
                    <a16:creationId xmlns:a16="http://schemas.microsoft.com/office/drawing/2014/main" id="{D6D0C273-A1AF-41CB-A89A-9EA0F4373FF2}"/>
                  </a:ext>
                </a:extLst>
              </p:cNvPr>
              <p:cNvCxnSpPr>
                <a:cxnSpLocks/>
                <a:stCxn id="45" idx="1"/>
                <a:endCxn id="28" idx="3"/>
              </p:cNvCxnSpPr>
              <p:nvPr/>
            </p:nvCxnSpPr>
            <p:spPr>
              <a:xfrm flipH="1">
                <a:off x="6825434" y="1170505"/>
                <a:ext cx="175510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3" name="ZoneTexte 42">
                <a:extLst>
                  <a:ext uri="{FF2B5EF4-FFF2-40B4-BE49-F238E27FC236}">
                    <a16:creationId xmlns:a16="http://schemas.microsoft.com/office/drawing/2014/main" id="{02C2F6DE-5A9E-447B-92CC-FD8C019AA0EF}"/>
                  </a:ext>
                </a:extLst>
              </p:cNvPr>
              <p:cNvSpPr txBox="1"/>
              <p:nvPr/>
            </p:nvSpPr>
            <p:spPr>
              <a:xfrm>
                <a:off x="4647022" y="4185102"/>
                <a:ext cx="2517057" cy="611275"/>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Stopping criteria reached</a:t>
                </a:r>
              </a:p>
            </p:txBody>
          </p:sp>
          <p:sp>
            <p:nvSpPr>
              <p:cNvPr id="44" name="ZoneTexte 43">
                <a:extLst>
                  <a:ext uri="{FF2B5EF4-FFF2-40B4-BE49-F238E27FC236}">
                    <a16:creationId xmlns:a16="http://schemas.microsoft.com/office/drawing/2014/main" id="{983F5CAF-460F-444D-9B80-FF5D050DCDFC}"/>
                  </a:ext>
                </a:extLst>
              </p:cNvPr>
              <p:cNvSpPr txBox="1"/>
              <p:nvPr/>
            </p:nvSpPr>
            <p:spPr>
              <a:xfrm>
                <a:off x="6895728" y="3953473"/>
                <a:ext cx="1839602" cy="359574"/>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otherwise</a:t>
                </a:r>
              </a:p>
            </p:txBody>
          </p:sp>
          <p:sp>
            <p:nvSpPr>
              <p:cNvPr id="45" name="Rectangle : coins arrondis 44">
                <a:extLst>
                  <a:ext uri="{FF2B5EF4-FFF2-40B4-BE49-F238E27FC236}">
                    <a16:creationId xmlns:a16="http://schemas.microsoft.com/office/drawing/2014/main" id="{119F18D2-64EE-4086-A901-130EC11743DC}"/>
                  </a:ext>
                </a:extLst>
              </p:cNvPr>
              <p:cNvSpPr/>
              <p:nvPr/>
            </p:nvSpPr>
            <p:spPr>
              <a:xfrm>
                <a:off x="8580541" y="862648"/>
                <a:ext cx="1637511" cy="615714"/>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latin typeface="Times New Roman" panose="02020603050405020304" pitchFamily="18" charset="0"/>
                    <a:cs typeface="Times New Roman" panose="02020603050405020304" pitchFamily="18" charset="0"/>
                  </a:rPr>
                  <a:t>Optimization</a:t>
                </a:r>
              </a:p>
            </p:txBody>
          </p:sp>
          <p:cxnSp>
            <p:nvCxnSpPr>
              <p:cNvPr id="46" name="Connecteur droit avec flèche 45">
                <a:extLst>
                  <a:ext uri="{FF2B5EF4-FFF2-40B4-BE49-F238E27FC236}">
                    <a16:creationId xmlns:a16="http://schemas.microsoft.com/office/drawing/2014/main" id="{F7A1B8AD-DEF6-4855-9498-437D6FAB5D93}"/>
                  </a:ext>
                </a:extLst>
              </p:cNvPr>
              <p:cNvCxnSpPr>
                <a:cxnSpLocks/>
                <a:stCxn id="37" idx="2"/>
              </p:cNvCxnSpPr>
              <p:nvPr/>
            </p:nvCxnSpPr>
            <p:spPr>
              <a:xfrm>
                <a:off x="5905551" y="3714464"/>
                <a:ext cx="0" cy="41266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8" name="Connecteur droit avec flèche 17">
              <a:extLst>
                <a:ext uri="{FF2B5EF4-FFF2-40B4-BE49-F238E27FC236}">
                  <a16:creationId xmlns:a16="http://schemas.microsoft.com/office/drawing/2014/main" id="{3A78B68D-CAC0-4E40-872C-23761E8B1204}"/>
                </a:ext>
              </a:extLst>
            </p:cNvPr>
            <p:cNvCxnSpPr>
              <a:cxnSpLocks/>
            </p:cNvCxnSpPr>
            <p:nvPr/>
          </p:nvCxnSpPr>
          <p:spPr>
            <a:xfrm flipH="1">
              <a:off x="5894220" y="4875411"/>
              <a:ext cx="1" cy="27686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0" name="ZoneTexte 19">
              <a:extLst>
                <a:ext uri="{FF2B5EF4-FFF2-40B4-BE49-F238E27FC236}">
                  <a16:creationId xmlns:a16="http://schemas.microsoft.com/office/drawing/2014/main" id="{93C37F97-2D68-4736-AE10-A0BE5A691F39}"/>
                </a:ext>
              </a:extLst>
            </p:cNvPr>
            <p:cNvSpPr txBox="1"/>
            <p:nvPr/>
          </p:nvSpPr>
          <p:spPr>
            <a:xfrm>
              <a:off x="5592792" y="5152272"/>
              <a:ext cx="600040" cy="359574"/>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yes</a:t>
              </a:r>
            </a:p>
          </p:txBody>
        </p:sp>
      </p:grpSp>
      <p:sp>
        <p:nvSpPr>
          <p:cNvPr id="51" name="ZoneTexte 50">
            <a:extLst>
              <a:ext uri="{FF2B5EF4-FFF2-40B4-BE49-F238E27FC236}">
                <a16:creationId xmlns:a16="http://schemas.microsoft.com/office/drawing/2014/main" id="{89294B04-9364-4CA7-BDD6-4B4669B5B3C0}"/>
              </a:ext>
            </a:extLst>
          </p:cNvPr>
          <p:cNvSpPr txBox="1"/>
          <p:nvPr/>
        </p:nvSpPr>
        <p:spPr>
          <a:xfrm>
            <a:off x="6479032" y="2245588"/>
            <a:ext cx="457869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repetitive dynamic simulation of the DHN is required for each time step.</a:t>
            </a:r>
          </a:p>
        </p:txBody>
      </p:sp>
      <p:sp>
        <p:nvSpPr>
          <p:cNvPr id="52" name="ZoneTexte 51">
            <a:extLst>
              <a:ext uri="{FF2B5EF4-FFF2-40B4-BE49-F238E27FC236}">
                <a16:creationId xmlns:a16="http://schemas.microsoft.com/office/drawing/2014/main" id="{4355078D-DBF9-41A3-9476-93AA1792B953}"/>
              </a:ext>
            </a:extLst>
          </p:cNvPr>
          <p:cNvSpPr txBox="1"/>
          <p:nvPr/>
        </p:nvSpPr>
        <p:spPr>
          <a:xfrm>
            <a:off x="6479032" y="3415127"/>
            <a:ext cx="4159463"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One simulation is </a:t>
            </a:r>
            <a:r>
              <a:rPr lang="en-US" dirty="0">
                <a:solidFill>
                  <a:srgbClr val="FF0000"/>
                </a:solidFill>
                <a:latin typeface="Times New Roman" panose="02020603050405020304" pitchFamily="18" charset="0"/>
                <a:cs typeface="Times New Roman" panose="02020603050405020304" pitchFamily="18" charset="0"/>
              </a:rPr>
              <a:t>computationally expensive </a:t>
            </a:r>
            <a:r>
              <a:rPr lang="en-US" dirty="0">
                <a:latin typeface="Times New Roman" panose="02020603050405020304" pitchFamily="18" charset="0"/>
                <a:cs typeface="Times New Roman" panose="02020603050405020304" pitchFamily="18" charset="0"/>
              </a:rPr>
              <a:t>for large DHN.</a:t>
            </a:r>
          </a:p>
        </p:txBody>
      </p:sp>
      <p:sp>
        <p:nvSpPr>
          <p:cNvPr id="53" name="ZoneTexte 52">
            <a:extLst>
              <a:ext uri="{FF2B5EF4-FFF2-40B4-BE49-F238E27FC236}">
                <a16:creationId xmlns:a16="http://schemas.microsoft.com/office/drawing/2014/main" id="{AA907D7D-A3ED-4426-BA1A-3EF205C71A4A}"/>
              </a:ext>
            </a:extLst>
          </p:cNvPr>
          <p:cNvSpPr txBox="1"/>
          <p:nvPr/>
        </p:nvSpPr>
        <p:spPr>
          <a:xfrm>
            <a:off x="6479032" y="4616237"/>
            <a:ext cx="4578690" cy="923330"/>
          </a:xfrm>
          <a:prstGeom prst="rect">
            <a:avLst/>
          </a:prstGeom>
          <a:noFill/>
        </p:spPr>
        <p:txBody>
          <a:bodyPr wrap="square" rtlCol="0">
            <a:spAutoFit/>
          </a:bodyPr>
          <a:lstStyle/>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Proposed approach</a:t>
            </a:r>
            <a:r>
              <a:rPr lang="en-US" dirty="0">
                <a:latin typeface="Times New Roman" panose="02020603050405020304" pitchFamily="18" charset="0"/>
                <a:cs typeface="Times New Roman" panose="02020603050405020304" pitchFamily="18" charset="0"/>
              </a:rPr>
              <a:t>: reduce the computational costs (CPU time) by reducing the topology of the DHN.</a:t>
            </a:r>
          </a:p>
        </p:txBody>
      </p:sp>
      <p:pic>
        <p:nvPicPr>
          <p:cNvPr id="25" name="Image 24">
            <a:extLst>
              <a:ext uri="{FF2B5EF4-FFF2-40B4-BE49-F238E27FC236}">
                <a16:creationId xmlns:a16="http://schemas.microsoft.com/office/drawing/2014/main" id="{A7E98578-8EBD-418D-AF34-04F8FA5BC2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26" name="Image 25">
            <a:extLst>
              <a:ext uri="{FF2B5EF4-FFF2-40B4-BE49-F238E27FC236}">
                <a16:creationId xmlns:a16="http://schemas.microsoft.com/office/drawing/2014/main" id="{E6E9BECD-1F71-452E-87D0-3953D4BF15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29" name="Image 28">
            <a:extLst>
              <a:ext uri="{FF2B5EF4-FFF2-40B4-BE49-F238E27FC236}">
                <a16:creationId xmlns:a16="http://schemas.microsoft.com/office/drawing/2014/main" id="{6ED5BD88-32CD-4DBA-A931-58183D403B6A}"/>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30" name="ZoneTexte 29">
            <a:extLst>
              <a:ext uri="{FF2B5EF4-FFF2-40B4-BE49-F238E27FC236}">
                <a16:creationId xmlns:a16="http://schemas.microsoft.com/office/drawing/2014/main" id="{E7758A00-D2C8-4D43-B397-76CDEB23B0C7}"/>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4</a:t>
            </a:r>
          </a:p>
        </p:txBody>
      </p:sp>
      <p:sp>
        <p:nvSpPr>
          <p:cNvPr id="3" name="ZoneTexte 2">
            <a:extLst>
              <a:ext uri="{FF2B5EF4-FFF2-40B4-BE49-F238E27FC236}">
                <a16:creationId xmlns:a16="http://schemas.microsoft.com/office/drawing/2014/main" id="{2935F372-FEDD-4944-9303-437AC07070C0}"/>
              </a:ext>
            </a:extLst>
          </p:cNvPr>
          <p:cNvSpPr txBox="1"/>
          <p:nvPr/>
        </p:nvSpPr>
        <p:spPr>
          <a:xfrm>
            <a:off x="1268274" y="5927828"/>
            <a:ext cx="2816506" cy="369332"/>
          </a:xfrm>
          <a:prstGeom prst="rect">
            <a:avLst/>
          </a:prstGeom>
          <a:noFill/>
        </p:spPr>
        <p:txBody>
          <a:bodyPr wrap="square" rtlCol="0">
            <a:spAutoFit/>
          </a:bodyPr>
          <a:lstStyle/>
          <a:p>
            <a:pPr algn="ctr"/>
            <a:r>
              <a:rPr lang="en-US" dirty="0">
                <a:solidFill>
                  <a:srgbClr val="FF0000"/>
                </a:solidFill>
                <a:latin typeface="Times New Roman" panose="02020603050405020304" pitchFamily="18" charset="0"/>
                <a:cs typeface="Times New Roman" panose="02020603050405020304" pitchFamily="18" charset="0"/>
              </a:rPr>
              <a:t>Computationally intensive</a:t>
            </a:r>
          </a:p>
        </p:txBody>
      </p:sp>
    </p:spTree>
    <p:extLst>
      <p:ext uri="{BB962C8B-B14F-4D97-AF65-F5344CB8AC3E}">
        <p14:creationId xmlns:p14="http://schemas.microsoft.com/office/powerpoint/2010/main" val="374252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24">
            <a:extLst>
              <a:ext uri="{FF2B5EF4-FFF2-40B4-BE49-F238E27FC236}">
                <a16:creationId xmlns:a16="http://schemas.microsoft.com/office/drawing/2014/main" id="{B9B6D78D-7DF3-44C2-AC5D-57B6EA808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855" y="1853915"/>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3" name="ZoneTexte 2">
            <a:extLst>
              <a:ext uri="{FF2B5EF4-FFF2-40B4-BE49-F238E27FC236}">
                <a16:creationId xmlns:a16="http://schemas.microsoft.com/office/drawing/2014/main" id="{8E62005E-FCCD-4677-AA17-C404811AA879}"/>
              </a:ext>
            </a:extLst>
          </p:cNvPr>
          <p:cNvSpPr txBox="1"/>
          <p:nvPr/>
        </p:nvSpPr>
        <p:spPr>
          <a:xfrm>
            <a:off x="1632268" y="2720051"/>
            <a:ext cx="128455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consumers</a:t>
            </a:r>
          </a:p>
        </p:txBody>
      </p:sp>
      <p:cxnSp>
        <p:nvCxnSpPr>
          <p:cNvPr id="5" name="Connecteur droit avec flèche 4">
            <a:extLst>
              <a:ext uri="{FF2B5EF4-FFF2-40B4-BE49-F238E27FC236}">
                <a16:creationId xmlns:a16="http://schemas.microsoft.com/office/drawing/2014/main" id="{1434C113-C5CF-4BA7-A079-04649D3CA172}"/>
              </a:ext>
            </a:extLst>
          </p:cNvPr>
          <p:cNvCxnSpPr>
            <a:cxnSpLocks/>
          </p:cNvCxnSpPr>
          <p:nvPr/>
        </p:nvCxnSpPr>
        <p:spPr>
          <a:xfrm flipV="1">
            <a:off x="2916821" y="2650604"/>
            <a:ext cx="1111169" cy="250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6CFEF6B6-F203-417F-92BF-80FEDA269A26}"/>
              </a:ext>
            </a:extLst>
          </p:cNvPr>
          <p:cNvCxnSpPr>
            <a:cxnSpLocks/>
            <a:stCxn id="3" idx="3"/>
          </p:cNvCxnSpPr>
          <p:nvPr/>
        </p:nvCxnSpPr>
        <p:spPr>
          <a:xfrm>
            <a:off x="2916821" y="2904717"/>
            <a:ext cx="734027" cy="77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671123D2-FADA-4045-8EBA-17FACCE425C0}"/>
              </a:ext>
            </a:extLst>
          </p:cNvPr>
          <p:cNvSpPr txBox="1"/>
          <p:nvPr/>
        </p:nvSpPr>
        <p:spPr>
          <a:xfrm>
            <a:off x="5143258" y="4296137"/>
            <a:ext cx="128455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producers</a:t>
            </a:r>
          </a:p>
        </p:txBody>
      </p:sp>
      <p:cxnSp>
        <p:nvCxnSpPr>
          <p:cNvPr id="34" name="Connecteur droit avec flèche 33">
            <a:extLst>
              <a:ext uri="{FF2B5EF4-FFF2-40B4-BE49-F238E27FC236}">
                <a16:creationId xmlns:a16="http://schemas.microsoft.com/office/drawing/2014/main" id="{D5B530AD-7C88-4BEC-95EE-04AB0DFBFA97}"/>
              </a:ext>
            </a:extLst>
          </p:cNvPr>
          <p:cNvCxnSpPr>
            <a:cxnSpLocks/>
            <a:stCxn id="33" idx="1"/>
          </p:cNvCxnSpPr>
          <p:nvPr/>
        </p:nvCxnSpPr>
        <p:spPr>
          <a:xfrm flipH="1" flipV="1">
            <a:off x="4421529" y="3576577"/>
            <a:ext cx="721729" cy="904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EA39DFDD-0F23-4C35-8B20-42542F2940DC}"/>
              </a:ext>
            </a:extLst>
          </p:cNvPr>
          <p:cNvCxnSpPr>
            <a:cxnSpLocks/>
          </p:cNvCxnSpPr>
          <p:nvPr/>
        </p:nvCxnSpPr>
        <p:spPr>
          <a:xfrm flipH="1">
            <a:off x="4236334" y="4480803"/>
            <a:ext cx="906924" cy="601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9" name="ZoneTexte 48">
            <a:extLst>
              <a:ext uri="{FF2B5EF4-FFF2-40B4-BE49-F238E27FC236}">
                <a16:creationId xmlns:a16="http://schemas.microsoft.com/office/drawing/2014/main" id="{10905840-8844-4C46-B3BA-18E4AAC32CA0}"/>
              </a:ext>
            </a:extLst>
          </p:cNvPr>
          <p:cNvSpPr txBox="1"/>
          <p:nvPr/>
        </p:nvSpPr>
        <p:spPr>
          <a:xfrm>
            <a:off x="869259" y="5950541"/>
            <a:ext cx="4095124" cy="37039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Case study DHN with 150 nodes</a:t>
            </a:r>
          </a:p>
        </p:txBody>
      </p:sp>
      <p:pic>
        <p:nvPicPr>
          <p:cNvPr id="14" name="Image 13">
            <a:extLst>
              <a:ext uri="{FF2B5EF4-FFF2-40B4-BE49-F238E27FC236}">
                <a16:creationId xmlns:a16="http://schemas.microsoft.com/office/drawing/2014/main" id="{FFEF75EF-86F9-42F3-8EE5-CC8BD16FEC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5" name="Image 14">
            <a:extLst>
              <a:ext uri="{FF2B5EF4-FFF2-40B4-BE49-F238E27FC236}">
                <a16:creationId xmlns:a16="http://schemas.microsoft.com/office/drawing/2014/main" id="{87A0E766-1AA1-4F36-9D0A-8E26614C69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6" name="Image 15">
            <a:extLst>
              <a:ext uri="{FF2B5EF4-FFF2-40B4-BE49-F238E27FC236}">
                <a16:creationId xmlns:a16="http://schemas.microsoft.com/office/drawing/2014/main" id="{7DFFC574-7605-4F78-8773-376AD7698FDE}"/>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7" name="ZoneTexte 16">
            <a:extLst>
              <a:ext uri="{FF2B5EF4-FFF2-40B4-BE49-F238E27FC236}">
                <a16:creationId xmlns:a16="http://schemas.microsoft.com/office/drawing/2014/main" id="{2A356B7B-F53F-4145-B75C-A9125AE51BF0}"/>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412463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a:t>
            </a:r>
            <a:r>
              <a:rPr lang="en-US" b="1" dirty="0">
                <a:latin typeface="Times New Roman" panose="02020603050405020304" pitchFamily="18" charset="0"/>
                <a:cs typeface="Times New Roman" panose="02020603050405020304" pitchFamily="18" charset="0"/>
              </a:rPr>
              <a:t>select clusters </a:t>
            </a:r>
            <a:r>
              <a:rPr lang="en-US" dirty="0">
                <a:latin typeface="Times New Roman" panose="02020603050405020304" pitchFamily="18" charset="0"/>
                <a:cs typeface="Times New Roman" panose="02020603050405020304" pitchFamily="18" charset="0"/>
              </a:rPr>
              <a:t>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pic>
        <p:nvPicPr>
          <p:cNvPr id="14" name="Image 13">
            <a:extLst>
              <a:ext uri="{FF2B5EF4-FFF2-40B4-BE49-F238E27FC236}">
                <a16:creationId xmlns:a16="http://schemas.microsoft.com/office/drawing/2014/main" id="{AE5D7DB7-A624-4D4F-A9C5-7694AC5250F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963582" y="1737360"/>
            <a:ext cx="4886499" cy="4382885"/>
          </a:xfrm>
          <a:prstGeom prst="rect">
            <a:avLst/>
          </a:prstGeom>
        </p:spPr>
      </p:pic>
      <p:sp>
        <p:nvSpPr>
          <p:cNvPr id="49" name="ZoneTexte 48">
            <a:extLst>
              <a:ext uri="{FF2B5EF4-FFF2-40B4-BE49-F238E27FC236}">
                <a16:creationId xmlns:a16="http://schemas.microsoft.com/office/drawing/2014/main" id="{10905840-8844-4C46-B3BA-18E4AAC32CA0}"/>
              </a:ext>
            </a:extLst>
          </p:cNvPr>
          <p:cNvSpPr txBox="1"/>
          <p:nvPr/>
        </p:nvSpPr>
        <p:spPr>
          <a:xfrm>
            <a:off x="869259" y="5950541"/>
            <a:ext cx="4095124" cy="37039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Case study DHN with 150 nodes</a:t>
            </a:r>
          </a:p>
        </p:txBody>
      </p:sp>
      <p:pic>
        <p:nvPicPr>
          <p:cNvPr id="15" name="Image 14">
            <a:extLst>
              <a:ext uri="{FF2B5EF4-FFF2-40B4-BE49-F238E27FC236}">
                <a16:creationId xmlns:a16="http://schemas.microsoft.com/office/drawing/2014/main" id="{42DF126D-6314-4387-AFDC-922D0AD9DF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6" name="Image 15">
            <a:extLst>
              <a:ext uri="{FF2B5EF4-FFF2-40B4-BE49-F238E27FC236}">
                <a16:creationId xmlns:a16="http://schemas.microsoft.com/office/drawing/2014/main" id="{80501704-3D3A-4DB8-BA1E-A436CEAA70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7" name="Image 16">
            <a:extLst>
              <a:ext uri="{FF2B5EF4-FFF2-40B4-BE49-F238E27FC236}">
                <a16:creationId xmlns:a16="http://schemas.microsoft.com/office/drawing/2014/main" id="{F75506A2-B4BC-4838-B828-3F2B730AC3DD}"/>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8" name="ZoneTexte 17">
            <a:extLst>
              <a:ext uri="{FF2B5EF4-FFF2-40B4-BE49-F238E27FC236}">
                <a16:creationId xmlns:a16="http://schemas.microsoft.com/office/drawing/2014/main" id="{CABF8DC5-26AE-42F8-B503-D37AE85F286F}"/>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3348684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DD7867E-DB58-4F0E-86ED-C95BB1AAF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480" y="1776721"/>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select clusters 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sp>
        <p:nvSpPr>
          <p:cNvPr id="49" name="ZoneTexte 48">
            <a:extLst>
              <a:ext uri="{FF2B5EF4-FFF2-40B4-BE49-F238E27FC236}">
                <a16:creationId xmlns:a16="http://schemas.microsoft.com/office/drawing/2014/main" id="{10905840-8844-4C46-B3BA-18E4AAC32CA0}"/>
              </a:ext>
            </a:extLst>
          </p:cNvPr>
          <p:cNvSpPr txBox="1"/>
          <p:nvPr/>
        </p:nvSpPr>
        <p:spPr>
          <a:xfrm>
            <a:off x="499283" y="2782669"/>
            <a:ext cx="3455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Reduced version of the case study DHN by replacing cluster K1</a:t>
            </a:r>
          </a:p>
        </p:txBody>
      </p:sp>
      <p:sp>
        <p:nvSpPr>
          <p:cNvPr id="7" name="ZoneTexte 6">
            <a:extLst>
              <a:ext uri="{FF2B5EF4-FFF2-40B4-BE49-F238E27FC236}">
                <a16:creationId xmlns:a16="http://schemas.microsoft.com/office/drawing/2014/main" id="{FF2BF4DD-0296-440E-A9FE-AC41E15FF7B8}"/>
              </a:ext>
            </a:extLst>
          </p:cNvPr>
          <p:cNvSpPr txBox="1"/>
          <p:nvPr/>
        </p:nvSpPr>
        <p:spPr>
          <a:xfrm>
            <a:off x="7060555" y="4401006"/>
            <a:ext cx="442140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Replace each cluster with a trained </a:t>
            </a:r>
            <a:r>
              <a:rPr lang="en-US" dirty="0">
                <a:solidFill>
                  <a:srgbClr val="00B0F0"/>
                </a:solidFill>
                <a:latin typeface="Times New Roman" panose="02020603050405020304" pitchFamily="18" charset="0"/>
                <a:cs typeface="Times New Roman" panose="02020603050405020304" pitchFamily="18" charset="0"/>
              </a:rPr>
              <a:t>neural networks</a:t>
            </a:r>
            <a:r>
              <a:rPr lang="en-US" dirty="0">
                <a:latin typeface="Times New Roman" panose="02020603050405020304" pitchFamily="18" charset="0"/>
                <a:cs typeface="Times New Roman" panose="02020603050405020304" pitchFamily="18" charset="0"/>
              </a:rPr>
              <a:t> acting as surrogate of the cluster</a:t>
            </a:r>
          </a:p>
        </p:txBody>
      </p:sp>
      <p:sp>
        <p:nvSpPr>
          <p:cNvPr id="18" name="Rectangle 17">
            <a:extLst>
              <a:ext uri="{FF2B5EF4-FFF2-40B4-BE49-F238E27FC236}">
                <a16:creationId xmlns:a16="http://schemas.microsoft.com/office/drawing/2014/main" id="{476ED239-FE56-48A7-9ADA-F865B13A305C}"/>
              </a:ext>
            </a:extLst>
          </p:cNvPr>
          <p:cNvSpPr/>
          <p:nvPr/>
        </p:nvSpPr>
        <p:spPr>
          <a:xfrm flipH="1">
            <a:off x="3504923" y="4780889"/>
            <a:ext cx="424139" cy="90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7B3E0A0-49F3-442A-9443-5BA8D6FF733A}"/>
              </a:ext>
            </a:extLst>
          </p:cNvPr>
          <p:cNvSpPr/>
          <p:nvPr/>
        </p:nvSpPr>
        <p:spPr>
          <a:xfrm>
            <a:off x="3774898" y="5045404"/>
            <a:ext cx="358952" cy="543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Ellipse 19">
            <a:extLst>
              <a:ext uri="{FF2B5EF4-FFF2-40B4-BE49-F238E27FC236}">
                <a16:creationId xmlns:a16="http://schemas.microsoft.com/office/drawing/2014/main" id="{A4FB5EE1-8F88-434D-93F4-F491F893F729}"/>
              </a:ext>
            </a:extLst>
          </p:cNvPr>
          <p:cNvSpPr/>
          <p:nvPr/>
        </p:nvSpPr>
        <p:spPr>
          <a:xfrm>
            <a:off x="3808998" y="4741528"/>
            <a:ext cx="145376" cy="13166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Image 22">
            <a:extLst>
              <a:ext uri="{FF2B5EF4-FFF2-40B4-BE49-F238E27FC236}">
                <a16:creationId xmlns:a16="http://schemas.microsoft.com/office/drawing/2014/main" id="{D0E45FE3-51D3-4F7D-89AE-5E08638693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24" name="Image 23">
            <a:extLst>
              <a:ext uri="{FF2B5EF4-FFF2-40B4-BE49-F238E27FC236}">
                <a16:creationId xmlns:a16="http://schemas.microsoft.com/office/drawing/2014/main" id="{BCE61022-E616-48B4-8EB0-43E19FE458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25" name="Image 24">
            <a:extLst>
              <a:ext uri="{FF2B5EF4-FFF2-40B4-BE49-F238E27FC236}">
                <a16:creationId xmlns:a16="http://schemas.microsoft.com/office/drawing/2014/main" id="{6E509265-D744-4BAA-91BC-F21A8DE01803}"/>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26" name="ZoneTexte 25">
            <a:extLst>
              <a:ext uri="{FF2B5EF4-FFF2-40B4-BE49-F238E27FC236}">
                <a16:creationId xmlns:a16="http://schemas.microsoft.com/office/drawing/2014/main" id="{F7400753-33F7-46C6-B00E-95AE732213CA}"/>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779056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DD7867E-DB58-4F0E-86ED-C95BB1AAF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480" y="1776721"/>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select clusters 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sp>
        <p:nvSpPr>
          <p:cNvPr id="16" name="Rectangle 15">
            <a:extLst>
              <a:ext uri="{FF2B5EF4-FFF2-40B4-BE49-F238E27FC236}">
                <a16:creationId xmlns:a16="http://schemas.microsoft.com/office/drawing/2014/main" id="{A2EB2ABE-2EB5-4CA7-A8E1-4C0182704265}"/>
              </a:ext>
            </a:extLst>
          </p:cNvPr>
          <p:cNvSpPr/>
          <p:nvPr/>
        </p:nvSpPr>
        <p:spPr>
          <a:xfrm>
            <a:off x="4133850" y="5338763"/>
            <a:ext cx="2035317" cy="90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Ellipse 5">
            <a:extLst>
              <a:ext uri="{FF2B5EF4-FFF2-40B4-BE49-F238E27FC236}">
                <a16:creationId xmlns:a16="http://schemas.microsoft.com/office/drawing/2014/main" id="{AB77452D-E2E3-4425-A485-793DC7F71279}"/>
              </a:ext>
            </a:extLst>
          </p:cNvPr>
          <p:cNvSpPr/>
          <p:nvPr/>
        </p:nvSpPr>
        <p:spPr>
          <a:xfrm>
            <a:off x="4664006" y="5160002"/>
            <a:ext cx="661988" cy="2705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lipse 16">
            <a:extLst>
              <a:ext uri="{FF2B5EF4-FFF2-40B4-BE49-F238E27FC236}">
                <a16:creationId xmlns:a16="http://schemas.microsoft.com/office/drawing/2014/main" id="{AD04334C-3B81-4190-9974-8A754DFFDA14}"/>
              </a:ext>
            </a:extLst>
          </p:cNvPr>
          <p:cNvSpPr/>
          <p:nvPr/>
        </p:nvSpPr>
        <p:spPr>
          <a:xfrm>
            <a:off x="4442430" y="5318449"/>
            <a:ext cx="145376" cy="13166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59A68765-0332-4953-8914-8B0FE4E9917D}"/>
              </a:ext>
            </a:extLst>
          </p:cNvPr>
          <p:cNvSpPr txBox="1"/>
          <p:nvPr/>
        </p:nvSpPr>
        <p:spPr>
          <a:xfrm>
            <a:off x="499283" y="2782669"/>
            <a:ext cx="3455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Reduced version of the case study DHN by replacing cluster K2</a:t>
            </a:r>
          </a:p>
        </p:txBody>
      </p:sp>
      <p:sp>
        <p:nvSpPr>
          <p:cNvPr id="24" name="ZoneTexte 23">
            <a:extLst>
              <a:ext uri="{FF2B5EF4-FFF2-40B4-BE49-F238E27FC236}">
                <a16:creationId xmlns:a16="http://schemas.microsoft.com/office/drawing/2014/main" id="{826C8F37-42D9-4D78-B5F1-A8AEEA928C07}"/>
              </a:ext>
            </a:extLst>
          </p:cNvPr>
          <p:cNvSpPr txBox="1"/>
          <p:nvPr/>
        </p:nvSpPr>
        <p:spPr>
          <a:xfrm>
            <a:off x="7060555" y="4401006"/>
            <a:ext cx="442140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Replace each cluster with a trained </a:t>
            </a:r>
            <a:r>
              <a:rPr lang="en-US" dirty="0">
                <a:solidFill>
                  <a:srgbClr val="00B0F0"/>
                </a:solidFill>
                <a:latin typeface="Times New Roman" panose="02020603050405020304" pitchFamily="18" charset="0"/>
                <a:cs typeface="Times New Roman" panose="02020603050405020304" pitchFamily="18" charset="0"/>
              </a:rPr>
              <a:t>neural networks</a:t>
            </a:r>
            <a:r>
              <a:rPr lang="en-US" dirty="0">
                <a:latin typeface="Times New Roman" panose="02020603050405020304" pitchFamily="18" charset="0"/>
                <a:cs typeface="Times New Roman" panose="02020603050405020304" pitchFamily="18" charset="0"/>
              </a:rPr>
              <a:t> acting as surrogate of the cluster</a:t>
            </a:r>
          </a:p>
        </p:txBody>
      </p:sp>
      <p:pic>
        <p:nvPicPr>
          <p:cNvPr id="25" name="Image 24">
            <a:extLst>
              <a:ext uri="{FF2B5EF4-FFF2-40B4-BE49-F238E27FC236}">
                <a16:creationId xmlns:a16="http://schemas.microsoft.com/office/drawing/2014/main" id="{F5146883-CE4C-4652-B794-BC3F8F110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26" name="Image 25">
            <a:extLst>
              <a:ext uri="{FF2B5EF4-FFF2-40B4-BE49-F238E27FC236}">
                <a16:creationId xmlns:a16="http://schemas.microsoft.com/office/drawing/2014/main" id="{B33815C0-A6D9-4854-9C82-4150FE0A50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27" name="Image 26">
            <a:extLst>
              <a:ext uri="{FF2B5EF4-FFF2-40B4-BE49-F238E27FC236}">
                <a16:creationId xmlns:a16="http://schemas.microsoft.com/office/drawing/2014/main" id="{6D6669E3-4AF8-4EDF-A0BB-E4FF3485E51F}"/>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28" name="ZoneTexte 27">
            <a:extLst>
              <a:ext uri="{FF2B5EF4-FFF2-40B4-BE49-F238E27FC236}">
                <a16:creationId xmlns:a16="http://schemas.microsoft.com/office/drawing/2014/main" id="{8E625EF0-100F-45AF-A45B-4E71A1E341A8}"/>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3287335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DD7867E-DB58-4F0E-86ED-C95BB1AAF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480" y="1776721"/>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select clusters 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sp>
        <p:nvSpPr>
          <p:cNvPr id="3" name="Rectangle 2">
            <a:extLst>
              <a:ext uri="{FF2B5EF4-FFF2-40B4-BE49-F238E27FC236}">
                <a16:creationId xmlns:a16="http://schemas.microsoft.com/office/drawing/2014/main" id="{74C8EFE1-B51D-47A3-B0C9-81413C4D2C1D}"/>
              </a:ext>
            </a:extLst>
          </p:cNvPr>
          <p:cNvSpPr/>
          <p:nvPr/>
        </p:nvSpPr>
        <p:spPr>
          <a:xfrm>
            <a:off x="3675972" y="1776721"/>
            <a:ext cx="1981878" cy="1476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llipse 3">
            <a:extLst>
              <a:ext uri="{FF2B5EF4-FFF2-40B4-BE49-F238E27FC236}">
                <a16:creationId xmlns:a16="http://schemas.microsoft.com/office/drawing/2014/main" id="{9B5BDF71-CD83-4C4C-AA37-FF5B6960F2A7}"/>
              </a:ext>
            </a:extLst>
          </p:cNvPr>
          <p:cNvSpPr/>
          <p:nvPr/>
        </p:nvSpPr>
        <p:spPr>
          <a:xfrm rot="1465096">
            <a:off x="4296008" y="3145757"/>
            <a:ext cx="1085850" cy="3619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llipse 4">
            <a:extLst>
              <a:ext uri="{FF2B5EF4-FFF2-40B4-BE49-F238E27FC236}">
                <a16:creationId xmlns:a16="http://schemas.microsoft.com/office/drawing/2014/main" id="{47EE28DC-393A-4DB3-94FE-D0D71DDE3AE7}"/>
              </a:ext>
            </a:extLst>
          </p:cNvPr>
          <p:cNvSpPr/>
          <p:nvPr/>
        </p:nvSpPr>
        <p:spPr>
          <a:xfrm>
            <a:off x="4412337" y="3161112"/>
            <a:ext cx="145376" cy="13166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FF19E8B2-0C7C-4048-AE98-4C60F085FD3C}"/>
              </a:ext>
            </a:extLst>
          </p:cNvPr>
          <p:cNvSpPr txBox="1"/>
          <p:nvPr/>
        </p:nvSpPr>
        <p:spPr>
          <a:xfrm>
            <a:off x="499283" y="2782669"/>
            <a:ext cx="3455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Reduced version of the case study DHN by replacing cluster K3</a:t>
            </a:r>
          </a:p>
        </p:txBody>
      </p:sp>
      <p:sp>
        <p:nvSpPr>
          <p:cNvPr id="24" name="ZoneTexte 23">
            <a:extLst>
              <a:ext uri="{FF2B5EF4-FFF2-40B4-BE49-F238E27FC236}">
                <a16:creationId xmlns:a16="http://schemas.microsoft.com/office/drawing/2014/main" id="{3AD250EC-4B76-4D92-91CB-1CBFF8CA32D8}"/>
              </a:ext>
            </a:extLst>
          </p:cNvPr>
          <p:cNvSpPr txBox="1"/>
          <p:nvPr/>
        </p:nvSpPr>
        <p:spPr>
          <a:xfrm>
            <a:off x="7060555" y="4401006"/>
            <a:ext cx="442140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Replace each cluster with a trained </a:t>
            </a:r>
            <a:r>
              <a:rPr lang="en-US" dirty="0">
                <a:solidFill>
                  <a:srgbClr val="00B0F0"/>
                </a:solidFill>
                <a:latin typeface="Times New Roman" panose="02020603050405020304" pitchFamily="18" charset="0"/>
                <a:cs typeface="Times New Roman" panose="02020603050405020304" pitchFamily="18" charset="0"/>
              </a:rPr>
              <a:t>neural networks</a:t>
            </a:r>
            <a:r>
              <a:rPr lang="en-US" dirty="0">
                <a:latin typeface="Times New Roman" panose="02020603050405020304" pitchFamily="18" charset="0"/>
                <a:cs typeface="Times New Roman" panose="02020603050405020304" pitchFamily="18" charset="0"/>
              </a:rPr>
              <a:t> acting as surrogate of the cluster</a:t>
            </a:r>
          </a:p>
        </p:txBody>
      </p:sp>
      <p:pic>
        <p:nvPicPr>
          <p:cNvPr id="25" name="Image 24">
            <a:extLst>
              <a:ext uri="{FF2B5EF4-FFF2-40B4-BE49-F238E27FC236}">
                <a16:creationId xmlns:a16="http://schemas.microsoft.com/office/drawing/2014/main" id="{1E3A2558-406C-4324-9546-43077B33A4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26" name="Image 25">
            <a:extLst>
              <a:ext uri="{FF2B5EF4-FFF2-40B4-BE49-F238E27FC236}">
                <a16:creationId xmlns:a16="http://schemas.microsoft.com/office/drawing/2014/main" id="{551A7C97-5913-4432-892B-45C38620F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27" name="Image 26">
            <a:extLst>
              <a:ext uri="{FF2B5EF4-FFF2-40B4-BE49-F238E27FC236}">
                <a16:creationId xmlns:a16="http://schemas.microsoft.com/office/drawing/2014/main" id="{BE2E8118-352F-45E7-9B32-9A585F6788A9}"/>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28" name="ZoneTexte 27">
            <a:extLst>
              <a:ext uri="{FF2B5EF4-FFF2-40B4-BE49-F238E27FC236}">
                <a16:creationId xmlns:a16="http://schemas.microsoft.com/office/drawing/2014/main" id="{8440AFA3-C52E-4FB9-9BBA-22AC13914B01}"/>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318475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DD7867E-DB58-4F0E-86ED-C95BB1AAF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480" y="1776721"/>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select clusters 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sp>
        <p:nvSpPr>
          <p:cNvPr id="21" name="Rectangle 20">
            <a:extLst>
              <a:ext uri="{FF2B5EF4-FFF2-40B4-BE49-F238E27FC236}">
                <a16:creationId xmlns:a16="http://schemas.microsoft.com/office/drawing/2014/main" id="{A6FD3AC3-50F2-4BA9-8E20-05E84D4E605F}"/>
              </a:ext>
            </a:extLst>
          </p:cNvPr>
          <p:cNvSpPr/>
          <p:nvPr/>
        </p:nvSpPr>
        <p:spPr>
          <a:xfrm>
            <a:off x="1185862" y="3899742"/>
            <a:ext cx="2218959" cy="19766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lipse 21">
            <a:extLst>
              <a:ext uri="{FF2B5EF4-FFF2-40B4-BE49-F238E27FC236}">
                <a16:creationId xmlns:a16="http://schemas.microsoft.com/office/drawing/2014/main" id="{28904B22-D6B6-4EBD-866A-0B1ECD0DD675}"/>
              </a:ext>
            </a:extLst>
          </p:cNvPr>
          <p:cNvSpPr/>
          <p:nvPr/>
        </p:nvSpPr>
        <p:spPr>
          <a:xfrm>
            <a:off x="3247403" y="4592511"/>
            <a:ext cx="145376" cy="13166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58F19734-6E1A-4C8D-B533-BA8DA2B6E86D}"/>
              </a:ext>
            </a:extLst>
          </p:cNvPr>
          <p:cNvSpPr txBox="1"/>
          <p:nvPr/>
        </p:nvSpPr>
        <p:spPr>
          <a:xfrm>
            <a:off x="251633" y="3019212"/>
            <a:ext cx="3455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Reduced version of the case study DHN by replacing cluster K4</a:t>
            </a:r>
          </a:p>
        </p:txBody>
      </p:sp>
      <p:sp>
        <p:nvSpPr>
          <p:cNvPr id="24" name="ZoneTexte 23">
            <a:extLst>
              <a:ext uri="{FF2B5EF4-FFF2-40B4-BE49-F238E27FC236}">
                <a16:creationId xmlns:a16="http://schemas.microsoft.com/office/drawing/2014/main" id="{3B75C936-D6D9-49F1-90B9-2FB556F95490}"/>
              </a:ext>
            </a:extLst>
          </p:cNvPr>
          <p:cNvSpPr txBox="1"/>
          <p:nvPr/>
        </p:nvSpPr>
        <p:spPr>
          <a:xfrm>
            <a:off x="7060555" y="4401006"/>
            <a:ext cx="442140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Replace each cluster with a trained </a:t>
            </a:r>
            <a:r>
              <a:rPr lang="en-US" dirty="0">
                <a:solidFill>
                  <a:srgbClr val="00B0F0"/>
                </a:solidFill>
                <a:latin typeface="Times New Roman" panose="02020603050405020304" pitchFamily="18" charset="0"/>
                <a:cs typeface="Times New Roman" panose="02020603050405020304" pitchFamily="18" charset="0"/>
              </a:rPr>
              <a:t>neural networks</a:t>
            </a:r>
            <a:r>
              <a:rPr lang="en-US" dirty="0">
                <a:latin typeface="Times New Roman" panose="02020603050405020304" pitchFamily="18" charset="0"/>
                <a:cs typeface="Times New Roman" panose="02020603050405020304" pitchFamily="18" charset="0"/>
              </a:rPr>
              <a:t> acting as surrogate of the cluster</a:t>
            </a:r>
          </a:p>
        </p:txBody>
      </p:sp>
      <p:pic>
        <p:nvPicPr>
          <p:cNvPr id="26" name="Image 25">
            <a:extLst>
              <a:ext uri="{FF2B5EF4-FFF2-40B4-BE49-F238E27FC236}">
                <a16:creationId xmlns:a16="http://schemas.microsoft.com/office/drawing/2014/main" id="{C3EAA482-2FFD-4E63-B242-70734AE0A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27" name="Image 26">
            <a:extLst>
              <a:ext uri="{FF2B5EF4-FFF2-40B4-BE49-F238E27FC236}">
                <a16:creationId xmlns:a16="http://schemas.microsoft.com/office/drawing/2014/main" id="{84DE942F-F4B7-42EF-BEFA-4EA672C5A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28" name="Image 27">
            <a:extLst>
              <a:ext uri="{FF2B5EF4-FFF2-40B4-BE49-F238E27FC236}">
                <a16:creationId xmlns:a16="http://schemas.microsoft.com/office/drawing/2014/main" id="{B9C73A5C-BDA6-4F14-9EC6-6A27EB001123}"/>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29" name="ZoneTexte 28">
            <a:extLst>
              <a:ext uri="{FF2B5EF4-FFF2-40B4-BE49-F238E27FC236}">
                <a16:creationId xmlns:a16="http://schemas.microsoft.com/office/drawing/2014/main" id="{E2C4C6F8-A1A2-421C-9F0E-ADCD65D71372}"/>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2654118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1DD7867E-DB58-4F0E-86ED-C95BB1AAF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480" y="1776721"/>
            <a:ext cx="4467590" cy="4397572"/>
          </a:xfrm>
          <a:prstGeom prst="rect">
            <a:avLst/>
          </a:prstGeom>
        </p:spPr>
      </p:pic>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Proposed methodology</a:t>
            </a:r>
          </a:p>
        </p:txBody>
      </p:sp>
      <p:sp>
        <p:nvSpPr>
          <p:cNvPr id="13" name="ZoneTexte 12">
            <a:extLst>
              <a:ext uri="{FF2B5EF4-FFF2-40B4-BE49-F238E27FC236}">
                <a16:creationId xmlns:a16="http://schemas.microsoft.com/office/drawing/2014/main" id="{94FB63B9-2F9A-465E-90F5-04F6B6A95AA7}"/>
              </a:ext>
            </a:extLst>
          </p:cNvPr>
          <p:cNvSpPr txBox="1"/>
          <p:nvPr/>
        </p:nvSpPr>
        <p:spPr>
          <a:xfrm>
            <a:off x="7060556" y="2257063"/>
            <a:ext cx="4095124" cy="370393"/>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DHN viewed as oriented graph</a:t>
            </a:r>
          </a:p>
        </p:txBody>
      </p:sp>
      <p:sp>
        <p:nvSpPr>
          <p:cNvPr id="48" name="ZoneTexte 47">
            <a:extLst>
              <a:ext uri="{FF2B5EF4-FFF2-40B4-BE49-F238E27FC236}">
                <a16:creationId xmlns:a16="http://schemas.microsoft.com/office/drawing/2014/main" id="{2F04ADD3-68EA-4B6B-AE07-88E55E3872C1}"/>
              </a:ext>
            </a:extLst>
          </p:cNvPr>
          <p:cNvSpPr txBox="1"/>
          <p:nvPr/>
        </p:nvSpPr>
        <p:spPr>
          <a:xfrm>
            <a:off x="7060555" y="3253411"/>
            <a:ext cx="4095124"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Identify or select clusters of consumer nodes (</a:t>
            </a:r>
            <a:r>
              <a:rPr lang="en-US" i="1" dirty="0">
                <a:latin typeface="Times New Roman" panose="02020603050405020304" pitchFamily="18" charset="0"/>
                <a:cs typeface="Times New Roman" panose="02020603050405020304" pitchFamily="18" charset="0"/>
              </a:rPr>
              <a:t>i.e., </a:t>
            </a:r>
            <a:r>
              <a:rPr lang="en-US" dirty="0">
                <a:latin typeface="Times New Roman" panose="02020603050405020304" pitchFamily="18" charset="0"/>
                <a:cs typeface="Times New Roman" panose="02020603050405020304" pitchFamily="18" charset="0"/>
              </a:rPr>
              <a:t>K1-K4)</a:t>
            </a:r>
          </a:p>
        </p:txBody>
      </p:sp>
      <p:sp>
        <p:nvSpPr>
          <p:cNvPr id="21" name="Rectangle 20">
            <a:extLst>
              <a:ext uri="{FF2B5EF4-FFF2-40B4-BE49-F238E27FC236}">
                <a16:creationId xmlns:a16="http://schemas.microsoft.com/office/drawing/2014/main" id="{A6FD3AC3-50F2-4BA9-8E20-05E84D4E605F}"/>
              </a:ext>
            </a:extLst>
          </p:cNvPr>
          <p:cNvSpPr/>
          <p:nvPr/>
        </p:nvSpPr>
        <p:spPr>
          <a:xfrm>
            <a:off x="1185862" y="3899742"/>
            <a:ext cx="2218959" cy="19766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lipse 21">
            <a:extLst>
              <a:ext uri="{FF2B5EF4-FFF2-40B4-BE49-F238E27FC236}">
                <a16:creationId xmlns:a16="http://schemas.microsoft.com/office/drawing/2014/main" id="{28904B22-D6B6-4EBD-866A-0B1ECD0DD675}"/>
              </a:ext>
            </a:extLst>
          </p:cNvPr>
          <p:cNvSpPr/>
          <p:nvPr/>
        </p:nvSpPr>
        <p:spPr>
          <a:xfrm>
            <a:off x="3247403" y="4592511"/>
            <a:ext cx="145376" cy="13166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58F19734-6E1A-4C8D-B533-BA8DA2B6E86D}"/>
              </a:ext>
            </a:extLst>
          </p:cNvPr>
          <p:cNvSpPr txBox="1"/>
          <p:nvPr/>
        </p:nvSpPr>
        <p:spPr>
          <a:xfrm>
            <a:off x="251633" y="3019212"/>
            <a:ext cx="3455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Reduced version of the case study DHN by replacing cluster K4</a:t>
            </a:r>
          </a:p>
        </p:txBody>
      </p:sp>
      <p:sp>
        <p:nvSpPr>
          <p:cNvPr id="24" name="ZoneTexte 23">
            <a:extLst>
              <a:ext uri="{FF2B5EF4-FFF2-40B4-BE49-F238E27FC236}">
                <a16:creationId xmlns:a16="http://schemas.microsoft.com/office/drawing/2014/main" id="{3B75C936-D6D9-49F1-90B9-2FB556F95490}"/>
              </a:ext>
            </a:extLst>
          </p:cNvPr>
          <p:cNvSpPr txBox="1"/>
          <p:nvPr/>
        </p:nvSpPr>
        <p:spPr>
          <a:xfrm>
            <a:off x="7060555" y="4401006"/>
            <a:ext cx="4421400"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Replace each cluster with a trained </a:t>
            </a:r>
            <a:r>
              <a:rPr lang="en-US" dirty="0">
                <a:solidFill>
                  <a:srgbClr val="00B0F0"/>
                </a:solidFill>
                <a:latin typeface="Times New Roman" panose="02020603050405020304" pitchFamily="18" charset="0"/>
                <a:cs typeface="Times New Roman" panose="02020603050405020304" pitchFamily="18" charset="0"/>
              </a:rPr>
              <a:t>neural networks</a:t>
            </a:r>
            <a:r>
              <a:rPr lang="en-US" dirty="0">
                <a:latin typeface="Times New Roman" panose="02020603050405020304" pitchFamily="18" charset="0"/>
                <a:cs typeface="Times New Roman" panose="02020603050405020304" pitchFamily="18" charset="0"/>
              </a:rPr>
              <a:t> acting as surrogate of the cluster</a:t>
            </a:r>
          </a:p>
        </p:txBody>
      </p:sp>
      <p:sp>
        <p:nvSpPr>
          <p:cNvPr id="11" name="ZoneTexte 10">
            <a:extLst>
              <a:ext uri="{FF2B5EF4-FFF2-40B4-BE49-F238E27FC236}">
                <a16:creationId xmlns:a16="http://schemas.microsoft.com/office/drawing/2014/main" id="{08F1B209-5A43-484E-95B1-14E1F6186428}"/>
              </a:ext>
            </a:extLst>
          </p:cNvPr>
          <p:cNvSpPr txBox="1"/>
          <p:nvPr/>
        </p:nvSpPr>
        <p:spPr>
          <a:xfrm>
            <a:off x="7357995" y="5243994"/>
            <a:ext cx="3826520" cy="646331"/>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Maintain temperatures at interfaces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Maintain consumptions</a:t>
            </a:r>
          </a:p>
        </p:txBody>
      </p:sp>
      <p:pic>
        <p:nvPicPr>
          <p:cNvPr id="12" name="Image 11">
            <a:extLst>
              <a:ext uri="{FF2B5EF4-FFF2-40B4-BE49-F238E27FC236}">
                <a16:creationId xmlns:a16="http://schemas.microsoft.com/office/drawing/2014/main" id="{4A6FEE0E-0F5F-42F8-A225-788A2048D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4" name="Image 13">
            <a:extLst>
              <a:ext uri="{FF2B5EF4-FFF2-40B4-BE49-F238E27FC236}">
                <a16:creationId xmlns:a16="http://schemas.microsoft.com/office/drawing/2014/main" id="{84CE9FAD-4EE6-48A3-B630-E93D31DDD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5" name="Image 14">
            <a:extLst>
              <a:ext uri="{FF2B5EF4-FFF2-40B4-BE49-F238E27FC236}">
                <a16:creationId xmlns:a16="http://schemas.microsoft.com/office/drawing/2014/main" id="{3FADA7A4-EFB4-40EB-A7D6-714B29E3D828}"/>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6" name="ZoneTexte 15">
            <a:extLst>
              <a:ext uri="{FF2B5EF4-FFF2-40B4-BE49-F238E27FC236}">
                <a16:creationId xmlns:a16="http://schemas.microsoft.com/office/drawing/2014/main" id="{752013E8-92CC-4839-9825-CB7DF0344105}"/>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4044762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Surrogate neural networks models</a:t>
            </a:r>
          </a:p>
        </p:txBody>
      </p:sp>
      <p:grpSp>
        <p:nvGrpSpPr>
          <p:cNvPr id="12" name="Groupe 11">
            <a:extLst>
              <a:ext uri="{FF2B5EF4-FFF2-40B4-BE49-F238E27FC236}">
                <a16:creationId xmlns:a16="http://schemas.microsoft.com/office/drawing/2014/main" id="{224CFB9C-EC15-4E74-BF9D-8E67114CFCA8}"/>
              </a:ext>
            </a:extLst>
          </p:cNvPr>
          <p:cNvGrpSpPr/>
          <p:nvPr/>
        </p:nvGrpSpPr>
        <p:grpSpPr>
          <a:xfrm>
            <a:off x="3727851" y="4012021"/>
            <a:ext cx="5315389" cy="825303"/>
            <a:chOff x="2810051" y="4400576"/>
            <a:chExt cx="5316177" cy="976278"/>
          </a:xfrm>
        </p:grpSpPr>
        <p:sp>
          <p:nvSpPr>
            <p:cNvPr id="14" name="Rectangle : coins arrondis 13">
              <a:extLst>
                <a:ext uri="{FF2B5EF4-FFF2-40B4-BE49-F238E27FC236}">
                  <a16:creationId xmlns:a16="http://schemas.microsoft.com/office/drawing/2014/main" id="{4E45E9B0-2A44-4A42-920B-6A3BDCD5F5CA}"/>
                </a:ext>
              </a:extLst>
            </p:cNvPr>
            <p:cNvSpPr/>
            <p:nvPr/>
          </p:nvSpPr>
          <p:spPr>
            <a:xfrm>
              <a:off x="3300412" y="4400576"/>
              <a:ext cx="963214" cy="409920"/>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latin typeface="Times New Roman" panose="02020603050405020304" pitchFamily="18" charset="0"/>
                  <a:cs typeface="Times New Roman" panose="02020603050405020304" pitchFamily="18" charset="0"/>
                </a:rPr>
                <a:t>GRU</a:t>
              </a:r>
            </a:p>
          </p:txBody>
        </p:sp>
        <p:sp>
          <p:nvSpPr>
            <p:cNvPr id="15" name="Rectangle : coins arrondis 14">
              <a:extLst>
                <a:ext uri="{FF2B5EF4-FFF2-40B4-BE49-F238E27FC236}">
                  <a16:creationId xmlns:a16="http://schemas.microsoft.com/office/drawing/2014/main" id="{0CF8D030-B2EE-40B0-A812-FFFDFAD8110B}"/>
                </a:ext>
              </a:extLst>
            </p:cNvPr>
            <p:cNvSpPr/>
            <p:nvPr/>
          </p:nvSpPr>
          <p:spPr>
            <a:xfrm>
              <a:off x="4473153" y="4400576"/>
              <a:ext cx="963214" cy="409920"/>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latin typeface="Times New Roman" panose="02020603050405020304" pitchFamily="18" charset="0"/>
                  <a:cs typeface="Times New Roman" panose="02020603050405020304" pitchFamily="18" charset="0"/>
                </a:rPr>
                <a:t>GRU </a:t>
              </a:r>
            </a:p>
          </p:txBody>
        </p:sp>
        <p:sp>
          <p:nvSpPr>
            <p:cNvPr id="16" name="Rectangle : coins arrondis 15">
              <a:extLst>
                <a:ext uri="{FF2B5EF4-FFF2-40B4-BE49-F238E27FC236}">
                  <a16:creationId xmlns:a16="http://schemas.microsoft.com/office/drawing/2014/main" id="{F053F7CA-2E57-4A3E-8268-D0FF995B7820}"/>
                </a:ext>
              </a:extLst>
            </p:cNvPr>
            <p:cNvSpPr/>
            <p:nvPr/>
          </p:nvSpPr>
          <p:spPr>
            <a:xfrm>
              <a:off x="5587552" y="4400576"/>
              <a:ext cx="963214" cy="409920"/>
            </a:xfrm>
            <a:prstGeom prst="roundRect">
              <a:avLst/>
            </a:prstGeom>
            <a:solidFill>
              <a:schemeClr val="bg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latin typeface="Times New Roman" panose="02020603050405020304" pitchFamily="18" charset="0"/>
                  <a:cs typeface="Times New Roman" panose="02020603050405020304" pitchFamily="18" charset="0"/>
                </a:rPr>
                <a:t>Dense </a:t>
              </a:r>
            </a:p>
          </p:txBody>
        </p:sp>
        <p:sp>
          <p:nvSpPr>
            <p:cNvPr id="17" name="Rectangle : coins arrondis 16">
              <a:extLst>
                <a:ext uri="{FF2B5EF4-FFF2-40B4-BE49-F238E27FC236}">
                  <a16:creationId xmlns:a16="http://schemas.microsoft.com/office/drawing/2014/main" id="{F3723752-C102-40F5-B8F5-41B6CAD66550}"/>
                </a:ext>
              </a:extLst>
            </p:cNvPr>
            <p:cNvSpPr/>
            <p:nvPr/>
          </p:nvSpPr>
          <p:spPr>
            <a:xfrm>
              <a:off x="6701951" y="4400576"/>
              <a:ext cx="963214" cy="409920"/>
            </a:xfrm>
            <a:prstGeom prst="roundRect">
              <a:avLst/>
            </a:prstGeom>
            <a:solidFill>
              <a:schemeClr val="bg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latin typeface="Times New Roman" panose="02020603050405020304" pitchFamily="18" charset="0"/>
                  <a:cs typeface="Times New Roman" panose="02020603050405020304" pitchFamily="18" charset="0"/>
                </a:rPr>
                <a:t>Dense </a:t>
              </a:r>
            </a:p>
          </p:txBody>
        </p:sp>
        <p:sp>
          <p:nvSpPr>
            <p:cNvPr id="18" name="Rectangle : coins arrondis 17">
              <a:extLst>
                <a:ext uri="{FF2B5EF4-FFF2-40B4-BE49-F238E27FC236}">
                  <a16:creationId xmlns:a16="http://schemas.microsoft.com/office/drawing/2014/main" id="{CB668390-97BE-42CE-9E94-6423EBF532A7}"/>
                </a:ext>
              </a:extLst>
            </p:cNvPr>
            <p:cNvSpPr/>
            <p:nvPr/>
          </p:nvSpPr>
          <p:spPr>
            <a:xfrm>
              <a:off x="3913801" y="5061467"/>
              <a:ext cx="909177" cy="309788"/>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Times New Roman" panose="02020603050405020304" pitchFamily="18" charset="0"/>
                  <a:cs typeface="Times New Roman" panose="02020603050405020304" pitchFamily="18" charset="0"/>
                </a:rPr>
                <a:t>Dropout</a:t>
              </a:r>
            </a:p>
          </p:txBody>
        </p:sp>
        <p:cxnSp>
          <p:nvCxnSpPr>
            <p:cNvPr id="19" name="Connecteur droit 18">
              <a:extLst>
                <a:ext uri="{FF2B5EF4-FFF2-40B4-BE49-F238E27FC236}">
                  <a16:creationId xmlns:a16="http://schemas.microsoft.com/office/drawing/2014/main" id="{87CB7FF6-12DB-45CE-B53B-60B280CE88A8}"/>
                </a:ext>
              </a:extLst>
            </p:cNvPr>
            <p:cNvCxnSpPr>
              <a:stCxn id="14" idx="3"/>
              <a:endCxn id="15" idx="1"/>
            </p:cNvCxnSpPr>
            <p:nvPr/>
          </p:nvCxnSpPr>
          <p:spPr>
            <a:xfrm>
              <a:off x="4263626" y="4605536"/>
              <a:ext cx="209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897929A7-0F7F-4FE9-979E-EB67262CBE88}"/>
                </a:ext>
              </a:extLst>
            </p:cNvPr>
            <p:cNvCxnSpPr>
              <a:cxnSpLocks/>
              <a:stCxn id="15" idx="3"/>
              <a:endCxn id="16" idx="1"/>
            </p:cNvCxnSpPr>
            <p:nvPr/>
          </p:nvCxnSpPr>
          <p:spPr>
            <a:xfrm>
              <a:off x="5436367" y="4605536"/>
              <a:ext cx="151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2530B41F-3561-4936-B3A0-8BD55B1C8CF6}"/>
                </a:ext>
              </a:extLst>
            </p:cNvPr>
            <p:cNvCxnSpPr>
              <a:cxnSpLocks/>
              <a:stCxn id="16" idx="3"/>
              <a:endCxn id="17" idx="1"/>
            </p:cNvCxnSpPr>
            <p:nvPr/>
          </p:nvCxnSpPr>
          <p:spPr>
            <a:xfrm>
              <a:off x="6550766" y="4605536"/>
              <a:ext cx="151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481257B2-D821-4C2E-995F-E62D6F75E607}"/>
                </a:ext>
              </a:extLst>
            </p:cNvPr>
            <p:cNvCxnSpPr>
              <a:cxnSpLocks/>
              <a:endCxn id="18" idx="0"/>
            </p:cNvCxnSpPr>
            <p:nvPr/>
          </p:nvCxnSpPr>
          <p:spPr>
            <a:xfrm>
              <a:off x="4361053" y="4598393"/>
              <a:ext cx="7337" cy="463074"/>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7" name="Rectangle : coins arrondis 26">
              <a:extLst>
                <a:ext uri="{FF2B5EF4-FFF2-40B4-BE49-F238E27FC236}">
                  <a16:creationId xmlns:a16="http://schemas.microsoft.com/office/drawing/2014/main" id="{498F7E08-5AE8-49CA-B0DB-361063E87494}"/>
                </a:ext>
              </a:extLst>
            </p:cNvPr>
            <p:cNvSpPr/>
            <p:nvPr/>
          </p:nvSpPr>
          <p:spPr>
            <a:xfrm>
              <a:off x="6131719" y="5067066"/>
              <a:ext cx="963214" cy="309788"/>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Times New Roman" panose="02020603050405020304" pitchFamily="18" charset="0"/>
                  <a:cs typeface="Times New Roman" panose="02020603050405020304" pitchFamily="18" charset="0"/>
                </a:rPr>
                <a:t>Dropout</a:t>
              </a:r>
            </a:p>
          </p:txBody>
        </p:sp>
        <p:cxnSp>
          <p:nvCxnSpPr>
            <p:cNvPr id="28" name="Connecteur droit 27">
              <a:extLst>
                <a:ext uri="{FF2B5EF4-FFF2-40B4-BE49-F238E27FC236}">
                  <a16:creationId xmlns:a16="http://schemas.microsoft.com/office/drawing/2014/main" id="{EFD71C3D-0A28-49B6-BD0D-48D6686E05EE}"/>
                </a:ext>
              </a:extLst>
            </p:cNvPr>
            <p:cNvCxnSpPr>
              <a:cxnSpLocks/>
            </p:cNvCxnSpPr>
            <p:nvPr/>
          </p:nvCxnSpPr>
          <p:spPr>
            <a:xfrm>
              <a:off x="6613326" y="4599234"/>
              <a:ext cx="0" cy="463074"/>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29" name="Connecteur droit avec flèche 28">
              <a:extLst>
                <a:ext uri="{FF2B5EF4-FFF2-40B4-BE49-F238E27FC236}">
                  <a16:creationId xmlns:a16="http://schemas.microsoft.com/office/drawing/2014/main" id="{F78C1657-BAAF-4ACB-8C95-510050805FA0}"/>
                </a:ext>
              </a:extLst>
            </p:cNvPr>
            <p:cNvCxnSpPr>
              <a:cxnSpLocks/>
              <a:endCxn id="14" idx="1"/>
            </p:cNvCxnSpPr>
            <p:nvPr/>
          </p:nvCxnSpPr>
          <p:spPr>
            <a:xfrm>
              <a:off x="2810051" y="4597842"/>
              <a:ext cx="490361" cy="7694"/>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 name="Connecteur droit avec flèche 29">
              <a:extLst>
                <a:ext uri="{FF2B5EF4-FFF2-40B4-BE49-F238E27FC236}">
                  <a16:creationId xmlns:a16="http://schemas.microsoft.com/office/drawing/2014/main" id="{53459A3B-1B6B-4CDF-87A1-0C69A8DE3551}"/>
                </a:ext>
              </a:extLst>
            </p:cNvPr>
            <p:cNvCxnSpPr>
              <a:cxnSpLocks/>
              <a:stCxn id="17" idx="3"/>
            </p:cNvCxnSpPr>
            <p:nvPr/>
          </p:nvCxnSpPr>
          <p:spPr>
            <a:xfrm flipV="1">
              <a:off x="7665165" y="4597842"/>
              <a:ext cx="461063" cy="7694"/>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9" name="ZoneTexte 38">
            <a:extLst>
              <a:ext uri="{FF2B5EF4-FFF2-40B4-BE49-F238E27FC236}">
                <a16:creationId xmlns:a16="http://schemas.microsoft.com/office/drawing/2014/main" id="{9703CC68-42ED-496F-B02A-62F219ED6684}"/>
              </a:ext>
            </a:extLst>
          </p:cNvPr>
          <p:cNvSpPr txBox="1"/>
          <p:nvPr/>
        </p:nvSpPr>
        <p:spPr>
          <a:xfrm>
            <a:off x="1111144" y="2043870"/>
            <a:ext cx="4552931"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GRU-NN based architectures with hyperparameters selected from grid search</a:t>
            </a:r>
          </a:p>
        </p:txBody>
      </p:sp>
      <p:sp>
        <p:nvSpPr>
          <p:cNvPr id="7" name="ZoneTexte 6">
            <a:extLst>
              <a:ext uri="{FF2B5EF4-FFF2-40B4-BE49-F238E27FC236}">
                <a16:creationId xmlns:a16="http://schemas.microsoft.com/office/drawing/2014/main" id="{A6D3CC04-CAB7-48CF-A2EB-BE0DD6C03C99}"/>
              </a:ext>
            </a:extLst>
          </p:cNvPr>
          <p:cNvSpPr txBox="1"/>
          <p:nvPr/>
        </p:nvSpPr>
        <p:spPr>
          <a:xfrm>
            <a:off x="1093495" y="3382779"/>
            <a:ext cx="2213263" cy="36933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Incoming water flows</a:t>
            </a:r>
          </a:p>
        </p:txBody>
      </p:sp>
      <p:sp>
        <p:nvSpPr>
          <p:cNvPr id="42" name="ZoneTexte 41">
            <a:extLst>
              <a:ext uri="{FF2B5EF4-FFF2-40B4-BE49-F238E27FC236}">
                <a16:creationId xmlns:a16="http://schemas.microsoft.com/office/drawing/2014/main" id="{A3AB317C-7D9F-44CD-B298-37DBA1981769}"/>
              </a:ext>
            </a:extLst>
          </p:cNvPr>
          <p:cNvSpPr txBox="1"/>
          <p:nvPr/>
        </p:nvSpPr>
        <p:spPr>
          <a:xfrm>
            <a:off x="1457293" y="3689289"/>
            <a:ext cx="1961814" cy="584775"/>
          </a:xfrm>
          <a:prstGeom prst="rect">
            <a:avLst/>
          </a:prstGeom>
          <a:noFill/>
        </p:spPr>
        <p:txBody>
          <a:bodyPr wrap="square" rtlCol="0">
            <a:spAutoFit/>
          </a:bodyPr>
          <a:lstStyle/>
          <a:p>
            <a:pPr marL="285750" indent="-285750" algn="just">
              <a:buFont typeface="Times New Roman" panose="02020603050405020304" pitchFamily="18" charset="0"/>
              <a:buChar char="+"/>
            </a:pPr>
            <a:r>
              <a:rPr lang="en-US" sz="1600" dirty="0">
                <a:latin typeface="Times New Roman" panose="02020603050405020304" pitchFamily="18" charset="0"/>
                <a:cs typeface="Times New Roman" panose="02020603050405020304" pitchFamily="18" charset="0"/>
              </a:rPr>
              <a:t>Temperatures</a:t>
            </a:r>
          </a:p>
          <a:p>
            <a:pPr marL="285750" indent="-285750" algn="just">
              <a:buFont typeface="Times New Roman" panose="02020603050405020304" pitchFamily="18" charset="0"/>
              <a:buChar char="+"/>
            </a:pPr>
            <a:r>
              <a:rPr lang="en-US" sz="1600" dirty="0">
                <a:latin typeface="Times New Roman" panose="02020603050405020304" pitchFamily="18" charset="0"/>
                <a:cs typeface="Times New Roman" panose="02020603050405020304" pitchFamily="18" charset="0"/>
              </a:rPr>
              <a:t>Mass flow rates</a:t>
            </a:r>
          </a:p>
        </p:txBody>
      </p:sp>
      <p:sp>
        <p:nvSpPr>
          <p:cNvPr id="43" name="ZoneTexte 42">
            <a:extLst>
              <a:ext uri="{FF2B5EF4-FFF2-40B4-BE49-F238E27FC236}">
                <a16:creationId xmlns:a16="http://schemas.microsoft.com/office/drawing/2014/main" id="{55206B24-1B7B-4537-82E1-417E4B2DE3DE}"/>
              </a:ext>
            </a:extLst>
          </p:cNvPr>
          <p:cNvSpPr txBox="1"/>
          <p:nvPr/>
        </p:nvSpPr>
        <p:spPr>
          <a:xfrm>
            <a:off x="1025412" y="4335598"/>
            <a:ext cx="2393696" cy="61555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Nodes </a:t>
            </a:r>
            <a:r>
              <a:rPr lang="en-US" dirty="0">
                <a:solidFill>
                  <a:srgbClr val="00B0F0"/>
                </a:solidFill>
                <a:latin typeface="Times New Roman" panose="02020603050405020304" pitchFamily="18" charset="0"/>
                <a:cs typeface="Times New Roman" panose="02020603050405020304" pitchFamily="18" charset="0"/>
              </a:rPr>
              <a:t>heating demands</a:t>
            </a:r>
          </a:p>
          <a:p>
            <a:pPr algn="just"/>
            <a:r>
              <a:rPr lang="en-US" sz="1600" dirty="0">
                <a:latin typeface="Times New Roman" panose="02020603050405020304" pitchFamily="18" charset="0"/>
                <a:cs typeface="Times New Roman" panose="02020603050405020304" pitchFamily="18" charset="0"/>
              </a:rPr>
              <a:t>(nodes of replaced cluster)</a:t>
            </a:r>
          </a:p>
        </p:txBody>
      </p:sp>
      <p:sp>
        <p:nvSpPr>
          <p:cNvPr id="9" name="Accolade fermante 8">
            <a:extLst>
              <a:ext uri="{FF2B5EF4-FFF2-40B4-BE49-F238E27FC236}">
                <a16:creationId xmlns:a16="http://schemas.microsoft.com/office/drawing/2014/main" id="{9A6222D2-0CCB-49CE-B0C1-C325F9C9BE20}"/>
              </a:ext>
            </a:extLst>
          </p:cNvPr>
          <p:cNvSpPr/>
          <p:nvPr/>
        </p:nvSpPr>
        <p:spPr>
          <a:xfrm>
            <a:off x="3233805" y="3311569"/>
            <a:ext cx="370603" cy="1780733"/>
          </a:xfrm>
          <a:prstGeom prst="rightBrace">
            <a:avLst>
              <a:gd name="adj1" fmla="val 44782"/>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4" name="Accolade ouvrante 43">
            <a:extLst>
              <a:ext uri="{FF2B5EF4-FFF2-40B4-BE49-F238E27FC236}">
                <a16:creationId xmlns:a16="http://schemas.microsoft.com/office/drawing/2014/main" id="{DFCB82B0-3A16-45A7-8E4E-D1CA78E8B93C}"/>
              </a:ext>
            </a:extLst>
          </p:cNvPr>
          <p:cNvSpPr/>
          <p:nvPr/>
        </p:nvSpPr>
        <p:spPr>
          <a:xfrm>
            <a:off x="9259161" y="3311569"/>
            <a:ext cx="252409" cy="1715152"/>
          </a:xfrm>
          <a:prstGeom prst="leftBrace">
            <a:avLst>
              <a:gd name="adj1" fmla="val 4538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ZoneTexte 45">
                <a:extLst>
                  <a:ext uri="{FF2B5EF4-FFF2-40B4-BE49-F238E27FC236}">
                    <a16:creationId xmlns:a16="http://schemas.microsoft.com/office/drawing/2014/main" id="{D56B27CE-BABD-4EA6-AD34-087359B3EBE3}"/>
                  </a:ext>
                </a:extLst>
              </p:cNvPr>
              <p:cNvSpPr txBox="1"/>
              <p:nvPr/>
            </p:nvSpPr>
            <p:spPr>
              <a:xfrm>
                <a:off x="6766775" y="2042307"/>
                <a:ext cx="4552931"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Data from simulation of the case study DHN (2880 h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1 minute step)</a:t>
                </a:r>
              </a:p>
            </p:txBody>
          </p:sp>
        </mc:Choice>
        <mc:Fallback xmlns="">
          <p:sp>
            <p:nvSpPr>
              <p:cNvPr id="46" name="ZoneTexte 45">
                <a:extLst>
                  <a:ext uri="{FF2B5EF4-FFF2-40B4-BE49-F238E27FC236}">
                    <a16:creationId xmlns:a16="http://schemas.microsoft.com/office/drawing/2014/main" id="{D56B27CE-BABD-4EA6-AD34-087359B3EBE3}"/>
                  </a:ext>
                </a:extLst>
              </p:cNvPr>
              <p:cNvSpPr txBox="1">
                <a:spLocks noRot="1" noChangeAspect="1" noMove="1" noResize="1" noEditPoints="1" noAdjustHandles="1" noChangeArrowheads="1" noChangeShapeType="1" noTextEdit="1"/>
              </p:cNvSpPr>
              <p:nvPr/>
            </p:nvSpPr>
            <p:spPr>
              <a:xfrm>
                <a:off x="6766775" y="2042307"/>
                <a:ext cx="4552931" cy="646331"/>
              </a:xfrm>
              <a:prstGeom prst="rect">
                <a:avLst/>
              </a:prstGeom>
              <a:blipFill>
                <a:blip r:embed="rId3"/>
                <a:stretch>
                  <a:fillRect l="-803" t="-4717" r="-1205" b="-14151"/>
                </a:stretch>
              </a:blipFill>
            </p:spPr>
            <p:txBody>
              <a:bodyPr/>
              <a:lstStyle/>
              <a:p>
                <a:r>
                  <a:rPr lang="en-US">
                    <a:noFill/>
                  </a:rPr>
                  <a:t> </a:t>
                </a:r>
              </a:p>
            </p:txBody>
          </p:sp>
        </mc:Fallback>
      </mc:AlternateContent>
      <p:sp>
        <p:nvSpPr>
          <p:cNvPr id="47" name="ZoneTexte 46">
            <a:extLst>
              <a:ext uri="{FF2B5EF4-FFF2-40B4-BE49-F238E27FC236}">
                <a16:creationId xmlns:a16="http://schemas.microsoft.com/office/drawing/2014/main" id="{15083263-5A3E-499F-B9B8-6547EC837451}"/>
              </a:ext>
            </a:extLst>
          </p:cNvPr>
          <p:cNvSpPr txBox="1"/>
          <p:nvPr/>
        </p:nvSpPr>
        <p:spPr>
          <a:xfrm>
            <a:off x="9409258" y="3332278"/>
            <a:ext cx="2213263" cy="36933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Outgoing water flows</a:t>
            </a:r>
          </a:p>
        </p:txBody>
      </p:sp>
      <p:sp>
        <p:nvSpPr>
          <p:cNvPr id="50" name="ZoneTexte 49">
            <a:extLst>
              <a:ext uri="{FF2B5EF4-FFF2-40B4-BE49-F238E27FC236}">
                <a16:creationId xmlns:a16="http://schemas.microsoft.com/office/drawing/2014/main" id="{EC2E8168-EFCC-4211-9AB3-0E313BA35007}"/>
              </a:ext>
            </a:extLst>
          </p:cNvPr>
          <p:cNvSpPr txBox="1"/>
          <p:nvPr/>
        </p:nvSpPr>
        <p:spPr>
          <a:xfrm>
            <a:off x="9902438" y="3630496"/>
            <a:ext cx="1961814" cy="338554"/>
          </a:xfrm>
          <a:prstGeom prst="rect">
            <a:avLst/>
          </a:prstGeom>
          <a:noFill/>
        </p:spPr>
        <p:txBody>
          <a:bodyPr wrap="square" rtlCol="0">
            <a:spAutoFit/>
          </a:bodyPr>
          <a:lstStyle/>
          <a:p>
            <a:pPr marL="285750" indent="-285750" algn="just">
              <a:buFont typeface="Times New Roman" panose="02020603050405020304" pitchFamily="18" charset="0"/>
              <a:buChar char="+"/>
            </a:pPr>
            <a:r>
              <a:rPr lang="en-US" sz="1600" dirty="0">
                <a:latin typeface="Times New Roman" panose="02020603050405020304" pitchFamily="18" charset="0"/>
                <a:cs typeface="Times New Roman" panose="02020603050405020304" pitchFamily="18" charset="0"/>
              </a:rPr>
              <a:t>Temperatures</a:t>
            </a:r>
          </a:p>
        </p:txBody>
      </p:sp>
      <p:sp>
        <p:nvSpPr>
          <p:cNvPr id="51" name="ZoneTexte 50">
            <a:extLst>
              <a:ext uri="{FF2B5EF4-FFF2-40B4-BE49-F238E27FC236}">
                <a16:creationId xmlns:a16="http://schemas.microsoft.com/office/drawing/2014/main" id="{428E2C1B-4ED1-4521-A19B-F34AE165F298}"/>
              </a:ext>
            </a:extLst>
          </p:cNvPr>
          <p:cNvSpPr txBox="1"/>
          <p:nvPr/>
        </p:nvSpPr>
        <p:spPr>
          <a:xfrm>
            <a:off x="9447918" y="4356307"/>
            <a:ext cx="2160596"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Cluster effective heat consumption</a:t>
            </a:r>
          </a:p>
        </p:txBody>
      </p:sp>
      <p:sp>
        <p:nvSpPr>
          <p:cNvPr id="52" name="ZoneTexte 51">
            <a:extLst>
              <a:ext uri="{FF2B5EF4-FFF2-40B4-BE49-F238E27FC236}">
                <a16:creationId xmlns:a16="http://schemas.microsoft.com/office/drawing/2014/main" id="{5671B13C-634E-4CDA-9832-1C26CFCC2341}"/>
              </a:ext>
            </a:extLst>
          </p:cNvPr>
          <p:cNvSpPr txBox="1"/>
          <p:nvPr/>
        </p:nvSpPr>
        <p:spPr>
          <a:xfrm>
            <a:off x="1260515" y="5397530"/>
            <a:ext cx="7141843" cy="861774"/>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Training procedures:</a:t>
            </a:r>
          </a:p>
          <a:p>
            <a:pPr marL="742950" lvl="1"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Temporal split: first 2/3 of data is used for train, and last 1/3 is used for test</a:t>
            </a:r>
          </a:p>
          <a:p>
            <a:pPr marL="742950" lvl="1"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Adam optimizer (40 epochs, early stopping, decreasing learning rate, </a:t>
            </a:r>
            <a:r>
              <a:rPr lang="en-US" sz="1600" dirty="0" err="1">
                <a:latin typeface="Times New Roman" panose="02020603050405020304" pitchFamily="18" charset="0"/>
                <a:cs typeface="Times New Roman" panose="02020603050405020304" pitchFamily="18" charset="0"/>
              </a:rPr>
              <a:t>mse</a:t>
            </a:r>
            <a:r>
              <a:rPr lang="en-US" sz="1600" dirty="0">
                <a:latin typeface="Times New Roman" panose="02020603050405020304" pitchFamily="18" charset="0"/>
                <a:cs typeface="Times New Roman" panose="02020603050405020304" pitchFamily="18" charset="0"/>
              </a:rPr>
              <a:t>)</a:t>
            </a:r>
          </a:p>
        </p:txBody>
      </p:sp>
      <p:sp>
        <p:nvSpPr>
          <p:cNvPr id="56" name="ZoneTexte 55">
            <a:extLst>
              <a:ext uri="{FF2B5EF4-FFF2-40B4-BE49-F238E27FC236}">
                <a16:creationId xmlns:a16="http://schemas.microsoft.com/office/drawing/2014/main" id="{C610B137-EBD6-4605-B59D-0827F814A833}"/>
              </a:ext>
            </a:extLst>
          </p:cNvPr>
          <p:cNvSpPr txBox="1"/>
          <p:nvPr/>
        </p:nvSpPr>
        <p:spPr>
          <a:xfrm>
            <a:off x="3820329" y="3654318"/>
            <a:ext cx="1782553" cy="307777"/>
          </a:xfrm>
          <a:prstGeom prst="rect">
            <a:avLst/>
          </a:prstGeom>
          <a:noFill/>
        </p:spPr>
        <p:txBody>
          <a:bodyPr wrap="square">
            <a:spAutoFit/>
          </a:bodyPr>
          <a:lstStyle/>
          <a:p>
            <a:pPr marL="0" lvl="1" algn="ctr"/>
            <a:r>
              <a:rPr lang="en-US" sz="1400" dirty="0">
                <a:latin typeface="Times New Roman" panose="02020603050405020304" pitchFamily="18" charset="0"/>
                <a:cs typeface="Times New Roman" panose="02020603050405020304" pitchFamily="18" charset="0"/>
              </a:rPr>
              <a:t>(Chung </a:t>
            </a:r>
            <a:r>
              <a:rPr lang="en-US" sz="1400" i="1" dirty="0">
                <a:latin typeface="Times New Roman" panose="02020603050405020304" pitchFamily="18" charset="0"/>
                <a:cs typeface="Times New Roman" panose="02020603050405020304" pitchFamily="18" charset="0"/>
              </a:rPr>
              <a:t>et al., </a:t>
            </a:r>
            <a:r>
              <a:rPr lang="en-US" sz="1400" dirty="0">
                <a:latin typeface="Times New Roman" panose="02020603050405020304" pitchFamily="18" charset="0"/>
                <a:cs typeface="Times New Roman" panose="02020603050405020304" pitchFamily="18" charset="0"/>
              </a:rPr>
              <a:t>2014) </a:t>
            </a:r>
          </a:p>
        </p:txBody>
      </p:sp>
      <p:pic>
        <p:nvPicPr>
          <p:cNvPr id="57" name="Image 56">
            <a:extLst>
              <a:ext uri="{FF2B5EF4-FFF2-40B4-BE49-F238E27FC236}">
                <a16:creationId xmlns:a16="http://schemas.microsoft.com/office/drawing/2014/main" id="{930132EA-868B-490A-B7DA-D9AC03A648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58" name="Image 57">
            <a:extLst>
              <a:ext uri="{FF2B5EF4-FFF2-40B4-BE49-F238E27FC236}">
                <a16:creationId xmlns:a16="http://schemas.microsoft.com/office/drawing/2014/main" id="{AA1D68DB-1CFB-457C-B7AF-3FC2AA6C35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59" name="Image 58">
            <a:extLst>
              <a:ext uri="{FF2B5EF4-FFF2-40B4-BE49-F238E27FC236}">
                <a16:creationId xmlns:a16="http://schemas.microsoft.com/office/drawing/2014/main" id="{1CA0035C-44C3-403F-B173-CAA9F0612E9B}"/>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60" name="ZoneTexte 59">
            <a:extLst>
              <a:ext uri="{FF2B5EF4-FFF2-40B4-BE49-F238E27FC236}">
                <a16:creationId xmlns:a16="http://schemas.microsoft.com/office/drawing/2014/main" id="{90E81018-9DE8-4348-91F3-50D54CD1AC90}"/>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1044013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 generation</a:t>
            </a:r>
          </a:p>
        </p:txBody>
      </p:sp>
      <p:grpSp>
        <p:nvGrpSpPr>
          <p:cNvPr id="4" name="Groupe 3">
            <a:extLst>
              <a:ext uri="{FF2B5EF4-FFF2-40B4-BE49-F238E27FC236}">
                <a16:creationId xmlns:a16="http://schemas.microsoft.com/office/drawing/2014/main" id="{12290246-1797-45A2-9C89-29622FB72EEC}"/>
              </a:ext>
            </a:extLst>
          </p:cNvPr>
          <p:cNvGrpSpPr/>
          <p:nvPr/>
        </p:nvGrpSpPr>
        <p:grpSpPr>
          <a:xfrm>
            <a:off x="3391945" y="2013645"/>
            <a:ext cx="5076646" cy="3722136"/>
            <a:chOff x="6717036" y="1805827"/>
            <a:chExt cx="4484716" cy="3245304"/>
          </a:xfrm>
        </p:grpSpPr>
        <p:pic>
          <p:nvPicPr>
            <p:cNvPr id="33" name="Image 32">
              <a:extLst>
                <a:ext uri="{FF2B5EF4-FFF2-40B4-BE49-F238E27FC236}">
                  <a16:creationId xmlns:a16="http://schemas.microsoft.com/office/drawing/2014/main" id="{F096863A-BA5E-4911-8B42-1E212E38823A}"/>
                </a:ext>
              </a:extLst>
            </p:cNvPr>
            <p:cNvPicPr>
              <a:picLocks noChangeAspect="1"/>
            </p:cNvPicPr>
            <p:nvPr/>
          </p:nvPicPr>
          <p:blipFill>
            <a:blip r:embed="rId3"/>
            <a:stretch>
              <a:fillRect/>
            </a:stretch>
          </p:blipFill>
          <p:spPr>
            <a:xfrm>
              <a:off x="6717036" y="1806869"/>
              <a:ext cx="4484716" cy="3244262"/>
            </a:xfrm>
            <a:prstGeom prst="rect">
              <a:avLst/>
            </a:prstGeom>
          </p:spPr>
        </p:pic>
        <p:cxnSp>
          <p:nvCxnSpPr>
            <p:cNvPr id="35" name="Connecteur droit avec flèche 34">
              <a:extLst>
                <a:ext uri="{FF2B5EF4-FFF2-40B4-BE49-F238E27FC236}">
                  <a16:creationId xmlns:a16="http://schemas.microsoft.com/office/drawing/2014/main" id="{D565B5A6-2CF9-41AF-84F2-C5404B2B7A85}"/>
                </a:ext>
              </a:extLst>
            </p:cNvPr>
            <p:cNvCxnSpPr>
              <a:cxnSpLocks/>
            </p:cNvCxnSpPr>
            <p:nvPr/>
          </p:nvCxnSpPr>
          <p:spPr>
            <a:xfrm>
              <a:off x="7512377" y="2101969"/>
              <a:ext cx="2483678" cy="0"/>
            </a:xfrm>
            <a:prstGeom prst="straightConnector1">
              <a:avLst/>
            </a:prstGeom>
            <a:ln w="12700">
              <a:solidFill>
                <a:srgbClr val="0070C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C4D9DB3-4A70-49E3-B431-654FFD2984BD}"/>
                </a:ext>
              </a:extLst>
            </p:cNvPr>
            <p:cNvCxnSpPr>
              <a:cxnSpLocks/>
            </p:cNvCxnSpPr>
            <p:nvPr/>
          </p:nvCxnSpPr>
          <p:spPr>
            <a:xfrm>
              <a:off x="9996055" y="2101969"/>
              <a:ext cx="810490" cy="0"/>
            </a:xfrm>
            <a:prstGeom prst="straightConnector1">
              <a:avLst/>
            </a:prstGeom>
            <a:ln w="12700">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7EB86318-46CC-4770-AB05-25EDFB251428}"/>
                </a:ext>
              </a:extLst>
            </p:cNvPr>
            <p:cNvSpPr txBox="1"/>
            <p:nvPr/>
          </p:nvSpPr>
          <p:spPr>
            <a:xfrm>
              <a:off x="8008389" y="1805827"/>
              <a:ext cx="8554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Train</a:t>
              </a:r>
            </a:p>
          </p:txBody>
        </p:sp>
        <p:sp>
          <p:nvSpPr>
            <p:cNvPr id="38" name="ZoneTexte 37">
              <a:extLst>
                <a:ext uri="{FF2B5EF4-FFF2-40B4-BE49-F238E27FC236}">
                  <a16:creationId xmlns:a16="http://schemas.microsoft.com/office/drawing/2014/main" id="{B63B3343-A36B-4B16-BB4C-63210BBA3EB3}"/>
                </a:ext>
              </a:extLst>
            </p:cNvPr>
            <p:cNvSpPr txBox="1"/>
            <p:nvPr/>
          </p:nvSpPr>
          <p:spPr>
            <a:xfrm>
              <a:off x="10122326" y="1806869"/>
              <a:ext cx="8554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Test</a:t>
              </a:r>
            </a:p>
          </p:txBody>
        </p:sp>
      </p:grpSp>
      <p:pic>
        <p:nvPicPr>
          <p:cNvPr id="34" name="Image 33">
            <a:extLst>
              <a:ext uri="{FF2B5EF4-FFF2-40B4-BE49-F238E27FC236}">
                <a16:creationId xmlns:a16="http://schemas.microsoft.com/office/drawing/2014/main" id="{82A108D1-49C6-423D-A5A4-1A6467CED5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40" name="Image 39">
            <a:extLst>
              <a:ext uri="{FF2B5EF4-FFF2-40B4-BE49-F238E27FC236}">
                <a16:creationId xmlns:a16="http://schemas.microsoft.com/office/drawing/2014/main" id="{F681E7CD-AE0E-42D6-91DE-523FDAA775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42" name="Image 41">
            <a:extLst>
              <a:ext uri="{FF2B5EF4-FFF2-40B4-BE49-F238E27FC236}">
                <a16:creationId xmlns:a16="http://schemas.microsoft.com/office/drawing/2014/main" id="{CCDBF1C2-A44C-4369-93D0-7328344CF7D4}"/>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Tree>
    <p:extLst>
      <p:ext uri="{BB962C8B-B14F-4D97-AF65-F5344CB8AC3E}">
        <p14:creationId xmlns:p14="http://schemas.microsoft.com/office/powerpoint/2010/main" val="644926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Hybrid MPC vs Physical MPC</a:t>
            </a:r>
          </a:p>
        </p:txBody>
      </p:sp>
      <p:grpSp>
        <p:nvGrpSpPr>
          <p:cNvPr id="31" name="Groupe 30">
            <a:extLst>
              <a:ext uri="{FF2B5EF4-FFF2-40B4-BE49-F238E27FC236}">
                <a16:creationId xmlns:a16="http://schemas.microsoft.com/office/drawing/2014/main" id="{139171AA-B9E1-408F-9A13-2E482966CE58}"/>
              </a:ext>
            </a:extLst>
          </p:cNvPr>
          <p:cNvGrpSpPr/>
          <p:nvPr/>
        </p:nvGrpSpPr>
        <p:grpSpPr>
          <a:xfrm>
            <a:off x="70143" y="2028326"/>
            <a:ext cx="6849302" cy="4339150"/>
            <a:chOff x="2745607" y="1296283"/>
            <a:chExt cx="6849302" cy="4339150"/>
          </a:xfrm>
        </p:grpSpPr>
        <p:grpSp>
          <p:nvGrpSpPr>
            <p:cNvPr id="32" name="Groupe 31">
              <a:extLst>
                <a:ext uri="{FF2B5EF4-FFF2-40B4-BE49-F238E27FC236}">
                  <a16:creationId xmlns:a16="http://schemas.microsoft.com/office/drawing/2014/main" id="{9D81FF50-B1CC-4B35-AD58-43B54E9E7C69}"/>
                </a:ext>
              </a:extLst>
            </p:cNvPr>
            <p:cNvGrpSpPr/>
            <p:nvPr/>
          </p:nvGrpSpPr>
          <p:grpSpPr>
            <a:xfrm>
              <a:off x="2745607" y="1296283"/>
              <a:ext cx="6849302" cy="3717550"/>
              <a:chOff x="2745607" y="1296283"/>
              <a:chExt cx="6849302" cy="3717550"/>
            </a:xfrm>
          </p:grpSpPr>
          <p:sp>
            <p:nvSpPr>
              <p:cNvPr id="35" name="Rectangle : coins arrondis 34">
                <a:extLst>
                  <a:ext uri="{FF2B5EF4-FFF2-40B4-BE49-F238E27FC236}">
                    <a16:creationId xmlns:a16="http://schemas.microsoft.com/office/drawing/2014/main" id="{9F4DB71A-2C6F-4366-BFFF-07A9CFEC9013}"/>
                  </a:ext>
                </a:extLst>
              </p:cNvPr>
              <p:cNvSpPr/>
              <p:nvPr/>
            </p:nvSpPr>
            <p:spPr>
              <a:xfrm>
                <a:off x="2883555" y="2088110"/>
                <a:ext cx="5847194" cy="165396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36" name="Connecteur droit avec flèche 35">
                <a:extLst>
                  <a:ext uri="{FF2B5EF4-FFF2-40B4-BE49-F238E27FC236}">
                    <a16:creationId xmlns:a16="http://schemas.microsoft.com/office/drawing/2014/main" id="{5C159E47-7ED8-41BC-9B79-9DB7B9DED62D}"/>
                  </a:ext>
                </a:extLst>
              </p:cNvPr>
              <p:cNvCxnSpPr>
                <a:cxnSpLocks/>
                <a:stCxn id="53" idx="2"/>
                <a:endCxn id="54" idx="0"/>
              </p:cNvCxnSpPr>
              <p:nvPr/>
            </p:nvCxnSpPr>
            <p:spPr>
              <a:xfrm>
                <a:off x="7763019" y="3144569"/>
                <a:ext cx="7594" cy="24329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7" name="Rectangle : coins arrondis 36">
                <a:extLst>
                  <a:ext uri="{FF2B5EF4-FFF2-40B4-BE49-F238E27FC236}">
                    <a16:creationId xmlns:a16="http://schemas.microsoft.com/office/drawing/2014/main" id="{CEE31789-9FE4-4A5E-BAB8-E0062D3B4DC1}"/>
                  </a:ext>
                </a:extLst>
              </p:cNvPr>
              <p:cNvSpPr/>
              <p:nvPr/>
            </p:nvSpPr>
            <p:spPr>
              <a:xfrm>
                <a:off x="2745607" y="2470659"/>
                <a:ext cx="2140914" cy="834593"/>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Dynamic simulation </a:t>
                </a:r>
              </a:p>
              <a:p>
                <a:pPr algn="ctr"/>
                <a:r>
                  <a:rPr lang="en-US" sz="1400" dirty="0">
                    <a:solidFill>
                      <a:schemeClr val="tx1"/>
                    </a:solidFill>
                    <a:latin typeface="Times New Roman" panose="02020603050405020304" pitchFamily="18" charset="0"/>
                    <a:cs typeface="Times New Roman" panose="02020603050405020304" pitchFamily="18" charset="0"/>
                  </a:rPr>
                  <a:t>(non-clustered regions)</a:t>
                </a:r>
              </a:p>
            </p:txBody>
          </p:sp>
          <p:cxnSp>
            <p:nvCxnSpPr>
              <p:cNvPr id="38" name="Connecteur droit avec flèche 37">
                <a:extLst>
                  <a:ext uri="{FF2B5EF4-FFF2-40B4-BE49-F238E27FC236}">
                    <a16:creationId xmlns:a16="http://schemas.microsoft.com/office/drawing/2014/main" id="{B4218560-AF0A-40A7-9165-F5B4950D6B11}"/>
                  </a:ext>
                </a:extLst>
              </p:cNvPr>
              <p:cNvCxnSpPr>
                <a:cxnSpLocks/>
                <a:stCxn id="40" idx="2"/>
                <a:endCxn id="59" idx="0"/>
              </p:cNvCxnSpPr>
              <p:nvPr/>
            </p:nvCxnSpPr>
            <p:spPr>
              <a:xfrm flipH="1">
                <a:off x="5741508" y="1819503"/>
                <a:ext cx="5033" cy="26860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0" name="ZoneTexte 39">
                <a:extLst>
                  <a:ext uri="{FF2B5EF4-FFF2-40B4-BE49-F238E27FC236}">
                    <a16:creationId xmlns:a16="http://schemas.microsoft.com/office/drawing/2014/main" id="{63A066DD-6135-4F74-A274-657A339E29FB}"/>
                  </a:ext>
                </a:extLst>
              </p:cNvPr>
              <p:cNvSpPr txBox="1"/>
              <p:nvPr/>
            </p:nvSpPr>
            <p:spPr>
              <a:xfrm>
                <a:off x="4800628" y="1296283"/>
                <a:ext cx="1891826" cy="523220"/>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Control variables of the heat sources</a:t>
                </a:r>
              </a:p>
            </p:txBody>
          </p:sp>
          <p:sp>
            <p:nvSpPr>
              <p:cNvPr id="41" name="ZoneTexte 40">
                <a:extLst>
                  <a:ext uri="{FF2B5EF4-FFF2-40B4-BE49-F238E27FC236}">
                    <a16:creationId xmlns:a16="http://schemas.microsoft.com/office/drawing/2014/main" id="{B5AD9271-920C-4C83-AA42-8112E8E6FDB3}"/>
                  </a:ext>
                </a:extLst>
              </p:cNvPr>
              <p:cNvSpPr txBox="1"/>
              <p:nvPr/>
            </p:nvSpPr>
            <p:spPr>
              <a:xfrm>
                <a:off x="4845824" y="2347955"/>
                <a:ext cx="1887328"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Inlet information </a:t>
                </a:r>
              </a:p>
            </p:txBody>
          </p:sp>
          <p:cxnSp>
            <p:nvCxnSpPr>
              <p:cNvPr id="45" name="Connecteur droit avec flèche 44">
                <a:extLst>
                  <a:ext uri="{FF2B5EF4-FFF2-40B4-BE49-F238E27FC236}">
                    <a16:creationId xmlns:a16="http://schemas.microsoft.com/office/drawing/2014/main" id="{B1B9171A-A322-42E7-AD9E-47C827D6901A}"/>
                  </a:ext>
                </a:extLst>
              </p:cNvPr>
              <p:cNvCxnSpPr>
                <a:cxnSpLocks/>
              </p:cNvCxnSpPr>
              <p:nvPr/>
            </p:nvCxnSpPr>
            <p:spPr>
              <a:xfrm>
                <a:off x="4879730" y="2739671"/>
                <a:ext cx="181272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8" name="Connecteur droit avec flèche 47">
                <a:extLst>
                  <a:ext uri="{FF2B5EF4-FFF2-40B4-BE49-F238E27FC236}">
                    <a16:creationId xmlns:a16="http://schemas.microsoft.com/office/drawing/2014/main" id="{CC081DB7-68C7-461B-9984-879702987539}"/>
                  </a:ext>
                </a:extLst>
              </p:cNvPr>
              <p:cNvCxnSpPr>
                <a:cxnSpLocks/>
              </p:cNvCxnSpPr>
              <p:nvPr/>
            </p:nvCxnSpPr>
            <p:spPr>
              <a:xfrm flipH="1">
                <a:off x="4879730" y="3017486"/>
                <a:ext cx="1812725"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9" name="ZoneTexte 48">
                <a:extLst>
                  <a:ext uri="{FF2B5EF4-FFF2-40B4-BE49-F238E27FC236}">
                    <a16:creationId xmlns:a16="http://schemas.microsoft.com/office/drawing/2014/main" id="{94C93D7A-131E-4A29-AB86-71D1DF173611}"/>
                  </a:ext>
                </a:extLst>
              </p:cNvPr>
              <p:cNvSpPr txBox="1"/>
              <p:nvPr/>
            </p:nvSpPr>
            <p:spPr>
              <a:xfrm>
                <a:off x="4610628" y="3110798"/>
                <a:ext cx="2453384"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Outlet information</a:t>
                </a:r>
              </a:p>
            </p:txBody>
          </p:sp>
          <p:sp>
            <p:nvSpPr>
              <p:cNvPr id="53" name="Rectangle : coins arrondis 52">
                <a:extLst>
                  <a:ext uri="{FF2B5EF4-FFF2-40B4-BE49-F238E27FC236}">
                    <a16:creationId xmlns:a16="http://schemas.microsoft.com/office/drawing/2014/main" id="{4859A37B-6B27-4B8A-AC9E-5F9F7ACD3494}"/>
                  </a:ext>
                </a:extLst>
              </p:cNvPr>
              <p:cNvSpPr/>
              <p:nvPr/>
            </p:nvSpPr>
            <p:spPr>
              <a:xfrm>
                <a:off x="6898841" y="2470659"/>
                <a:ext cx="1728356" cy="673910"/>
              </a:xfrm>
              <a:prstGeom prst="roundRect">
                <a:avLst/>
              </a:prstGeom>
              <a:no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NN models </a:t>
                </a:r>
              </a:p>
              <a:p>
                <a:pPr algn="ctr"/>
                <a:r>
                  <a:rPr lang="en-US" sz="1400" dirty="0">
                    <a:solidFill>
                      <a:schemeClr val="tx1"/>
                    </a:solidFill>
                    <a:latin typeface="Times New Roman" panose="02020603050405020304" pitchFamily="18" charset="0"/>
                    <a:cs typeface="Times New Roman" panose="02020603050405020304" pitchFamily="18" charset="0"/>
                  </a:rPr>
                  <a:t>(replaced clusters)</a:t>
                </a:r>
              </a:p>
            </p:txBody>
          </p:sp>
          <p:sp>
            <p:nvSpPr>
              <p:cNvPr id="54" name="ZoneTexte 53">
                <a:extLst>
                  <a:ext uri="{FF2B5EF4-FFF2-40B4-BE49-F238E27FC236}">
                    <a16:creationId xmlns:a16="http://schemas.microsoft.com/office/drawing/2014/main" id="{9A066BE7-8288-478E-A4CF-B857E6D04BF2}"/>
                  </a:ext>
                </a:extLst>
              </p:cNvPr>
              <p:cNvSpPr txBox="1"/>
              <p:nvPr/>
            </p:nvSpPr>
            <p:spPr>
              <a:xfrm>
                <a:off x="6810473" y="3387868"/>
                <a:ext cx="1920280"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Clusters consumptions</a:t>
                </a:r>
              </a:p>
            </p:txBody>
          </p:sp>
          <p:cxnSp>
            <p:nvCxnSpPr>
              <p:cNvPr id="55" name="Connecteur droit avec flèche 54">
                <a:extLst>
                  <a:ext uri="{FF2B5EF4-FFF2-40B4-BE49-F238E27FC236}">
                    <a16:creationId xmlns:a16="http://schemas.microsoft.com/office/drawing/2014/main" id="{689BD9FD-CC74-4E80-8EE0-C6C4ADFFAB7E}"/>
                  </a:ext>
                </a:extLst>
              </p:cNvPr>
              <p:cNvCxnSpPr>
                <a:cxnSpLocks/>
              </p:cNvCxnSpPr>
              <p:nvPr/>
            </p:nvCxnSpPr>
            <p:spPr>
              <a:xfrm flipH="1">
                <a:off x="3664407" y="3077617"/>
                <a:ext cx="2" cy="4067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6" name="ZoneTexte 55">
                <a:extLst>
                  <a:ext uri="{FF2B5EF4-FFF2-40B4-BE49-F238E27FC236}">
                    <a16:creationId xmlns:a16="http://schemas.microsoft.com/office/drawing/2014/main" id="{607BFD65-4E14-4D70-B9B5-63BB020DC77D}"/>
                  </a:ext>
                </a:extLst>
              </p:cNvPr>
              <p:cNvSpPr txBox="1"/>
              <p:nvPr/>
            </p:nvSpPr>
            <p:spPr>
              <a:xfrm>
                <a:off x="2883555" y="3423779"/>
                <a:ext cx="1865017"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Nodes consumptions</a:t>
                </a:r>
              </a:p>
            </p:txBody>
          </p:sp>
          <mc:AlternateContent xmlns:mc="http://schemas.openxmlformats.org/markup-compatibility/2006" xmlns:a14="http://schemas.microsoft.com/office/drawing/2010/main">
            <mc:Choice Requires="a14">
              <p:sp>
                <p:nvSpPr>
                  <p:cNvPr id="57" name="Rectangle : coins arrondis 56">
                    <a:extLst>
                      <a:ext uri="{FF2B5EF4-FFF2-40B4-BE49-F238E27FC236}">
                        <a16:creationId xmlns:a16="http://schemas.microsoft.com/office/drawing/2014/main" id="{1EE08073-6C9E-432D-A5DA-0920C6368D49}"/>
                      </a:ext>
                    </a:extLst>
                  </p:cNvPr>
                  <p:cNvSpPr/>
                  <p:nvPr/>
                </p:nvSpPr>
                <p:spPr>
                  <a:xfrm>
                    <a:off x="4610624" y="4059189"/>
                    <a:ext cx="2691991" cy="385999"/>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Evaluation of objective </a:t>
                    </a:r>
                    <a14:m>
                      <m:oMath xmlns:m="http://schemas.openxmlformats.org/officeDocument/2006/math">
                        <m:sSub>
                          <m:sSubPr>
                            <m:ctrlPr>
                              <a:rPr lang="fr-FR" sz="1400" b="1" i="1" dirty="0" smtClean="0">
                                <a:solidFill>
                                  <a:schemeClr val="tx1"/>
                                </a:solidFill>
                                <a:latin typeface="Cambria Math" panose="02040503050406030204" pitchFamily="18" charset="0"/>
                                <a:cs typeface="Times New Roman" panose="02020603050405020304" pitchFamily="18" charset="0"/>
                              </a:rPr>
                            </m:ctrlPr>
                          </m:sSubPr>
                          <m:e>
                            <m:r>
                              <a:rPr lang="fr-FR" sz="1400" b="1" i="1" dirty="0" smtClean="0">
                                <a:solidFill>
                                  <a:schemeClr val="tx1"/>
                                </a:solidFill>
                                <a:latin typeface="Cambria Math" panose="02040503050406030204" pitchFamily="18" charset="0"/>
                                <a:cs typeface="Times New Roman" panose="02020603050405020304" pitchFamily="18" charset="0"/>
                              </a:rPr>
                              <m:t>𝑱</m:t>
                            </m:r>
                          </m:e>
                          <m:sub>
                            <m:r>
                              <a:rPr lang="fr-FR" sz="1400" b="1" i="1" dirty="0" smtClean="0">
                                <a:solidFill>
                                  <a:schemeClr val="tx1"/>
                                </a:solidFill>
                                <a:latin typeface="Cambria Math" panose="02040503050406030204" pitchFamily="18" charset="0"/>
                                <a:cs typeface="Times New Roman" panose="02020603050405020304" pitchFamily="18" charset="0"/>
                              </a:rPr>
                              <m:t>𝒉𝒚𝒃𝒓𝒊𝒅</m:t>
                            </m:r>
                          </m:sub>
                        </m:sSub>
                      </m:oMath>
                    </a14:m>
                    <a:endParaRPr lang="en-US" sz="14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7" name="Rectangle : coins arrondis 56">
                    <a:extLst>
                      <a:ext uri="{FF2B5EF4-FFF2-40B4-BE49-F238E27FC236}">
                        <a16:creationId xmlns:a16="http://schemas.microsoft.com/office/drawing/2014/main" id="{1EE08073-6C9E-432D-A5DA-0920C6368D49}"/>
                      </a:ext>
                    </a:extLst>
                  </p:cNvPr>
                  <p:cNvSpPr>
                    <a:spLocks noRot="1" noChangeAspect="1" noMove="1" noResize="1" noEditPoints="1" noAdjustHandles="1" noChangeArrowheads="1" noChangeShapeType="1" noTextEdit="1"/>
                  </p:cNvSpPr>
                  <p:nvPr/>
                </p:nvSpPr>
                <p:spPr>
                  <a:xfrm>
                    <a:off x="4610624" y="4059189"/>
                    <a:ext cx="2691991" cy="385999"/>
                  </a:xfrm>
                  <a:prstGeom prst="roundRect">
                    <a:avLst/>
                  </a:prstGeom>
                  <a:blipFill>
                    <a:blip r:embed="rId3"/>
                    <a:stretch>
                      <a:fillRect b="-4762"/>
                    </a:stretch>
                  </a:blipFill>
                  <a:ln>
                    <a:noFill/>
                  </a:ln>
                </p:spPr>
                <p:txBody>
                  <a:bodyPr/>
                  <a:lstStyle/>
                  <a:p>
                    <a:r>
                      <a:rPr lang="en-US">
                        <a:noFill/>
                      </a:rPr>
                      <a:t> </a:t>
                    </a:r>
                  </a:p>
                </p:txBody>
              </p:sp>
            </mc:Fallback>
          </mc:AlternateContent>
          <p:cxnSp>
            <p:nvCxnSpPr>
              <p:cNvPr id="58" name="Connecteur droit avec flèche 57">
                <a:extLst>
                  <a:ext uri="{FF2B5EF4-FFF2-40B4-BE49-F238E27FC236}">
                    <a16:creationId xmlns:a16="http://schemas.microsoft.com/office/drawing/2014/main" id="{DD536C85-614E-4248-AE2A-C137D6EB7D19}"/>
                  </a:ext>
                </a:extLst>
              </p:cNvPr>
              <p:cNvCxnSpPr>
                <a:cxnSpLocks/>
              </p:cNvCxnSpPr>
              <p:nvPr/>
            </p:nvCxnSpPr>
            <p:spPr>
              <a:xfrm flipH="1">
                <a:off x="5927378" y="3762058"/>
                <a:ext cx="2" cy="39333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9" name="ZoneTexte 58">
                <a:extLst>
                  <a:ext uri="{FF2B5EF4-FFF2-40B4-BE49-F238E27FC236}">
                    <a16:creationId xmlns:a16="http://schemas.microsoft.com/office/drawing/2014/main" id="{AAEDBCB4-D31D-416B-A479-DCA60E223259}"/>
                  </a:ext>
                </a:extLst>
              </p:cNvPr>
              <p:cNvSpPr txBox="1"/>
              <p:nvPr/>
            </p:nvSpPr>
            <p:spPr>
              <a:xfrm>
                <a:off x="3568584" y="2088110"/>
                <a:ext cx="434584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Hybrid simulation </a:t>
                </a:r>
                <a:r>
                  <a:rPr lang="en-US" sz="1600" dirty="0">
                    <a:latin typeface="Times New Roman" panose="02020603050405020304" pitchFamily="18" charset="0"/>
                    <a:cs typeface="Times New Roman" panose="02020603050405020304" pitchFamily="18" charset="0"/>
                  </a:rPr>
                  <a:t>of the reduced DHN </a:t>
                </a:r>
              </a:p>
            </p:txBody>
          </p:sp>
          <p:cxnSp>
            <p:nvCxnSpPr>
              <p:cNvPr id="60" name="Connecteur droit 59">
                <a:extLst>
                  <a:ext uri="{FF2B5EF4-FFF2-40B4-BE49-F238E27FC236}">
                    <a16:creationId xmlns:a16="http://schemas.microsoft.com/office/drawing/2014/main" id="{0B43B946-EB6F-4410-8AB6-83AA3C9EBBEB}"/>
                  </a:ext>
                </a:extLst>
              </p:cNvPr>
              <p:cNvCxnSpPr>
                <a:cxnSpLocks/>
              </p:cNvCxnSpPr>
              <p:nvPr/>
            </p:nvCxnSpPr>
            <p:spPr>
              <a:xfrm>
                <a:off x="7190158" y="4859944"/>
                <a:ext cx="173809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1" name="Connecteur droit 60">
                <a:extLst>
                  <a:ext uri="{FF2B5EF4-FFF2-40B4-BE49-F238E27FC236}">
                    <a16:creationId xmlns:a16="http://schemas.microsoft.com/office/drawing/2014/main" id="{1F671009-5B97-41C3-810C-1B72D05C56BB}"/>
                  </a:ext>
                </a:extLst>
              </p:cNvPr>
              <p:cNvCxnSpPr>
                <a:cxnSpLocks/>
                <a:stCxn id="65" idx="2"/>
              </p:cNvCxnSpPr>
              <p:nvPr/>
            </p:nvCxnSpPr>
            <p:spPr>
              <a:xfrm>
                <a:off x="8928252" y="1783313"/>
                <a:ext cx="4745" cy="3076631"/>
              </a:xfrm>
              <a:prstGeom prst="line">
                <a:avLst/>
              </a:prstGeom>
              <a:ln w="12700"/>
            </p:spPr>
            <p:style>
              <a:lnRef idx="1">
                <a:schemeClr val="dk1"/>
              </a:lnRef>
              <a:fillRef idx="0">
                <a:schemeClr val="dk1"/>
              </a:fillRef>
              <a:effectRef idx="0">
                <a:schemeClr val="dk1"/>
              </a:effectRef>
              <a:fontRef idx="minor">
                <a:schemeClr val="tx1"/>
              </a:fontRef>
            </p:style>
          </p:cxnSp>
          <p:cxnSp>
            <p:nvCxnSpPr>
              <p:cNvPr id="62" name="Connecteur droit avec flèche 61">
                <a:extLst>
                  <a:ext uri="{FF2B5EF4-FFF2-40B4-BE49-F238E27FC236}">
                    <a16:creationId xmlns:a16="http://schemas.microsoft.com/office/drawing/2014/main" id="{2A8A6524-5564-4882-B2B1-ABFEDE23E246}"/>
                  </a:ext>
                </a:extLst>
              </p:cNvPr>
              <p:cNvCxnSpPr>
                <a:cxnSpLocks/>
                <a:stCxn id="65" idx="1"/>
                <a:endCxn id="40" idx="3"/>
              </p:cNvCxnSpPr>
              <p:nvPr/>
            </p:nvCxnSpPr>
            <p:spPr>
              <a:xfrm flipH="1" flipV="1">
                <a:off x="6692454" y="1557893"/>
                <a:ext cx="1569140" cy="88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3" name="ZoneTexte 62">
                <a:extLst>
                  <a:ext uri="{FF2B5EF4-FFF2-40B4-BE49-F238E27FC236}">
                    <a16:creationId xmlns:a16="http://schemas.microsoft.com/office/drawing/2014/main" id="{51A3C098-C77F-4589-B89F-7CE839E9549E}"/>
                  </a:ext>
                </a:extLst>
              </p:cNvPr>
              <p:cNvSpPr txBox="1"/>
              <p:nvPr/>
            </p:nvSpPr>
            <p:spPr>
              <a:xfrm>
                <a:off x="4698090" y="4706056"/>
                <a:ext cx="2517057"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Stopping criteria reached</a:t>
                </a:r>
              </a:p>
            </p:txBody>
          </p:sp>
          <p:sp>
            <p:nvSpPr>
              <p:cNvPr id="64" name="ZoneTexte 63">
                <a:extLst>
                  <a:ext uri="{FF2B5EF4-FFF2-40B4-BE49-F238E27FC236}">
                    <a16:creationId xmlns:a16="http://schemas.microsoft.com/office/drawing/2014/main" id="{ADDAC8D5-3BF6-4BF7-AED4-D0209A7109EB}"/>
                  </a:ext>
                </a:extLst>
              </p:cNvPr>
              <p:cNvSpPr txBox="1"/>
              <p:nvPr/>
            </p:nvSpPr>
            <p:spPr>
              <a:xfrm>
                <a:off x="7341793" y="4536447"/>
                <a:ext cx="1080467"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otherwise</a:t>
                </a:r>
              </a:p>
            </p:txBody>
          </p:sp>
          <p:sp>
            <p:nvSpPr>
              <p:cNvPr id="65" name="Rectangle : coins arrondis 64">
                <a:extLst>
                  <a:ext uri="{FF2B5EF4-FFF2-40B4-BE49-F238E27FC236}">
                    <a16:creationId xmlns:a16="http://schemas.microsoft.com/office/drawing/2014/main" id="{EA95DF0E-2545-4D5A-BD5A-110BB376ACEE}"/>
                  </a:ext>
                </a:extLst>
              </p:cNvPr>
              <p:cNvSpPr/>
              <p:nvPr/>
            </p:nvSpPr>
            <p:spPr>
              <a:xfrm>
                <a:off x="8261594" y="1350175"/>
                <a:ext cx="1333315" cy="433138"/>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latin typeface="Times New Roman" panose="02020603050405020304" pitchFamily="18" charset="0"/>
                    <a:cs typeface="Times New Roman" panose="02020603050405020304" pitchFamily="18" charset="0"/>
                  </a:rPr>
                  <a:t>Optimization</a:t>
                </a:r>
              </a:p>
            </p:txBody>
          </p:sp>
          <p:cxnSp>
            <p:nvCxnSpPr>
              <p:cNvPr id="66" name="Connecteur droit avec flèche 65">
                <a:extLst>
                  <a:ext uri="{FF2B5EF4-FFF2-40B4-BE49-F238E27FC236}">
                    <a16:creationId xmlns:a16="http://schemas.microsoft.com/office/drawing/2014/main" id="{7DF21A5F-0448-4F06-A0D3-F44557B3BF62}"/>
                  </a:ext>
                </a:extLst>
              </p:cNvPr>
              <p:cNvCxnSpPr>
                <a:cxnSpLocks/>
              </p:cNvCxnSpPr>
              <p:nvPr/>
            </p:nvCxnSpPr>
            <p:spPr>
              <a:xfrm>
                <a:off x="5927378" y="4372452"/>
                <a:ext cx="0" cy="373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33" name="Connecteur droit avec flèche 32">
              <a:extLst>
                <a:ext uri="{FF2B5EF4-FFF2-40B4-BE49-F238E27FC236}">
                  <a16:creationId xmlns:a16="http://schemas.microsoft.com/office/drawing/2014/main" id="{373C2FC4-C372-4CC0-88AC-F87640A9EE7B}"/>
                </a:ext>
              </a:extLst>
            </p:cNvPr>
            <p:cNvCxnSpPr>
              <a:cxnSpLocks/>
            </p:cNvCxnSpPr>
            <p:nvPr/>
          </p:nvCxnSpPr>
          <p:spPr>
            <a:xfrm flipH="1">
              <a:off x="5935574" y="5036800"/>
              <a:ext cx="1" cy="27686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4" name="ZoneTexte 33">
              <a:extLst>
                <a:ext uri="{FF2B5EF4-FFF2-40B4-BE49-F238E27FC236}">
                  <a16:creationId xmlns:a16="http://schemas.microsoft.com/office/drawing/2014/main" id="{F5D0A51D-6F08-4AA7-9196-1A3CA37B7732}"/>
                </a:ext>
              </a:extLst>
            </p:cNvPr>
            <p:cNvSpPr txBox="1"/>
            <p:nvPr/>
          </p:nvSpPr>
          <p:spPr>
            <a:xfrm>
              <a:off x="5680378" y="5327656"/>
              <a:ext cx="600040" cy="307777"/>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yes</a:t>
              </a:r>
            </a:p>
          </p:txBody>
        </p:sp>
      </p:grpSp>
      <p:grpSp>
        <p:nvGrpSpPr>
          <p:cNvPr id="100" name="Groupe 99">
            <a:extLst>
              <a:ext uri="{FF2B5EF4-FFF2-40B4-BE49-F238E27FC236}">
                <a16:creationId xmlns:a16="http://schemas.microsoft.com/office/drawing/2014/main" id="{DCC7F35B-316C-44A1-99A9-FAC55B65F692}"/>
              </a:ext>
            </a:extLst>
          </p:cNvPr>
          <p:cNvGrpSpPr/>
          <p:nvPr/>
        </p:nvGrpSpPr>
        <p:grpSpPr>
          <a:xfrm>
            <a:off x="7710180" y="1959346"/>
            <a:ext cx="4126052" cy="4074765"/>
            <a:chOff x="3633161" y="739017"/>
            <a:chExt cx="5662203" cy="4760525"/>
          </a:xfrm>
        </p:grpSpPr>
        <p:grpSp>
          <p:nvGrpSpPr>
            <p:cNvPr id="101" name="Groupe 100">
              <a:extLst>
                <a:ext uri="{FF2B5EF4-FFF2-40B4-BE49-F238E27FC236}">
                  <a16:creationId xmlns:a16="http://schemas.microsoft.com/office/drawing/2014/main" id="{9AF2B2D3-C3D1-4ACE-A2F6-C9434A8D8ED1}"/>
                </a:ext>
              </a:extLst>
            </p:cNvPr>
            <p:cNvGrpSpPr/>
            <p:nvPr/>
          </p:nvGrpSpPr>
          <p:grpSpPr>
            <a:xfrm>
              <a:off x="3633161" y="739017"/>
              <a:ext cx="5662203" cy="4149365"/>
              <a:chOff x="3633161" y="739017"/>
              <a:chExt cx="5662203" cy="4149365"/>
            </a:xfrm>
          </p:grpSpPr>
          <p:sp>
            <p:nvSpPr>
              <p:cNvPr id="104" name="Rectangle : coins arrondis 103">
                <a:extLst>
                  <a:ext uri="{FF2B5EF4-FFF2-40B4-BE49-F238E27FC236}">
                    <a16:creationId xmlns:a16="http://schemas.microsoft.com/office/drawing/2014/main" id="{4F1A1C01-6EF8-48B3-A6B1-63CE9410F65E}"/>
                  </a:ext>
                </a:extLst>
              </p:cNvPr>
              <p:cNvSpPr/>
              <p:nvPr/>
            </p:nvSpPr>
            <p:spPr>
              <a:xfrm>
                <a:off x="3633161" y="2336811"/>
                <a:ext cx="4515801" cy="5753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105" name="Connecteur droit avec flèche 104">
                <a:extLst>
                  <a:ext uri="{FF2B5EF4-FFF2-40B4-BE49-F238E27FC236}">
                    <a16:creationId xmlns:a16="http://schemas.microsoft.com/office/drawing/2014/main" id="{9866A30D-C4A7-459C-843B-8B09FF294530}"/>
                  </a:ext>
                </a:extLst>
              </p:cNvPr>
              <p:cNvCxnSpPr>
                <a:cxnSpLocks/>
                <a:stCxn id="106" idx="2"/>
                <a:endCxn id="104" idx="0"/>
              </p:cNvCxnSpPr>
              <p:nvPr/>
            </p:nvCxnSpPr>
            <p:spPr>
              <a:xfrm>
                <a:off x="5879523" y="1601994"/>
                <a:ext cx="11538" cy="73481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06" name="ZoneTexte 105">
                <a:extLst>
                  <a:ext uri="{FF2B5EF4-FFF2-40B4-BE49-F238E27FC236}">
                    <a16:creationId xmlns:a16="http://schemas.microsoft.com/office/drawing/2014/main" id="{46B81CF4-71BB-4A93-836A-2E2C001FDF3B}"/>
                  </a:ext>
                </a:extLst>
              </p:cNvPr>
              <p:cNvSpPr txBox="1"/>
              <p:nvPr/>
            </p:nvSpPr>
            <p:spPr>
              <a:xfrm>
                <a:off x="4933609" y="739017"/>
                <a:ext cx="1891826" cy="8629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Control variables of the heat sources</a:t>
                </a:r>
              </a:p>
            </p:txBody>
          </p:sp>
          <mc:AlternateContent xmlns:mc="http://schemas.openxmlformats.org/markup-compatibility/2006" xmlns:a14="http://schemas.microsoft.com/office/drawing/2010/main">
            <mc:Choice Requires="a14">
              <p:sp>
                <p:nvSpPr>
                  <p:cNvPr id="109" name="Rectangle : coins arrondis 108">
                    <a:extLst>
                      <a:ext uri="{FF2B5EF4-FFF2-40B4-BE49-F238E27FC236}">
                        <a16:creationId xmlns:a16="http://schemas.microsoft.com/office/drawing/2014/main" id="{02248AE7-FDC2-4C06-92D5-69D52C7FD2A3}"/>
                      </a:ext>
                    </a:extLst>
                  </p:cNvPr>
                  <p:cNvSpPr/>
                  <p:nvPr/>
                </p:nvSpPr>
                <p:spPr>
                  <a:xfrm>
                    <a:off x="4489335" y="3393808"/>
                    <a:ext cx="2803452" cy="470638"/>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Evaluation of objective </a:t>
                    </a:r>
                    <a14:m>
                      <m:oMath xmlns:m="http://schemas.openxmlformats.org/officeDocument/2006/math">
                        <m:sSub>
                          <m:sSubPr>
                            <m:ctrlPr>
                              <a:rPr lang="fr-FR" sz="1400" b="1" i="1" dirty="0" smtClean="0">
                                <a:solidFill>
                                  <a:schemeClr val="tx1"/>
                                </a:solidFill>
                                <a:latin typeface="Cambria Math" panose="02040503050406030204" pitchFamily="18" charset="0"/>
                                <a:cs typeface="Times New Roman" panose="02020603050405020304" pitchFamily="18" charset="0"/>
                              </a:rPr>
                            </m:ctrlPr>
                          </m:sSubPr>
                          <m:e>
                            <m:r>
                              <a:rPr lang="en-US" sz="1400" b="1" i="1" dirty="0" smtClean="0">
                                <a:solidFill>
                                  <a:schemeClr val="tx1"/>
                                </a:solidFill>
                                <a:latin typeface="Cambria Math" panose="02040503050406030204" pitchFamily="18" charset="0"/>
                                <a:cs typeface="Times New Roman" panose="02020603050405020304" pitchFamily="18" charset="0"/>
                              </a:rPr>
                              <m:t>𝑱</m:t>
                            </m:r>
                          </m:e>
                          <m:sub>
                            <m:r>
                              <a:rPr lang="fr-FR" sz="1400" b="1" i="1" dirty="0" smtClean="0">
                                <a:solidFill>
                                  <a:schemeClr val="tx1"/>
                                </a:solidFill>
                                <a:latin typeface="Cambria Math" panose="02040503050406030204" pitchFamily="18" charset="0"/>
                                <a:cs typeface="Times New Roman" panose="02020603050405020304" pitchFamily="18" charset="0"/>
                              </a:rPr>
                              <m:t>𝒑𝒉𝒚𝒔𝒊𝒄𝒂𝒍</m:t>
                            </m:r>
                          </m:sub>
                        </m:sSub>
                      </m:oMath>
                    </a14:m>
                    <a:endParaRPr lang="en-US" sz="14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9" name="Rectangle : coins arrondis 108">
                    <a:extLst>
                      <a:ext uri="{FF2B5EF4-FFF2-40B4-BE49-F238E27FC236}">
                        <a16:creationId xmlns:a16="http://schemas.microsoft.com/office/drawing/2014/main" id="{02248AE7-FDC2-4C06-92D5-69D52C7FD2A3}"/>
                      </a:ext>
                    </a:extLst>
                  </p:cNvPr>
                  <p:cNvSpPr>
                    <a:spLocks noRot="1" noChangeAspect="1" noMove="1" noResize="1" noEditPoints="1" noAdjustHandles="1" noChangeArrowheads="1" noChangeShapeType="1" noTextEdit="1"/>
                  </p:cNvSpPr>
                  <p:nvPr/>
                </p:nvSpPr>
                <p:spPr>
                  <a:xfrm>
                    <a:off x="4489335" y="3393808"/>
                    <a:ext cx="2803452" cy="470638"/>
                  </a:xfrm>
                  <a:prstGeom prst="roundRect">
                    <a:avLst/>
                  </a:prstGeom>
                  <a:blipFill>
                    <a:blip r:embed="rId4"/>
                    <a:stretch>
                      <a:fillRect t="-19697" b="-21212"/>
                    </a:stretch>
                  </a:blipFill>
                  <a:ln>
                    <a:noFill/>
                  </a:ln>
                </p:spPr>
                <p:txBody>
                  <a:bodyPr/>
                  <a:lstStyle/>
                  <a:p>
                    <a:r>
                      <a:rPr lang="en-US">
                        <a:noFill/>
                      </a:rPr>
                      <a:t> </a:t>
                    </a:r>
                  </a:p>
                </p:txBody>
              </p:sp>
            </mc:Fallback>
          </mc:AlternateContent>
          <p:cxnSp>
            <p:nvCxnSpPr>
              <p:cNvPr id="110" name="Connecteur droit avec flèche 109">
                <a:extLst>
                  <a:ext uri="{FF2B5EF4-FFF2-40B4-BE49-F238E27FC236}">
                    <a16:creationId xmlns:a16="http://schemas.microsoft.com/office/drawing/2014/main" id="{8EAB7C58-71D6-4CFE-82CE-C32ED2C90C4A}"/>
                  </a:ext>
                </a:extLst>
              </p:cNvPr>
              <p:cNvCxnSpPr>
                <a:cxnSpLocks/>
              </p:cNvCxnSpPr>
              <p:nvPr/>
            </p:nvCxnSpPr>
            <p:spPr>
              <a:xfrm flipH="1">
                <a:off x="5879520" y="3000474"/>
                <a:ext cx="1" cy="39333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11" name="ZoneTexte 110">
                <a:extLst>
                  <a:ext uri="{FF2B5EF4-FFF2-40B4-BE49-F238E27FC236}">
                    <a16:creationId xmlns:a16="http://schemas.microsoft.com/office/drawing/2014/main" id="{9BFC7470-16F4-4CF9-A8BC-2B787D7284A5}"/>
                  </a:ext>
                </a:extLst>
              </p:cNvPr>
              <p:cNvSpPr txBox="1"/>
              <p:nvPr/>
            </p:nvSpPr>
            <p:spPr>
              <a:xfrm>
                <a:off x="3718138" y="2430207"/>
                <a:ext cx="4345846" cy="395531"/>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Dynamic simulation </a:t>
                </a:r>
                <a:r>
                  <a:rPr lang="en-US" sz="1600" dirty="0">
                    <a:latin typeface="Times New Roman" panose="02020603050405020304" pitchFamily="18" charset="0"/>
                    <a:cs typeface="Times New Roman" panose="02020603050405020304" pitchFamily="18" charset="0"/>
                  </a:rPr>
                  <a:t>of the DHN </a:t>
                </a:r>
              </a:p>
            </p:txBody>
          </p:sp>
          <p:cxnSp>
            <p:nvCxnSpPr>
              <p:cNvPr id="112" name="Connecteur droit 111">
                <a:extLst>
                  <a:ext uri="{FF2B5EF4-FFF2-40B4-BE49-F238E27FC236}">
                    <a16:creationId xmlns:a16="http://schemas.microsoft.com/office/drawing/2014/main" id="{F3547D43-018E-4EE9-8C48-289E769A21D3}"/>
                  </a:ext>
                </a:extLst>
              </p:cNvPr>
              <p:cNvCxnSpPr>
                <a:cxnSpLocks/>
              </p:cNvCxnSpPr>
              <p:nvPr/>
            </p:nvCxnSpPr>
            <p:spPr>
              <a:xfrm>
                <a:off x="7262506" y="4560270"/>
                <a:ext cx="136869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Connecteur droit 112">
                <a:extLst>
                  <a:ext uri="{FF2B5EF4-FFF2-40B4-BE49-F238E27FC236}">
                    <a16:creationId xmlns:a16="http://schemas.microsoft.com/office/drawing/2014/main" id="{6A0A5899-28ED-4FD6-8056-22FEF6885C6C}"/>
                  </a:ext>
                </a:extLst>
              </p:cNvPr>
              <p:cNvCxnSpPr>
                <a:cxnSpLocks/>
              </p:cNvCxnSpPr>
              <p:nvPr/>
            </p:nvCxnSpPr>
            <p:spPr>
              <a:xfrm flipH="1">
                <a:off x="8616148" y="1465048"/>
                <a:ext cx="15054" cy="3095222"/>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Connecteur droit avec flèche 113">
                <a:extLst>
                  <a:ext uri="{FF2B5EF4-FFF2-40B4-BE49-F238E27FC236}">
                    <a16:creationId xmlns:a16="http://schemas.microsoft.com/office/drawing/2014/main" id="{70FB39BA-676B-44B5-A37B-81DAC8C3AC62}"/>
                  </a:ext>
                </a:extLst>
              </p:cNvPr>
              <p:cNvCxnSpPr>
                <a:cxnSpLocks/>
                <a:endCxn id="106" idx="3"/>
              </p:cNvCxnSpPr>
              <p:nvPr/>
            </p:nvCxnSpPr>
            <p:spPr>
              <a:xfrm flipH="1">
                <a:off x="6825435" y="1170505"/>
                <a:ext cx="83241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15" name="ZoneTexte 114">
                <a:extLst>
                  <a:ext uri="{FF2B5EF4-FFF2-40B4-BE49-F238E27FC236}">
                    <a16:creationId xmlns:a16="http://schemas.microsoft.com/office/drawing/2014/main" id="{838F3894-668C-431D-BE83-29149F75D46A}"/>
                  </a:ext>
                </a:extLst>
              </p:cNvPr>
              <p:cNvSpPr txBox="1"/>
              <p:nvPr/>
            </p:nvSpPr>
            <p:spPr>
              <a:xfrm>
                <a:off x="4614496" y="4277107"/>
                <a:ext cx="2517056" cy="611275"/>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Stopping criteria reached</a:t>
                </a:r>
              </a:p>
            </p:txBody>
          </p:sp>
          <p:sp>
            <p:nvSpPr>
              <p:cNvPr id="116" name="ZoneTexte 115">
                <a:extLst>
                  <a:ext uri="{FF2B5EF4-FFF2-40B4-BE49-F238E27FC236}">
                    <a16:creationId xmlns:a16="http://schemas.microsoft.com/office/drawing/2014/main" id="{1E4817AD-E45A-4D2A-9742-5D16B3EF3E8C}"/>
                  </a:ext>
                </a:extLst>
              </p:cNvPr>
              <p:cNvSpPr txBox="1"/>
              <p:nvPr/>
            </p:nvSpPr>
            <p:spPr>
              <a:xfrm>
                <a:off x="6831980" y="4200696"/>
                <a:ext cx="1839601" cy="359574"/>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otherwise</a:t>
                </a:r>
              </a:p>
            </p:txBody>
          </p:sp>
          <p:sp>
            <p:nvSpPr>
              <p:cNvPr id="117" name="Rectangle : coins arrondis 116">
                <a:extLst>
                  <a:ext uri="{FF2B5EF4-FFF2-40B4-BE49-F238E27FC236}">
                    <a16:creationId xmlns:a16="http://schemas.microsoft.com/office/drawing/2014/main" id="{0ABAED16-312B-4539-8034-D840A905FB07}"/>
                  </a:ext>
                </a:extLst>
              </p:cNvPr>
              <p:cNvSpPr/>
              <p:nvPr/>
            </p:nvSpPr>
            <p:spPr>
              <a:xfrm>
                <a:off x="7657853" y="884931"/>
                <a:ext cx="1637511" cy="615714"/>
              </a:xfrm>
              <a:prstGeom prst="round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latin typeface="Times New Roman" panose="02020603050405020304" pitchFamily="18" charset="0"/>
                    <a:cs typeface="Times New Roman" panose="02020603050405020304" pitchFamily="18" charset="0"/>
                  </a:rPr>
                  <a:t>Optimization</a:t>
                </a:r>
              </a:p>
            </p:txBody>
          </p:sp>
          <p:cxnSp>
            <p:nvCxnSpPr>
              <p:cNvPr id="118" name="Connecteur droit avec flèche 117">
                <a:extLst>
                  <a:ext uri="{FF2B5EF4-FFF2-40B4-BE49-F238E27FC236}">
                    <a16:creationId xmlns:a16="http://schemas.microsoft.com/office/drawing/2014/main" id="{421475DD-CE4C-4CDA-8219-647CEC5193C3}"/>
                  </a:ext>
                </a:extLst>
              </p:cNvPr>
              <p:cNvCxnSpPr>
                <a:cxnSpLocks/>
                <a:stCxn id="109" idx="2"/>
              </p:cNvCxnSpPr>
              <p:nvPr/>
            </p:nvCxnSpPr>
            <p:spPr>
              <a:xfrm>
                <a:off x="5891061" y="3864446"/>
                <a:ext cx="0" cy="41266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02" name="Connecteur droit avec flèche 101">
              <a:extLst>
                <a:ext uri="{FF2B5EF4-FFF2-40B4-BE49-F238E27FC236}">
                  <a16:creationId xmlns:a16="http://schemas.microsoft.com/office/drawing/2014/main" id="{29263DA1-410E-4FC9-B9E8-A939AD3E982E}"/>
                </a:ext>
              </a:extLst>
            </p:cNvPr>
            <p:cNvCxnSpPr>
              <a:cxnSpLocks/>
            </p:cNvCxnSpPr>
            <p:nvPr/>
          </p:nvCxnSpPr>
          <p:spPr>
            <a:xfrm flipH="1">
              <a:off x="5866939" y="4951262"/>
              <a:ext cx="1" cy="27686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03" name="ZoneTexte 102">
              <a:extLst>
                <a:ext uri="{FF2B5EF4-FFF2-40B4-BE49-F238E27FC236}">
                  <a16:creationId xmlns:a16="http://schemas.microsoft.com/office/drawing/2014/main" id="{9AE36027-8B10-4550-B235-24F5B431189E}"/>
                </a:ext>
              </a:extLst>
            </p:cNvPr>
            <p:cNvSpPr txBox="1"/>
            <p:nvPr/>
          </p:nvSpPr>
          <p:spPr>
            <a:xfrm>
              <a:off x="5566919" y="5139968"/>
              <a:ext cx="600041" cy="359574"/>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yes</a:t>
              </a:r>
            </a:p>
          </p:txBody>
        </p:sp>
      </p:grpSp>
      <p:pic>
        <p:nvPicPr>
          <p:cNvPr id="121" name="Image 120">
            <a:extLst>
              <a:ext uri="{FF2B5EF4-FFF2-40B4-BE49-F238E27FC236}">
                <a16:creationId xmlns:a16="http://schemas.microsoft.com/office/drawing/2014/main" id="{4422DD1D-EC37-429A-9ACF-854C3491D3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22" name="Image 121">
            <a:extLst>
              <a:ext uri="{FF2B5EF4-FFF2-40B4-BE49-F238E27FC236}">
                <a16:creationId xmlns:a16="http://schemas.microsoft.com/office/drawing/2014/main" id="{FD38B862-87AB-4964-B2AA-6EC0532C2C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23" name="Image 122">
            <a:extLst>
              <a:ext uri="{FF2B5EF4-FFF2-40B4-BE49-F238E27FC236}">
                <a16:creationId xmlns:a16="http://schemas.microsoft.com/office/drawing/2014/main" id="{AF4F50DB-62E4-4E41-888E-1BAC59FCB9EC}"/>
              </a:ext>
            </a:extLst>
          </p:cNvPr>
          <p:cNvPicPr>
            <a:picLocks noChangeAspect="1"/>
          </p:cNvPicPr>
          <p:nvPr/>
        </p:nvPicPr>
        <p:blipFill rotWithShape="1">
          <a:blip r:embed="rId7">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24" name="ZoneTexte 123">
            <a:extLst>
              <a:ext uri="{FF2B5EF4-FFF2-40B4-BE49-F238E27FC236}">
                <a16:creationId xmlns:a16="http://schemas.microsoft.com/office/drawing/2014/main" id="{543C6971-E067-4379-8015-6D7E5AC63A38}"/>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7</a:t>
            </a:r>
          </a:p>
        </p:txBody>
      </p: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5F57F787-5458-4F03-9D9A-F8208F2C2423}"/>
                  </a:ext>
                </a:extLst>
              </p:cNvPr>
              <p:cNvSpPr txBox="1"/>
              <p:nvPr/>
            </p:nvSpPr>
            <p:spPr>
              <a:xfrm>
                <a:off x="6094737" y="5779060"/>
                <a:ext cx="2103219" cy="394788"/>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b="1" i="1" dirty="0" smtClean="0">
                              <a:solidFill>
                                <a:schemeClr val="tx1"/>
                              </a:solidFill>
                              <a:latin typeface="Cambria Math" panose="02040503050406030204" pitchFamily="18" charset="0"/>
                              <a:cs typeface="Times New Roman" panose="02020603050405020304" pitchFamily="18" charset="0"/>
                            </a:rPr>
                          </m:ctrlPr>
                        </m:sSubPr>
                        <m:e>
                          <m:r>
                            <a:rPr lang="fr-FR" b="1" i="1" dirty="0" smtClean="0">
                              <a:solidFill>
                                <a:schemeClr val="tx1"/>
                              </a:solidFill>
                              <a:latin typeface="Cambria Math" panose="02040503050406030204" pitchFamily="18" charset="0"/>
                              <a:cs typeface="Times New Roman" panose="02020603050405020304" pitchFamily="18" charset="0"/>
                            </a:rPr>
                            <m:t>𝑱</m:t>
                          </m:r>
                        </m:e>
                        <m:sub>
                          <m:r>
                            <a:rPr lang="fr-FR" b="1" i="1" dirty="0" smtClean="0">
                              <a:solidFill>
                                <a:schemeClr val="tx1"/>
                              </a:solidFill>
                              <a:latin typeface="Cambria Math" panose="02040503050406030204" pitchFamily="18" charset="0"/>
                              <a:cs typeface="Times New Roman" panose="02020603050405020304" pitchFamily="18" charset="0"/>
                            </a:rPr>
                            <m:t>𝒉𝒚𝒃𝒓𝒊𝒅</m:t>
                          </m:r>
                        </m:sub>
                      </m:sSub>
                      <m:r>
                        <a:rPr lang="fr-FR" b="1"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fr-FR" b="1"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fr-FR" b="1"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𝑱</m:t>
                          </m:r>
                        </m:e>
                        <m:sub>
                          <m:r>
                            <a:rPr lang="fr-FR" b="1"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𝒑𝒉𝒚𝒔𝒊𝒄𝒂𝒍</m:t>
                          </m:r>
                        </m:sub>
                      </m:sSub>
                    </m:oMath>
                  </m:oMathPara>
                </a14:m>
                <a:endParaRPr lang="en-US" dirty="0"/>
              </a:p>
            </p:txBody>
          </p:sp>
        </mc:Choice>
        <mc:Fallback xmlns="">
          <p:sp>
            <p:nvSpPr>
              <p:cNvPr id="52" name="ZoneTexte 51">
                <a:extLst>
                  <a:ext uri="{FF2B5EF4-FFF2-40B4-BE49-F238E27FC236}">
                    <a16:creationId xmlns:a16="http://schemas.microsoft.com/office/drawing/2014/main" id="{5F57F787-5458-4F03-9D9A-F8208F2C2423}"/>
                  </a:ext>
                </a:extLst>
              </p:cNvPr>
              <p:cNvSpPr txBox="1">
                <a:spLocks noRot="1" noChangeAspect="1" noMove="1" noResize="1" noEditPoints="1" noAdjustHandles="1" noChangeArrowheads="1" noChangeShapeType="1" noTextEdit="1"/>
              </p:cNvSpPr>
              <p:nvPr/>
            </p:nvSpPr>
            <p:spPr>
              <a:xfrm>
                <a:off x="6094737" y="5779060"/>
                <a:ext cx="2103219" cy="394788"/>
              </a:xfrm>
              <a:prstGeom prst="rect">
                <a:avLst/>
              </a:prstGeom>
              <a:blipFill>
                <a:blip r:embed="rId8"/>
                <a:stretch>
                  <a:fillRect b="-895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34542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Results (learning performances)</a:t>
            </a:r>
          </a:p>
        </p:txBody>
      </p:sp>
      <p:graphicFrame>
        <p:nvGraphicFramePr>
          <p:cNvPr id="3" name="Tableau 3">
            <a:extLst>
              <a:ext uri="{FF2B5EF4-FFF2-40B4-BE49-F238E27FC236}">
                <a16:creationId xmlns:a16="http://schemas.microsoft.com/office/drawing/2014/main" id="{DD084A09-EB07-4093-A974-0E63865C1769}"/>
              </a:ext>
            </a:extLst>
          </p:cNvPr>
          <p:cNvGraphicFramePr>
            <a:graphicFrameLocks noGrp="1"/>
          </p:cNvGraphicFramePr>
          <p:nvPr>
            <p:extLst>
              <p:ext uri="{D42A27DB-BD31-4B8C-83A1-F6EECF244321}">
                <p14:modId xmlns:p14="http://schemas.microsoft.com/office/powerpoint/2010/main" val="2876794646"/>
              </p:ext>
            </p:extLst>
          </p:nvPr>
        </p:nvGraphicFramePr>
        <p:xfrm>
          <a:off x="1205346" y="2352041"/>
          <a:ext cx="9511147" cy="2768600"/>
        </p:xfrm>
        <a:graphic>
          <a:graphicData uri="http://schemas.openxmlformats.org/drawingml/2006/table">
            <a:tbl>
              <a:tblPr firstRow="1" bandRow="1">
                <a:tableStyleId>{073A0DAA-6AF3-43AB-8588-CEC1D06C72B9}</a:tableStyleId>
              </a:tblPr>
              <a:tblGrid>
                <a:gridCol w="3041075">
                  <a:extLst>
                    <a:ext uri="{9D8B030D-6E8A-4147-A177-3AD203B41FA5}">
                      <a16:colId xmlns:a16="http://schemas.microsoft.com/office/drawing/2014/main" val="3968207227"/>
                    </a:ext>
                  </a:extLst>
                </a:gridCol>
                <a:gridCol w="1617518">
                  <a:extLst>
                    <a:ext uri="{9D8B030D-6E8A-4147-A177-3AD203B41FA5}">
                      <a16:colId xmlns:a16="http://schemas.microsoft.com/office/drawing/2014/main" val="478033739"/>
                    </a:ext>
                  </a:extLst>
                </a:gridCol>
                <a:gridCol w="1617518">
                  <a:extLst>
                    <a:ext uri="{9D8B030D-6E8A-4147-A177-3AD203B41FA5}">
                      <a16:colId xmlns:a16="http://schemas.microsoft.com/office/drawing/2014/main" val="685004419"/>
                    </a:ext>
                  </a:extLst>
                </a:gridCol>
                <a:gridCol w="1617518">
                  <a:extLst>
                    <a:ext uri="{9D8B030D-6E8A-4147-A177-3AD203B41FA5}">
                      <a16:colId xmlns:a16="http://schemas.microsoft.com/office/drawing/2014/main" val="1719747642"/>
                    </a:ext>
                  </a:extLst>
                </a:gridCol>
                <a:gridCol w="1617518">
                  <a:extLst>
                    <a:ext uri="{9D8B030D-6E8A-4147-A177-3AD203B41FA5}">
                      <a16:colId xmlns:a16="http://schemas.microsoft.com/office/drawing/2014/main" val="3613867262"/>
                    </a:ext>
                  </a:extLst>
                </a:gridCol>
              </a:tblGrid>
              <a:tr h="370840">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Cluster K1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Cluster K2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Cluster 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Cluster 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1760544"/>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Nb clustered nodes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459810"/>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Nb output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70249"/>
                  </a:ext>
                </a:extLst>
              </a:tr>
              <a:tr h="370840">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850762"/>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MAPE (%) on temperatures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94518"/>
                  </a:ext>
                </a:extLst>
              </a:tr>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MAPE (%) on consumption</a:t>
                      </a:r>
                    </a:p>
                    <a:p>
                      <a:pPr marL="285750" indent="-285750" algn="ct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On power level</a:t>
                      </a:r>
                    </a:p>
                    <a:p>
                      <a:pPr marL="285750" indent="-285750" algn="ctr">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On energy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2.31</a:t>
                      </a:r>
                    </a:p>
                    <a:p>
                      <a:pPr algn="ctr"/>
                      <a:r>
                        <a:rPr lang="en-US" dirty="0">
                          <a:solidFill>
                            <a:schemeClr val="tx1"/>
                          </a:solidFill>
                          <a:latin typeface="Times New Roman" panose="02020603050405020304" pitchFamily="18" charset="0"/>
                          <a:cs typeface="Times New Roman" panose="02020603050405020304" pitchFamily="18" charset="0"/>
                        </a:rPr>
                        <a:t>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0.92</a:t>
                      </a:r>
                    </a:p>
                    <a:p>
                      <a:pPr algn="ctr"/>
                      <a:r>
                        <a:rPr lang="en-US" dirty="0">
                          <a:solidFill>
                            <a:schemeClr val="tx1"/>
                          </a:solidFill>
                          <a:latin typeface="Times New Roman" panose="02020603050405020304" pitchFamily="18" charset="0"/>
                          <a:cs typeface="Times New Roman" panose="02020603050405020304" pitchFamily="18" charset="0"/>
                        </a:rPr>
                        <a:t>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2.65</a:t>
                      </a:r>
                    </a:p>
                    <a:p>
                      <a:pPr algn="ctr"/>
                      <a:r>
                        <a:rPr lang="en-US" dirty="0">
                          <a:solidFill>
                            <a:schemeClr val="tx1"/>
                          </a:solidFill>
                          <a:latin typeface="Times New Roman" panose="02020603050405020304" pitchFamily="18" charset="0"/>
                          <a:cs typeface="Times New Roman" panose="02020603050405020304" pitchFamily="18" charset="0"/>
                        </a:rPr>
                        <a:t>0.43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1.79</a:t>
                      </a:r>
                    </a:p>
                    <a:p>
                      <a:pPr algn="ctr"/>
                      <a:r>
                        <a:rPr lang="en-US" dirty="0">
                          <a:solidFill>
                            <a:schemeClr val="tx1"/>
                          </a:solidFill>
                          <a:latin typeface="Times New Roman" panose="02020603050405020304" pitchFamily="18" charset="0"/>
                          <a:cs typeface="Times New Roman" panose="02020603050405020304" pitchFamily="18" charset="0"/>
                        </a:rPr>
                        <a:t>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7886982"/>
                  </a:ext>
                </a:extLst>
              </a:tr>
            </a:tbl>
          </a:graphicData>
        </a:graphic>
      </p:graphicFrame>
      <p:sp>
        <p:nvSpPr>
          <p:cNvPr id="4" name="ZoneTexte 3">
            <a:extLst>
              <a:ext uri="{FF2B5EF4-FFF2-40B4-BE49-F238E27FC236}">
                <a16:creationId xmlns:a16="http://schemas.microsoft.com/office/drawing/2014/main" id="{121E12DD-0C59-4893-8153-39BDA240C979}"/>
              </a:ext>
            </a:extLst>
          </p:cNvPr>
          <p:cNvSpPr txBox="1"/>
          <p:nvPr/>
        </p:nvSpPr>
        <p:spPr>
          <a:xfrm>
            <a:off x="1413161" y="1982709"/>
            <a:ext cx="242108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*Nb: number of</a:t>
            </a:r>
          </a:p>
        </p:txBody>
      </p:sp>
      <p:sp>
        <p:nvSpPr>
          <p:cNvPr id="51" name="ZoneTexte 50">
            <a:extLst>
              <a:ext uri="{FF2B5EF4-FFF2-40B4-BE49-F238E27FC236}">
                <a16:creationId xmlns:a16="http://schemas.microsoft.com/office/drawing/2014/main" id="{87C5D769-8DCC-4819-AECC-D4E4360978EA}"/>
              </a:ext>
            </a:extLst>
          </p:cNvPr>
          <p:cNvSpPr txBox="1"/>
          <p:nvPr/>
        </p:nvSpPr>
        <p:spPr>
          <a:xfrm>
            <a:off x="3527714" y="1970363"/>
            <a:ext cx="46551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*MAPE: Mean Absolute Percentage Error</a:t>
            </a:r>
          </a:p>
        </p:txBody>
      </p:sp>
      <p:sp>
        <p:nvSpPr>
          <p:cNvPr id="5" name="ZoneTexte 4">
            <a:extLst>
              <a:ext uri="{FF2B5EF4-FFF2-40B4-BE49-F238E27FC236}">
                <a16:creationId xmlns:a16="http://schemas.microsoft.com/office/drawing/2014/main" id="{F1245E22-4691-46CC-8480-7B48201E7708}"/>
              </a:ext>
            </a:extLst>
          </p:cNvPr>
          <p:cNvSpPr txBox="1"/>
          <p:nvPr/>
        </p:nvSpPr>
        <p:spPr>
          <a:xfrm>
            <a:off x="3034147" y="5273657"/>
            <a:ext cx="6868390"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Ability of the NN models to learn different </a:t>
            </a:r>
            <a:r>
              <a:rPr lang="en-US" i="1" dirty="0">
                <a:latin typeface="Times New Roman" panose="02020603050405020304" pitchFamily="18" charset="0"/>
                <a:cs typeface="Times New Roman" panose="02020603050405020304" pitchFamily="18" charset="0"/>
              </a:rPr>
              <a:t>sizes</a:t>
            </a:r>
            <a:r>
              <a:rPr lang="en-US" dirty="0">
                <a:latin typeface="Times New Roman" panose="02020603050405020304" pitchFamily="18" charset="0"/>
                <a:cs typeface="Times New Roman" panose="02020603050405020304" pitchFamily="18" charset="0"/>
              </a:rPr>
              <a:t> of clusters.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Lower errors in heat consumption energy than powers as over and under-estimations might cancel off.</a:t>
            </a:r>
          </a:p>
        </p:txBody>
      </p:sp>
      <p:pic>
        <p:nvPicPr>
          <p:cNvPr id="67" name="Image 66">
            <a:extLst>
              <a:ext uri="{FF2B5EF4-FFF2-40B4-BE49-F238E27FC236}">
                <a16:creationId xmlns:a16="http://schemas.microsoft.com/office/drawing/2014/main" id="{EBD9AAA7-7EBE-40ED-8A52-405E94B09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68" name="Image 67">
            <a:extLst>
              <a:ext uri="{FF2B5EF4-FFF2-40B4-BE49-F238E27FC236}">
                <a16:creationId xmlns:a16="http://schemas.microsoft.com/office/drawing/2014/main" id="{4FCD5F3D-9E93-426A-914D-FDA1E79498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69" name="Image 68">
            <a:extLst>
              <a:ext uri="{FF2B5EF4-FFF2-40B4-BE49-F238E27FC236}">
                <a16:creationId xmlns:a16="http://schemas.microsoft.com/office/drawing/2014/main" id="{AC236B14-5800-42C5-A5D3-34A92C5F8D51}"/>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70" name="ZoneTexte 69">
            <a:extLst>
              <a:ext uri="{FF2B5EF4-FFF2-40B4-BE49-F238E27FC236}">
                <a16:creationId xmlns:a16="http://schemas.microsoft.com/office/drawing/2014/main" id="{4C02E690-789C-45C8-876C-DE7A85FB3539}"/>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4286682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Results (Hybrid MPC accuracy)</a:t>
            </a:r>
          </a:p>
        </p:txBody>
      </p:sp>
      <p:sp>
        <p:nvSpPr>
          <p:cNvPr id="4" name="ZoneTexte 3">
            <a:extLst>
              <a:ext uri="{FF2B5EF4-FFF2-40B4-BE49-F238E27FC236}">
                <a16:creationId xmlns:a16="http://schemas.microsoft.com/office/drawing/2014/main" id="{121E12DD-0C59-4893-8153-39BDA240C979}"/>
              </a:ext>
            </a:extLst>
          </p:cNvPr>
          <p:cNvSpPr txBox="1"/>
          <p:nvPr/>
        </p:nvSpPr>
        <p:spPr>
          <a:xfrm>
            <a:off x="1184561" y="1821038"/>
            <a:ext cx="460837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Results for 10 hours operational running</a:t>
            </a:r>
          </a:p>
        </p:txBody>
      </p:sp>
      <p:sp>
        <p:nvSpPr>
          <p:cNvPr id="51" name="ZoneTexte 50">
            <a:extLst>
              <a:ext uri="{FF2B5EF4-FFF2-40B4-BE49-F238E27FC236}">
                <a16:creationId xmlns:a16="http://schemas.microsoft.com/office/drawing/2014/main" id="{87C5D769-8DCC-4819-AECC-D4E4360978EA}"/>
              </a:ext>
            </a:extLst>
          </p:cNvPr>
          <p:cNvSpPr txBox="1"/>
          <p:nvPr/>
        </p:nvSpPr>
        <p:spPr>
          <a:xfrm>
            <a:off x="1184561" y="2190370"/>
            <a:ext cx="65047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Decisions are taken every dt hour: 1 hour and 0.2 hour (12 minutes).</a:t>
            </a:r>
          </a:p>
        </p:txBody>
      </p:sp>
      <mc:AlternateContent xmlns:mc="http://schemas.openxmlformats.org/markup-compatibility/2006" xmlns:a14="http://schemas.microsoft.com/office/drawing/2010/main">
        <mc:Choice Requires="a14">
          <p:graphicFrame>
            <p:nvGraphicFramePr>
              <p:cNvPr id="8" name="Tableau 8">
                <a:extLst>
                  <a:ext uri="{FF2B5EF4-FFF2-40B4-BE49-F238E27FC236}">
                    <a16:creationId xmlns:a16="http://schemas.microsoft.com/office/drawing/2014/main" id="{AC48A2CC-9C51-444B-9853-E76F3996FC04}"/>
                  </a:ext>
                </a:extLst>
              </p:cNvPr>
              <p:cNvGraphicFramePr>
                <a:graphicFrameLocks noGrp="1"/>
              </p:cNvGraphicFramePr>
              <p:nvPr>
                <p:extLst>
                  <p:ext uri="{D42A27DB-BD31-4B8C-83A1-F6EECF244321}">
                    <p14:modId xmlns:p14="http://schemas.microsoft.com/office/powerpoint/2010/main" val="3745567724"/>
                  </p:ext>
                </p:extLst>
              </p:nvPr>
            </p:nvGraphicFramePr>
            <p:xfrm>
              <a:off x="1184560" y="2643380"/>
              <a:ext cx="10176163" cy="3039129"/>
            </p:xfrm>
            <a:graphic>
              <a:graphicData uri="http://schemas.openxmlformats.org/drawingml/2006/table">
                <a:tbl>
                  <a:tblPr firstRow="1" bandRow="1">
                    <a:tableStyleId>{5C22544A-7EE6-4342-B048-85BDC9FD1C3A}</a:tableStyleId>
                  </a:tblPr>
                  <a:tblGrid>
                    <a:gridCol w="1832263">
                      <a:extLst>
                        <a:ext uri="{9D8B030D-6E8A-4147-A177-3AD203B41FA5}">
                          <a16:colId xmlns:a16="http://schemas.microsoft.com/office/drawing/2014/main" val="1774977320"/>
                        </a:ext>
                      </a:extLst>
                    </a:gridCol>
                    <a:gridCol w="1580112">
                      <a:extLst>
                        <a:ext uri="{9D8B030D-6E8A-4147-A177-3AD203B41FA5}">
                          <a16:colId xmlns:a16="http://schemas.microsoft.com/office/drawing/2014/main" val="3486168554"/>
                        </a:ext>
                      </a:extLst>
                    </a:gridCol>
                    <a:gridCol w="1267691">
                      <a:extLst>
                        <a:ext uri="{9D8B030D-6E8A-4147-A177-3AD203B41FA5}">
                          <a16:colId xmlns:a16="http://schemas.microsoft.com/office/drawing/2014/main" val="2358875669"/>
                        </a:ext>
                      </a:extLst>
                    </a:gridCol>
                    <a:gridCol w="1288473">
                      <a:extLst>
                        <a:ext uri="{9D8B030D-6E8A-4147-A177-3AD203B41FA5}">
                          <a16:colId xmlns:a16="http://schemas.microsoft.com/office/drawing/2014/main" val="1523047276"/>
                        </a:ext>
                      </a:extLst>
                    </a:gridCol>
                    <a:gridCol w="1257300">
                      <a:extLst>
                        <a:ext uri="{9D8B030D-6E8A-4147-A177-3AD203B41FA5}">
                          <a16:colId xmlns:a16="http://schemas.microsoft.com/office/drawing/2014/main" val="2341420094"/>
                        </a:ext>
                      </a:extLst>
                    </a:gridCol>
                    <a:gridCol w="1395645">
                      <a:extLst>
                        <a:ext uri="{9D8B030D-6E8A-4147-A177-3AD203B41FA5}">
                          <a16:colId xmlns:a16="http://schemas.microsoft.com/office/drawing/2014/main" val="1618731837"/>
                        </a:ext>
                      </a:extLst>
                    </a:gridCol>
                    <a:gridCol w="1554679">
                      <a:extLst>
                        <a:ext uri="{9D8B030D-6E8A-4147-A177-3AD203B41FA5}">
                          <a16:colId xmlns:a16="http://schemas.microsoft.com/office/drawing/2014/main" val="3775980799"/>
                        </a:ext>
                      </a:extLst>
                    </a:gridCol>
                  </a:tblGrid>
                  <a:tr h="370840">
                    <a:tc>
                      <a:txBody>
                        <a:bodyPr/>
                        <a:lstStyle/>
                        <a:p>
                          <a:pPr algn="ctr"/>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Physical MPC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Hybrid MPC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Rule-based (80°C)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390481"/>
                      </a:ext>
                    </a:extLst>
                  </a:tr>
                  <a:tr h="370840">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Cluster replaced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258865"/>
                      </a:ext>
                    </a:extLst>
                  </a:tr>
                  <a:tr h="534689">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dt (hour)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4334734"/>
                      </a:ext>
                    </a:extLst>
                  </a:tr>
                  <a:tr h="370840">
                    <a:tc>
                      <a:txBody>
                        <a:bodyPr/>
                        <a:lstStyle/>
                        <a:p>
                          <a:pPr algn="ctr"/>
                          <a:r>
                            <a:rPr lang="en-US" sz="1600" b="1" dirty="0">
                              <a:solidFill>
                                <a:schemeClr val="tx1"/>
                              </a:solidFill>
                              <a:latin typeface="Times New Roman" panose="02020603050405020304" pitchFamily="18" charset="0"/>
                              <a:cs typeface="Times New Roman" panose="02020603050405020304" pitchFamily="18" charset="0"/>
                            </a:rPr>
                            <a:t>Produced heat energy (MWh)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a:effectLst/>
                                    <a:latin typeface="Cambria Math" panose="02040503050406030204" pitchFamily="18" charset="0"/>
                                    <a:ea typeface="Times New Roman" panose="02020603050405020304" pitchFamily="18" charset="0"/>
                                  </a:rPr>
                                  <m:t>𝟐𝟎𝟐</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𝟖</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𝟐𝟏𝟖</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𝟑</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a:effectLst/>
                                    <a:latin typeface="Cambria Math" panose="02040503050406030204" pitchFamily="18" charset="0"/>
                                    <a:ea typeface="Times New Roman" panose="02020603050405020304" pitchFamily="18" charset="0"/>
                                  </a:rPr>
                                  <m:t>𝟐𝟎𝟔</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𝟔</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𝟐𝟎𝟑</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𝟓</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a:effectLst/>
                                    <a:latin typeface="Cambria Math" panose="02040503050406030204" pitchFamily="18" charset="0"/>
                                    <a:ea typeface="Times New Roman" panose="02020603050405020304" pitchFamily="18" charset="0"/>
                                  </a:rPr>
                                  <m:t>𝟐𝟎𝟐</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𝟕</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𝟐𝟏𝟖</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𝟒</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a:effectLst/>
                                    <a:latin typeface="Cambria Math" panose="02040503050406030204" pitchFamily="18" charset="0"/>
                                    <a:ea typeface="Times New Roman" panose="02020603050405020304" pitchFamily="18" charset="0"/>
                                  </a:rPr>
                                  <m:t>𝟐𝟎𝟑</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𝟐</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𝟐𝟏𝟑</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𝟔</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a:effectLst/>
                                    <a:latin typeface="Cambria Math" panose="02040503050406030204" pitchFamily="18" charset="0"/>
                                    <a:ea typeface="Times New Roman" panose="02020603050405020304" pitchFamily="18" charset="0"/>
                                  </a:rPr>
                                  <m:t>𝟐𝟎𝟑</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𝟔</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𝟐𝟎𝟗</m:t>
                                    </m:r>
                                    <m:r>
                                      <a:rPr lang="en-US" sz="1600" b="1" i="1">
                                        <a:effectLst/>
                                        <a:latin typeface="Cambria Math" panose="02040503050406030204" pitchFamily="18" charset="0"/>
                                        <a:ea typeface="Times New Roman" panose="02020603050405020304" pitchFamily="18" charset="0"/>
                                      </a:rPr>
                                      <m:t>.</m:t>
                                    </m:r>
                                    <m:r>
                                      <a:rPr lang="en-US" sz="1600" b="1" i="1">
                                        <a:effectLst/>
                                        <a:latin typeface="Cambria Math" panose="02040503050406030204" pitchFamily="18" charset="0"/>
                                        <a:ea typeface="Times New Roman" panose="02020603050405020304" pitchFamily="18" charset="0"/>
                                      </a:rPr>
                                      <m:t>𝟕</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b="1" i="1" smtClean="0">
                                    <a:effectLst/>
                                    <a:latin typeface="Cambria Math" panose="02040503050406030204" pitchFamily="18" charset="0"/>
                                    <a:ea typeface="Times New Roman" panose="02020603050405020304" pitchFamily="18" charset="0"/>
                                  </a:rPr>
                                  <m:t>𝟐</m:t>
                                </m:r>
                                <m:r>
                                  <a:rPr lang="fr-FR" sz="1600" b="1" i="1" smtClean="0">
                                    <a:effectLst/>
                                    <a:latin typeface="Cambria Math" panose="02040503050406030204" pitchFamily="18" charset="0"/>
                                    <a:ea typeface="Times New Roman" panose="02020603050405020304" pitchFamily="18" charset="0"/>
                                  </a:rPr>
                                  <m:t>𝟑𝟓</m:t>
                                </m:r>
                                <m:r>
                                  <a:rPr lang="en-US" sz="1600" b="1" i="1">
                                    <a:effectLst/>
                                    <a:latin typeface="Cambria Math" panose="02040503050406030204" pitchFamily="18" charset="0"/>
                                    <a:ea typeface="Times New Roman" panose="02020603050405020304" pitchFamily="18" charset="0"/>
                                  </a:rPr>
                                  <m:t>.</m:t>
                                </m:r>
                                <m:r>
                                  <a:rPr lang="fr-FR" sz="1600" b="1" i="1" smtClean="0">
                                    <a:effectLst/>
                                    <a:latin typeface="Cambria Math" panose="02040503050406030204" pitchFamily="18" charset="0"/>
                                    <a:ea typeface="Times New Roman" panose="02020603050405020304" pitchFamily="18" charset="0"/>
                                  </a:rPr>
                                  <m:t>𝟕</m:t>
                                </m:r>
                                <m:r>
                                  <a:rPr lang="en-US" sz="1600" b="1" i="1">
                                    <a:effectLst/>
                                    <a:latin typeface="Cambria Math" panose="02040503050406030204" pitchFamily="18" charset="0"/>
                                    <a:ea typeface="Times New Roman" panose="02020603050405020304" pitchFamily="18" charset="0"/>
                                  </a:rPr>
                                  <m:t> </m:t>
                                </m:r>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b="1" i="1">
                                        <a:effectLst/>
                                        <a:latin typeface="Cambria Math" panose="02040503050406030204" pitchFamily="18" charset="0"/>
                                        <a:ea typeface="Times New Roman" panose="02020603050405020304" pitchFamily="18" charset="0"/>
                                      </a:rPr>
                                    </m:ctrlPr>
                                  </m:dPr>
                                  <m:e>
                                    <m:r>
                                      <a:rPr lang="en-US" sz="1600" b="1" i="1">
                                        <a:effectLst/>
                                        <a:latin typeface="Cambria Math" panose="02040503050406030204" pitchFamily="18" charset="0"/>
                                        <a:ea typeface="Times New Roman" panose="02020603050405020304" pitchFamily="18" charset="0"/>
                                      </a:rPr>
                                      <m:t>𝟐</m:t>
                                    </m:r>
                                    <m:r>
                                      <a:rPr lang="fr-FR" sz="1600" b="1" i="1" smtClean="0">
                                        <a:effectLst/>
                                        <a:latin typeface="Cambria Math" panose="02040503050406030204" pitchFamily="18" charset="0"/>
                                        <a:ea typeface="Times New Roman" panose="02020603050405020304" pitchFamily="18" charset="0"/>
                                      </a:rPr>
                                      <m:t>𝟑𝟐</m:t>
                                    </m:r>
                                    <m:r>
                                      <a:rPr lang="en-US" sz="1600" b="1" i="1">
                                        <a:effectLst/>
                                        <a:latin typeface="Cambria Math" panose="02040503050406030204" pitchFamily="18" charset="0"/>
                                        <a:ea typeface="Times New Roman" panose="02020603050405020304" pitchFamily="18" charset="0"/>
                                      </a:rPr>
                                      <m:t>.</m:t>
                                    </m:r>
                                    <m:r>
                                      <a:rPr lang="fr-FR" sz="1600" b="1" i="1" smtClean="0">
                                        <a:effectLst/>
                                        <a:latin typeface="Cambria Math" panose="02040503050406030204" pitchFamily="18" charset="0"/>
                                        <a:ea typeface="Times New Roman" panose="02020603050405020304" pitchFamily="18" charset="0"/>
                                      </a:rPr>
                                      <m:t>𝟒</m:t>
                                    </m:r>
                                  </m:e>
                                </m:d>
                              </m:oMath>
                            </m:oMathPara>
                          </a14:m>
                          <a:endPar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60152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GB" sz="1600" i="1" kern="1200" smtClean="0">
                                        <a:solidFill>
                                          <a:schemeClr val="dk1"/>
                                        </a:solidFill>
                                        <a:effectLst/>
                                        <a:latin typeface="Cambria Math" panose="02040503050406030204" pitchFamily="18" charset="0"/>
                                        <a:ea typeface="+mn-ea"/>
                                        <a:cs typeface="+mn-cs"/>
                                      </a:rPr>
                                    </m:ctrlPr>
                                  </m:sSubPr>
                                  <m:e>
                                    <m:r>
                                      <a:rPr lang="en-US" sz="1600" i="1" kern="1200">
                                        <a:solidFill>
                                          <a:schemeClr val="dk1"/>
                                        </a:solidFill>
                                        <a:effectLst/>
                                        <a:latin typeface="Cambria Math" panose="02040503050406030204" pitchFamily="18" charset="0"/>
                                        <a:ea typeface="+mn-ea"/>
                                        <a:cs typeface="+mn-cs"/>
                                      </a:rPr>
                                      <m:t>𝛿</m:t>
                                    </m:r>
                                  </m:e>
                                  <m:sub>
                                    <m:r>
                                      <a:rPr lang="en-US" sz="1600" i="1" kern="1200">
                                        <a:solidFill>
                                          <a:schemeClr val="dk1"/>
                                        </a:solidFill>
                                        <a:effectLst/>
                                        <a:latin typeface="Cambria Math" panose="02040503050406030204" pitchFamily="18" charset="0"/>
                                        <a:ea typeface="+mn-ea"/>
                                        <a:cs typeface="+mn-cs"/>
                                      </a:rPr>
                                      <m:t>𝑑𝑒𝑓𝑖𝑐𝑖𝑡𝑠</m:t>
                                    </m:r>
                                  </m:sub>
                                </m:sSub>
                              </m:oMath>
                            </m:oMathPara>
                          </a14:m>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1.46 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0.71</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1.37 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0.20</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1.44 </m:t>
                                </m:r>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0.68</m:t>
                                    </m:r>
                                  </m:e>
                                </m:d>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1.38 </m:t>
                                </m:r>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0.57</m:t>
                                    </m:r>
                                  </m:e>
                                </m:d>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1.40 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0.57</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fr-FR" sz="1600" b="0" i="1" smtClean="0">
                                    <a:effectLst/>
                                    <a:latin typeface="Cambria Math" panose="02040503050406030204" pitchFamily="18" charset="0"/>
                                    <a:ea typeface="Times New Roman" panose="02020603050405020304" pitchFamily="18" charset="0"/>
                                  </a:rPr>
                                  <m:t>1</m:t>
                                </m:r>
                                <m:r>
                                  <a:rPr lang="en-US" sz="1600" i="1">
                                    <a:effectLst/>
                                    <a:latin typeface="Cambria Math" panose="02040503050406030204" pitchFamily="18" charset="0"/>
                                    <a:ea typeface="Times New Roman" panose="02020603050405020304" pitchFamily="18" charset="0"/>
                                  </a:rPr>
                                  <m:t>.3</m:t>
                                </m:r>
                                <m:r>
                                  <a:rPr lang="fr-FR" sz="1600" b="0" i="1" smtClean="0">
                                    <a:effectLst/>
                                    <a:latin typeface="Cambria Math" panose="02040503050406030204" pitchFamily="18" charset="0"/>
                                    <a:ea typeface="Times New Roman" panose="02020603050405020304" pitchFamily="18" charset="0"/>
                                  </a:rPr>
                                  <m:t>2</m:t>
                                </m:r>
                                <m:r>
                                  <a:rPr lang="en-US" sz="1600" i="1">
                                    <a:effectLst/>
                                    <a:latin typeface="Cambria Math" panose="02040503050406030204" pitchFamily="18" charset="0"/>
                                    <a:ea typeface="Times New Roman" panose="02020603050405020304" pitchFamily="18" charset="0"/>
                                  </a:rPr>
                                  <m:t> </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m:t>
                                    </m:r>
                                    <m:r>
                                      <a:rPr lang="fr-FR" sz="1600" b="0" i="1" smtClean="0">
                                        <a:effectLst/>
                                        <a:latin typeface="Cambria Math" panose="02040503050406030204" pitchFamily="18" charset="0"/>
                                        <a:ea typeface="Times New Roman" panose="02020603050405020304" pitchFamily="18" charset="0"/>
                                      </a:rPr>
                                      <m:t>35</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62231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GB" sz="1600" i="1" kern="1200" smtClean="0">
                                        <a:solidFill>
                                          <a:schemeClr val="dk1"/>
                                        </a:solidFill>
                                        <a:effectLst/>
                                        <a:latin typeface="Cambria Math" panose="02040503050406030204" pitchFamily="18" charset="0"/>
                                        <a:ea typeface="+mn-ea"/>
                                        <a:cs typeface="+mn-cs"/>
                                      </a:rPr>
                                    </m:ctrlPr>
                                  </m:sSubPr>
                                  <m:e>
                                    <m:r>
                                      <a:rPr lang="en-US" sz="1600" i="1" kern="1200">
                                        <a:solidFill>
                                          <a:schemeClr val="dk1"/>
                                        </a:solidFill>
                                        <a:effectLst/>
                                        <a:latin typeface="Cambria Math" panose="02040503050406030204" pitchFamily="18" charset="0"/>
                                        <a:ea typeface="+mn-ea"/>
                                        <a:cs typeface="+mn-cs"/>
                                      </a:rPr>
                                      <m:t>𝛿</m:t>
                                    </m:r>
                                  </m:e>
                                  <m:sub>
                                    <m:r>
                                      <a:rPr lang="en-US" sz="1600" i="1" kern="1200">
                                        <a:solidFill>
                                          <a:schemeClr val="dk1"/>
                                        </a:solidFill>
                                        <a:effectLst/>
                                        <a:latin typeface="Cambria Math" panose="02040503050406030204" pitchFamily="18" charset="0"/>
                                        <a:ea typeface="+mn-ea"/>
                                        <a:cs typeface="+mn-cs"/>
                                      </a:rPr>
                                      <m:t>𝑠𝑢𝑟𝑝𝑙𝑢𝑠</m:t>
                                    </m:r>
                                  </m:sub>
                                </m:sSub>
                              </m:oMath>
                            </m:oMathPara>
                          </a14:m>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0.41</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0.62</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0.68</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0.51</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0.39</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0.63</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0.40</m:t>
                                </m:r>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0.45</m:t>
                                    </m:r>
                                  </m:e>
                                </m:d>
                              </m:oMath>
                            </m:oMathPara>
                          </a14:m>
                          <a:endParaRPr lang="en-GB"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600" i="1">
                                    <a:effectLst/>
                                    <a:latin typeface="Cambria Math" panose="02040503050406030204" pitchFamily="18" charset="0"/>
                                    <a:ea typeface="Times New Roman" panose="02020603050405020304" pitchFamily="18" charset="0"/>
                                  </a:rPr>
                                  <m:t>0.44</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en-US" sz="1600" i="1">
                                        <a:effectLst/>
                                        <a:latin typeface="Cambria Math" panose="02040503050406030204" pitchFamily="18" charset="0"/>
                                        <a:ea typeface="Times New Roman" panose="02020603050405020304" pitchFamily="18" charset="0"/>
                                      </a:rPr>
                                      <m:t>0.36</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fr-FR" sz="1600" b="0" i="1" smtClean="0">
                                    <a:effectLst/>
                                    <a:latin typeface="Cambria Math" panose="02040503050406030204" pitchFamily="18" charset="0"/>
                                    <a:ea typeface="Times New Roman" panose="02020603050405020304" pitchFamily="18" charset="0"/>
                                  </a:rPr>
                                  <m:t>5</m:t>
                                </m:r>
                                <m:r>
                                  <a:rPr lang="en-US" sz="1600" i="1">
                                    <a:effectLst/>
                                    <a:latin typeface="Cambria Math" panose="02040503050406030204" pitchFamily="18" charset="0"/>
                                    <a:ea typeface="Times New Roman" panose="02020603050405020304" pitchFamily="18" charset="0"/>
                                  </a:rPr>
                                  <m:t>.</m:t>
                                </m:r>
                                <m:r>
                                  <a:rPr lang="fr-FR" sz="1600" b="0" i="1" smtClean="0">
                                    <a:effectLst/>
                                    <a:latin typeface="Cambria Math" panose="02040503050406030204" pitchFamily="18" charset="0"/>
                                    <a:ea typeface="Times New Roman" panose="02020603050405020304" pitchFamily="18" charset="0"/>
                                  </a:rPr>
                                  <m:t>94</m:t>
                                </m:r>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GB" sz="1600" i="1">
                                        <a:effectLst/>
                                        <a:latin typeface="Cambria Math" panose="02040503050406030204" pitchFamily="18" charset="0"/>
                                        <a:ea typeface="Times New Roman" panose="02020603050405020304" pitchFamily="18" charset="0"/>
                                      </a:rPr>
                                    </m:ctrlPr>
                                  </m:dPr>
                                  <m:e>
                                    <m:r>
                                      <a:rPr lang="fr-FR" sz="1600" b="0" i="1" smtClean="0">
                                        <a:effectLst/>
                                        <a:latin typeface="Cambria Math" panose="02040503050406030204" pitchFamily="18" charset="0"/>
                                        <a:ea typeface="Times New Roman" panose="02020603050405020304" pitchFamily="18" charset="0"/>
                                      </a:rPr>
                                      <m:t>0.95</m:t>
                                    </m:r>
                                  </m:e>
                                </m:d>
                              </m:oMath>
                            </m:oMathPara>
                          </a14:m>
                          <a:endParaRPr lang="en-GB"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8533124"/>
                      </a:ext>
                    </a:extLst>
                  </a:tr>
                </a:tbl>
              </a:graphicData>
            </a:graphic>
          </p:graphicFrame>
        </mc:Choice>
        <mc:Fallback xmlns="">
          <p:graphicFrame>
            <p:nvGraphicFramePr>
              <p:cNvPr id="8" name="Tableau 8">
                <a:extLst>
                  <a:ext uri="{FF2B5EF4-FFF2-40B4-BE49-F238E27FC236}">
                    <a16:creationId xmlns:a16="http://schemas.microsoft.com/office/drawing/2014/main" id="{AC48A2CC-9C51-444B-9853-E76F3996FC04}"/>
                  </a:ext>
                </a:extLst>
              </p:cNvPr>
              <p:cNvGraphicFramePr>
                <a:graphicFrameLocks noGrp="1"/>
              </p:cNvGraphicFramePr>
              <p:nvPr>
                <p:extLst>
                  <p:ext uri="{D42A27DB-BD31-4B8C-83A1-F6EECF244321}">
                    <p14:modId xmlns:p14="http://schemas.microsoft.com/office/powerpoint/2010/main" val="3745567724"/>
                  </p:ext>
                </p:extLst>
              </p:nvPr>
            </p:nvGraphicFramePr>
            <p:xfrm>
              <a:off x="1184560" y="2643380"/>
              <a:ext cx="10176163" cy="3039129"/>
            </p:xfrm>
            <a:graphic>
              <a:graphicData uri="http://schemas.openxmlformats.org/drawingml/2006/table">
                <a:tbl>
                  <a:tblPr firstRow="1" bandRow="1">
                    <a:tableStyleId>{5C22544A-7EE6-4342-B048-85BDC9FD1C3A}</a:tableStyleId>
                  </a:tblPr>
                  <a:tblGrid>
                    <a:gridCol w="1832263">
                      <a:extLst>
                        <a:ext uri="{9D8B030D-6E8A-4147-A177-3AD203B41FA5}">
                          <a16:colId xmlns:a16="http://schemas.microsoft.com/office/drawing/2014/main" val="1774977320"/>
                        </a:ext>
                      </a:extLst>
                    </a:gridCol>
                    <a:gridCol w="1580112">
                      <a:extLst>
                        <a:ext uri="{9D8B030D-6E8A-4147-A177-3AD203B41FA5}">
                          <a16:colId xmlns:a16="http://schemas.microsoft.com/office/drawing/2014/main" val="3486168554"/>
                        </a:ext>
                      </a:extLst>
                    </a:gridCol>
                    <a:gridCol w="1267691">
                      <a:extLst>
                        <a:ext uri="{9D8B030D-6E8A-4147-A177-3AD203B41FA5}">
                          <a16:colId xmlns:a16="http://schemas.microsoft.com/office/drawing/2014/main" val="2358875669"/>
                        </a:ext>
                      </a:extLst>
                    </a:gridCol>
                    <a:gridCol w="1288473">
                      <a:extLst>
                        <a:ext uri="{9D8B030D-6E8A-4147-A177-3AD203B41FA5}">
                          <a16:colId xmlns:a16="http://schemas.microsoft.com/office/drawing/2014/main" val="1523047276"/>
                        </a:ext>
                      </a:extLst>
                    </a:gridCol>
                    <a:gridCol w="1257300">
                      <a:extLst>
                        <a:ext uri="{9D8B030D-6E8A-4147-A177-3AD203B41FA5}">
                          <a16:colId xmlns:a16="http://schemas.microsoft.com/office/drawing/2014/main" val="2341420094"/>
                        </a:ext>
                      </a:extLst>
                    </a:gridCol>
                    <a:gridCol w="1395645">
                      <a:extLst>
                        <a:ext uri="{9D8B030D-6E8A-4147-A177-3AD203B41FA5}">
                          <a16:colId xmlns:a16="http://schemas.microsoft.com/office/drawing/2014/main" val="1618731837"/>
                        </a:ext>
                      </a:extLst>
                    </a:gridCol>
                    <a:gridCol w="1554679">
                      <a:extLst>
                        <a:ext uri="{9D8B030D-6E8A-4147-A177-3AD203B41FA5}">
                          <a16:colId xmlns:a16="http://schemas.microsoft.com/office/drawing/2014/main" val="3775980799"/>
                        </a:ext>
                      </a:extLst>
                    </a:gridCol>
                  </a:tblGrid>
                  <a:tr h="579120">
                    <a:tc>
                      <a:txBody>
                        <a:bodyPr/>
                        <a:lstStyle/>
                        <a:p>
                          <a:pPr algn="ctr"/>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Physical MPC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Hybrid MPC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Rule-based (80°C)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390481"/>
                      </a:ext>
                    </a:extLst>
                  </a:tr>
                  <a:tr h="370840">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Cluster replaced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258865"/>
                      </a:ext>
                    </a:extLst>
                  </a:tr>
                  <a:tr h="534689">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dt (hour)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602" t="-179545" r="-429344" b="-2943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9712" t="-179545" r="-434615" b="-2943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455" t="-179545" r="-328436" b="-2943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3430" t="-179545" r="-234783" b="-2943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1" t="-179545" r="-112227" b="-2943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5294" t="-179545" r="-784" b="-294318"/>
                          </a:stretch>
                        </a:blipFill>
                      </a:tcPr>
                    </a:tc>
                    <a:extLst>
                      <a:ext uri="{0D108BD9-81ED-4DB2-BD59-A6C34878D82A}">
                        <a16:rowId xmlns:a16="http://schemas.microsoft.com/office/drawing/2014/main" val="3994334734"/>
                      </a:ext>
                    </a:extLst>
                  </a:tr>
                  <a:tr h="579120">
                    <a:tc>
                      <a:txBody>
                        <a:bodyPr/>
                        <a:lstStyle/>
                        <a:p>
                          <a:pPr algn="ctr"/>
                          <a:r>
                            <a:rPr lang="en-US" sz="1600" b="1" dirty="0">
                              <a:solidFill>
                                <a:schemeClr val="tx1"/>
                              </a:solidFill>
                              <a:latin typeface="Times New Roman" panose="02020603050405020304" pitchFamily="18" charset="0"/>
                              <a:cs typeface="Times New Roman" panose="02020603050405020304" pitchFamily="18" charset="0"/>
                            </a:rPr>
                            <a:t>Produced heat energy (MWh)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602" t="-256250" r="-429344" b="-1697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9712" t="-256250" r="-434615" b="-1697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455" t="-256250" r="-328436" b="-1697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3430" t="-256250" r="-234783" b="-1697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1" t="-256250" r="-112227" b="-1697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5294" t="-256250" r="-784" b="-169792"/>
                          </a:stretch>
                        </a:blipFill>
                      </a:tcPr>
                    </a:tc>
                    <a:extLst>
                      <a:ext uri="{0D108BD9-81ED-4DB2-BD59-A6C34878D82A}">
                        <a16:rowId xmlns:a16="http://schemas.microsoft.com/office/drawing/2014/main" val="1661601520"/>
                      </a:ext>
                    </a:extLst>
                  </a:tr>
                  <a:tr h="4876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2" t="-427500" r="-455482"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602" t="-427500" r="-429344"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9712" t="-427500" r="-434615"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455" t="-427500" r="-328436"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3430" t="-427500" r="-234783"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1" t="-427500" r="-112227" b="-10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5294" t="-427500" r="-784" b="-103750"/>
                          </a:stretch>
                        </a:blipFill>
                      </a:tcPr>
                    </a:tc>
                    <a:extLst>
                      <a:ext uri="{0D108BD9-81ED-4DB2-BD59-A6C34878D82A}">
                        <a16:rowId xmlns:a16="http://schemas.microsoft.com/office/drawing/2014/main" val="1908622311"/>
                      </a:ext>
                    </a:extLst>
                  </a:tr>
                  <a:tr h="4876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2" t="-527500" r="-455482"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602" t="-527500" r="-429344"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9712" t="-527500" r="-434615"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455" t="-527500" r="-328436"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3430" t="-527500" r="-234783"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1" t="-527500" r="-112227" b="-375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5294" t="-527500" r="-784" b="-3750"/>
                          </a:stretch>
                        </a:blipFill>
                      </a:tcPr>
                    </a:tc>
                    <a:extLst>
                      <a:ext uri="{0D108BD9-81ED-4DB2-BD59-A6C34878D82A}">
                        <a16:rowId xmlns:a16="http://schemas.microsoft.com/office/drawing/2014/main" val="2008533124"/>
                      </a:ext>
                    </a:extLst>
                  </a:tr>
                </a:tbl>
              </a:graphicData>
            </a:graphic>
          </p:graphicFrame>
        </mc:Fallback>
      </mc:AlternateContent>
      <p:sp>
        <p:nvSpPr>
          <p:cNvPr id="9" name="ZoneTexte 8">
            <a:extLst>
              <a:ext uri="{FF2B5EF4-FFF2-40B4-BE49-F238E27FC236}">
                <a16:creationId xmlns:a16="http://schemas.microsoft.com/office/drawing/2014/main" id="{C3BB6900-F5C1-4417-895F-7F77A40B057B}"/>
              </a:ext>
            </a:extLst>
          </p:cNvPr>
          <p:cNvSpPr txBox="1"/>
          <p:nvPr/>
        </p:nvSpPr>
        <p:spPr>
          <a:xfrm>
            <a:off x="2781296" y="5843071"/>
            <a:ext cx="6982690" cy="369332"/>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Hybrid MPC has satisfyingly conserved the objective function values</a:t>
            </a:r>
          </a:p>
        </p:txBody>
      </p:sp>
      <p:pic>
        <p:nvPicPr>
          <p:cNvPr id="11" name="Image 10">
            <a:extLst>
              <a:ext uri="{FF2B5EF4-FFF2-40B4-BE49-F238E27FC236}">
                <a16:creationId xmlns:a16="http://schemas.microsoft.com/office/drawing/2014/main" id="{56953659-BCC5-4540-AA2F-0FC341D59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2" name="Image 11">
            <a:extLst>
              <a:ext uri="{FF2B5EF4-FFF2-40B4-BE49-F238E27FC236}">
                <a16:creationId xmlns:a16="http://schemas.microsoft.com/office/drawing/2014/main" id="{7FCC8395-45E9-499B-BF6B-D77BDA371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3" name="Image 12">
            <a:extLst>
              <a:ext uri="{FF2B5EF4-FFF2-40B4-BE49-F238E27FC236}">
                <a16:creationId xmlns:a16="http://schemas.microsoft.com/office/drawing/2014/main" id="{A099562D-B21A-4799-B41C-A6970B3FDC24}"/>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4" name="ZoneTexte 13">
            <a:extLst>
              <a:ext uri="{FF2B5EF4-FFF2-40B4-BE49-F238E27FC236}">
                <a16:creationId xmlns:a16="http://schemas.microsoft.com/office/drawing/2014/main" id="{3B52E14B-99ED-453B-B0DC-424764FF4D21}"/>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9</a:t>
            </a:r>
          </a:p>
        </p:txBody>
      </p:sp>
      <p:sp>
        <p:nvSpPr>
          <p:cNvPr id="5" name="Rectangle : coins arrondis 4">
            <a:extLst>
              <a:ext uri="{FF2B5EF4-FFF2-40B4-BE49-F238E27FC236}">
                <a16:creationId xmlns:a16="http://schemas.microsoft.com/office/drawing/2014/main" id="{694F0ACA-699C-4E29-B4F1-D40AFDCAFA7A}"/>
              </a:ext>
            </a:extLst>
          </p:cNvPr>
          <p:cNvSpPr/>
          <p:nvPr/>
        </p:nvSpPr>
        <p:spPr>
          <a:xfrm>
            <a:off x="914399" y="4120586"/>
            <a:ext cx="8958789" cy="555585"/>
          </a:xfrm>
          <a:prstGeom prst="roundRect">
            <a:avLst/>
          </a:prstGeom>
          <a:noFill/>
          <a:ln w="3810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887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Results (CPU gains)</a:t>
            </a:r>
          </a:p>
        </p:txBody>
      </p:sp>
      <p:sp>
        <p:nvSpPr>
          <p:cNvPr id="9" name="ZoneTexte 8">
            <a:extLst>
              <a:ext uri="{FF2B5EF4-FFF2-40B4-BE49-F238E27FC236}">
                <a16:creationId xmlns:a16="http://schemas.microsoft.com/office/drawing/2014/main" id="{C3BB6900-F5C1-4417-895F-7F77A40B057B}"/>
              </a:ext>
            </a:extLst>
          </p:cNvPr>
          <p:cNvSpPr txBox="1"/>
          <p:nvPr/>
        </p:nvSpPr>
        <p:spPr>
          <a:xfrm>
            <a:off x="6531451" y="2948924"/>
            <a:ext cx="4624227"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Decrease of optimization computational time proportionally to the clusters sizes</a:t>
            </a:r>
          </a:p>
        </p:txBody>
      </p:sp>
      <p:pic>
        <p:nvPicPr>
          <p:cNvPr id="7" name="Image 6">
            <a:extLst>
              <a:ext uri="{FF2B5EF4-FFF2-40B4-BE49-F238E27FC236}">
                <a16:creationId xmlns:a16="http://schemas.microsoft.com/office/drawing/2014/main" id="{032A4539-A4EF-488D-B8AA-9A3959373888}"/>
              </a:ext>
            </a:extLst>
          </p:cNvPr>
          <p:cNvPicPr/>
          <p:nvPr/>
        </p:nvPicPr>
        <p:blipFill>
          <a:blip r:embed="rId3">
            <a:extLst>
              <a:ext uri="{28A0092B-C50C-407E-A947-70E740481C1C}">
                <a14:useLocalDpi xmlns:a14="http://schemas.microsoft.com/office/drawing/2010/main" val="0"/>
              </a:ext>
            </a:extLst>
          </a:blip>
          <a:stretch>
            <a:fillRect/>
          </a:stretch>
        </p:blipFill>
        <p:spPr>
          <a:xfrm>
            <a:off x="1097280" y="1743874"/>
            <a:ext cx="5232637" cy="4536051"/>
          </a:xfrm>
          <a:prstGeom prst="rect">
            <a:avLst/>
          </a:prstGeom>
        </p:spPr>
      </p:pic>
      <p:sp>
        <p:nvSpPr>
          <p:cNvPr id="10" name="ZoneTexte 9">
            <a:extLst>
              <a:ext uri="{FF2B5EF4-FFF2-40B4-BE49-F238E27FC236}">
                <a16:creationId xmlns:a16="http://schemas.microsoft.com/office/drawing/2014/main" id="{77E764AB-497B-40EB-997A-CE3786987B19}"/>
              </a:ext>
            </a:extLst>
          </p:cNvPr>
          <p:cNvSpPr txBox="1"/>
          <p:nvPr/>
        </p:nvSpPr>
        <p:spPr>
          <a:xfrm>
            <a:off x="6531451" y="3989755"/>
            <a:ext cx="4624227" cy="369332"/>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9 % decrease for largest cluster  </a:t>
            </a:r>
          </a:p>
        </p:txBody>
      </p:sp>
      <p:sp>
        <p:nvSpPr>
          <p:cNvPr id="11" name="ZoneTexte 10">
            <a:extLst>
              <a:ext uri="{FF2B5EF4-FFF2-40B4-BE49-F238E27FC236}">
                <a16:creationId xmlns:a16="http://schemas.microsoft.com/office/drawing/2014/main" id="{BB23B089-2489-46E7-9168-D9DC4E7A7455}"/>
              </a:ext>
            </a:extLst>
          </p:cNvPr>
          <p:cNvSpPr txBox="1"/>
          <p:nvPr/>
        </p:nvSpPr>
        <p:spPr>
          <a:xfrm>
            <a:off x="13352609" y="4174421"/>
            <a:ext cx="4846595"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Predicting the temperatures (cluster K4) is </a:t>
            </a:r>
            <a:r>
              <a:rPr lang="en-US" b="1" dirty="0">
                <a:latin typeface="Times New Roman" panose="02020603050405020304" pitchFamily="18" charset="0"/>
                <a:cs typeface="Times New Roman" panose="02020603050405020304" pitchFamily="18" charset="0"/>
              </a:rPr>
              <a:t>2x faster in CPU </a:t>
            </a:r>
            <a:r>
              <a:rPr lang="en-US" dirty="0">
                <a:latin typeface="Times New Roman" panose="02020603050405020304" pitchFamily="18" charset="0"/>
                <a:cs typeface="Times New Roman" panose="02020603050405020304" pitchFamily="18" charset="0"/>
              </a:rPr>
              <a:t>time than simulating the cluster</a:t>
            </a:r>
          </a:p>
        </p:txBody>
      </p:sp>
      <p:pic>
        <p:nvPicPr>
          <p:cNvPr id="12" name="Image 11">
            <a:extLst>
              <a:ext uri="{FF2B5EF4-FFF2-40B4-BE49-F238E27FC236}">
                <a16:creationId xmlns:a16="http://schemas.microsoft.com/office/drawing/2014/main" id="{F5B28D96-FF1E-4057-80DA-D9A1CE2EF3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3" name="Image 12">
            <a:extLst>
              <a:ext uri="{FF2B5EF4-FFF2-40B4-BE49-F238E27FC236}">
                <a16:creationId xmlns:a16="http://schemas.microsoft.com/office/drawing/2014/main" id="{767650C8-579A-4B26-9E80-53A3A402D1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4" name="Image 13">
            <a:extLst>
              <a:ext uri="{FF2B5EF4-FFF2-40B4-BE49-F238E27FC236}">
                <a16:creationId xmlns:a16="http://schemas.microsoft.com/office/drawing/2014/main" id="{BF7AEA65-FB08-40C8-9D9F-9F3FBEC93C59}"/>
              </a:ext>
            </a:extLst>
          </p:cNvPr>
          <p:cNvPicPr>
            <a:picLocks noChangeAspect="1"/>
          </p:cNvPicPr>
          <p:nvPr/>
        </p:nvPicPr>
        <p:blipFill rotWithShape="1">
          <a:blip r:embed="rId6">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
        <p:nvSpPr>
          <p:cNvPr id="18" name="ZoneTexte 17">
            <a:extLst>
              <a:ext uri="{FF2B5EF4-FFF2-40B4-BE49-F238E27FC236}">
                <a16:creationId xmlns:a16="http://schemas.microsoft.com/office/drawing/2014/main" id="{B890362A-43BF-4D2C-AF50-587BC8FE3888}"/>
              </a:ext>
            </a:extLst>
          </p:cNvPr>
          <p:cNvSpPr txBox="1"/>
          <p:nvPr/>
        </p:nvSpPr>
        <p:spPr>
          <a:xfrm>
            <a:off x="11399271" y="5976454"/>
            <a:ext cx="792729" cy="369332"/>
          </a:xfrm>
          <a:prstGeom prst="rect">
            <a:avLst/>
          </a:prstGeom>
          <a:noFill/>
        </p:spPr>
        <p:txBody>
          <a:bodyPr wrap="square" rtlCol="0">
            <a:spAutoFit/>
          </a:bodyPr>
          <a:lstStyle/>
          <a:p>
            <a:pPr algn="r"/>
            <a:r>
              <a:rPr lang="en-US" dirty="0">
                <a:latin typeface="Times New Roman" panose="02020603050405020304" pitchFamily="18" charset="0"/>
                <a:cs typeface="Times New Roman" panose="02020603050405020304" pitchFamily="18" charset="0"/>
              </a:rPr>
              <a:t>10</a:t>
            </a:r>
          </a:p>
        </p:txBody>
      </p:sp>
      <p:sp>
        <p:nvSpPr>
          <p:cNvPr id="15" name="ZoneTexte 14">
            <a:extLst>
              <a:ext uri="{FF2B5EF4-FFF2-40B4-BE49-F238E27FC236}">
                <a16:creationId xmlns:a16="http://schemas.microsoft.com/office/drawing/2014/main" id="{37EC0933-47CE-4B6A-939D-1F5C809582DA}"/>
              </a:ext>
            </a:extLst>
          </p:cNvPr>
          <p:cNvSpPr txBox="1"/>
          <p:nvPr/>
        </p:nvSpPr>
        <p:spPr>
          <a:xfrm>
            <a:off x="6531451" y="4820752"/>
            <a:ext cx="4846595"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Effective gains come from the repetitive simulation and optimization</a:t>
            </a:r>
          </a:p>
        </p:txBody>
      </p:sp>
      <p:cxnSp>
        <p:nvCxnSpPr>
          <p:cNvPr id="4" name="Connecteur droit avec flèche 3">
            <a:extLst>
              <a:ext uri="{FF2B5EF4-FFF2-40B4-BE49-F238E27FC236}">
                <a16:creationId xmlns:a16="http://schemas.microsoft.com/office/drawing/2014/main" id="{2240637C-3F32-4A12-8FE9-903001F50978}"/>
              </a:ext>
            </a:extLst>
          </p:cNvPr>
          <p:cNvCxnSpPr/>
          <p:nvPr/>
        </p:nvCxnSpPr>
        <p:spPr>
          <a:xfrm>
            <a:off x="2827421" y="3296653"/>
            <a:ext cx="1973179" cy="18889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59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6E285-969A-4A41-A18E-1BA6E46F0720}"/>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Conclusion and perspectives</a:t>
            </a:r>
          </a:p>
        </p:txBody>
      </p:sp>
      <p:sp>
        <p:nvSpPr>
          <p:cNvPr id="8" name="ZoneTexte 7">
            <a:extLst>
              <a:ext uri="{FF2B5EF4-FFF2-40B4-BE49-F238E27FC236}">
                <a16:creationId xmlns:a16="http://schemas.microsoft.com/office/drawing/2014/main" id="{06F5392B-2F80-4E85-9C6D-29B5AC6C2A12}"/>
              </a:ext>
            </a:extLst>
          </p:cNvPr>
          <p:cNvSpPr txBox="1"/>
          <p:nvPr/>
        </p:nvSpPr>
        <p:spPr>
          <a:xfrm>
            <a:off x="1813977" y="2140174"/>
            <a:ext cx="7828786" cy="64633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 proposed an hybrid MPC approach to optimally control DHNs with lower CPU time</a:t>
            </a:r>
          </a:p>
        </p:txBody>
      </p:sp>
      <p:sp>
        <p:nvSpPr>
          <p:cNvPr id="12" name="ZoneTexte 11">
            <a:extLst>
              <a:ext uri="{FF2B5EF4-FFF2-40B4-BE49-F238E27FC236}">
                <a16:creationId xmlns:a16="http://schemas.microsoft.com/office/drawing/2014/main" id="{E305704D-81D3-478E-A873-24780EB05FB2}"/>
              </a:ext>
            </a:extLst>
          </p:cNvPr>
          <p:cNvSpPr txBox="1"/>
          <p:nvPr/>
        </p:nvSpPr>
        <p:spPr>
          <a:xfrm>
            <a:off x="1813977" y="3243347"/>
            <a:ext cx="7828786" cy="64633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Surrogate Neural Networks based models learn and replace consumers clusters within the DHNs</a:t>
            </a:r>
          </a:p>
        </p:txBody>
      </p:sp>
      <p:sp>
        <p:nvSpPr>
          <p:cNvPr id="13" name="ZoneTexte 12">
            <a:extLst>
              <a:ext uri="{FF2B5EF4-FFF2-40B4-BE49-F238E27FC236}">
                <a16:creationId xmlns:a16="http://schemas.microsoft.com/office/drawing/2014/main" id="{F8140656-E87F-4143-A04E-726E527BA787}"/>
              </a:ext>
            </a:extLst>
          </p:cNvPr>
          <p:cNvSpPr txBox="1"/>
          <p:nvPr/>
        </p:nvSpPr>
        <p:spPr>
          <a:xfrm>
            <a:off x="1813977" y="4346521"/>
            <a:ext cx="7828786" cy="369332"/>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Satisfying accuracy and computational time reductions validate our approach</a:t>
            </a:r>
          </a:p>
        </p:txBody>
      </p:sp>
      <p:sp>
        <p:nvSpPr>
          <p:cNvPr id="14" name="ZoneTexte 13">
            <a:extLst>
              <a:ext uri="{FF2B5EF4-FFF2-40B4-BE49-F238E27FC236}">
                <a16:creationId xmlns:a16="http://schemas.microsoft.com/office/drawing/2014/main" id="{6BED13BE-33CB-4951-93A6-9359E9AC9A41}"/>
              </a:ext>
            </a:extLst>
          </p:cNvPr>
          <p:cNvSpPr txBox="1"/>
          <p:nvPr/>
        </p:nvSpPr>
        <p:spPr>
          <a:xfrm>
            <a:off x="1813977" y="5355881"/>
            <a:ext cx="7828786" cy="369332"/>
          </a:xfrm>
          <a:prstGeom prst="rect">
            <a:avLst/>
          </a:prstGeom>
          <a:noFill/>
        </p:spPr>
        <p:txBody>
          <a:bodyPr wrap="square" rtlCol="0">
            <a:spAutoFit/>
          </a:bodyPr>
          <a:lstStyle/>
          <a:p>
            <a:pPr marL="285750" indent="-285750"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Further reduction of CPU times will be considered </a:t>
            </a:r>
          </a:p>
        </p:txBody>
      </p:sp>
      <p:pic>
        <p:nvPicPr>
          <p:cNvPr id="15" name="Image 14">
            <a:extLst>
              <a:ext uri="{FF2B5EF4-FFF2-40B4-BE49-F238E27FC236}">
                <a16:creationId xmlns:a16="http://schemas.microsoft.com/office/drawing/2014/main" id="{A03F6B5F-354F-45CA-BA7A-A3E82AB133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189" y="183847"/>
            <a:ext cx="1282491" cy="568859"/>
          </a:xfrm>
          <a:prstGeom prst="rect">
            <a:avLst/>
          </a:prstGeom>
        </p:spPr>
      </p:pic>
      <p:pic>
        <p:nvPicPr>
          <p:cNvPr id="16" name="Image 15">
            <a:extLst>
              <a:ext uri="{FF2B5EF4-FFF2-40B4-BE49-F238E27FC236}">
                <a16:creationId xmlns:a16="http://schemas.microsoft.com/office/drawing/2014/main" id="{CF21338A-1503-4835-BD68-16264F203F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130" y="154060"/>
            <a:ext cx="692150" cy="628432"/>
          </a:xfrm>
          <a:prstGeom prst="rect">
            <a:avLst/>
          </a:prstGeom>
        </p:spPr>
      </p:pic>
      <p:pic>
        <p:nvPicPr>
          <p:cNvPr id="17" name="Image 16">
            <a:extLst>
              <a:ext uri="{FF2B5EF4-FFF2-40B4-BE49-F238E27FC236}">
                <a16:creationId xmlns:a16="http://schemas.microsoft.com/office/drawing/2014/main" id="{FF8A0F3A-2070-401E-B165-6F2259D9B1C6}"/>
              </a:ext>
            </a:extLst>
          </p:cNvPr>
          <p:cNvPicPr>
            <a:picLocks noChangeAspect="1"/>
          </p:cNvPicPr>
          <p:nvPr/>
        </p:nvPicPr>
        <p:blipFill rotWithShape="1">
          <a:blip r:embed="rId5">
            <a:extLst>
              <a:ext uri="{28A0092B-C50C-407E-A947-70E740481C1C}">
                <a14:useLocalDpi xmlns:a14="http://schemas.microsoft.com/office/drawing/2010/main" val="0"/>
              </a:ext>
            </a:extLst>
          </a:blip>
          <a:srcRect l="5138" t="11002" r="8090" b="12828"/>
          <a:stretch/>
        </p:blipFill>
        <p:spPr>
          <a:xfrm>
            <a:off x="0" y="35867"/>
            <a:ext cx="1349041" cy="805249"/>
          </a:xfrm>
          <a:prstGeom prst="rect">
            <a:avLst/>
          </a:prstGeom>
        </p:spPr>
      </p:pic>
    </p:spTree>
    <p:extLst>
      <p:ext uri="{BB962C8B-B14F-4D97-AF65-F5344CB8AC3E}">
        <p14:creationId xmlns:p14="http://schemas.microsoft.com/office/powerpoint/2010/main" val="1439433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2A62559C-2F9E-493F-B457-1B46438670D9}"/>
              </a:ext>
            </a:extLst>
          </p:cNvPr>
          <p:cNvSpPr txBox="1"/>
          <p:nvPr/>
        </p:nvSpPr>
        <p:spPr>
          <a:xfrm>
            <a:off x="2597069" y="1869841"/>
            <a:ext cx="6997860" cy="769441"/>
          </a:xfrm>
          <a:prstGeom prst="rect">
            <a:avLst/>
          </a:prstGeom>
          <a:noFill/>
        </p:spPr>
        <p:txBody>
          <a:bodyPr wrap="square">
            <a:spAutoFit/>
          </a:bodyPr>
          <a:lstStyle/>
          <a:p>
            <a:pPr algn="ctr"/>
            <a:r>
              <a:rPr lang="en-US" sz="4400" dirty="0">
                <a:solidFill>
                  <a:srgbClr val="00B0F0"/>
                </a:solidFill>
                <a:latin typeface="Times New Roman" panose="02020603050405020304" pitchFamily="18" charset="0"/>
                <a:cs typeface="Times New Roman" panose="02020603050405020304" pitchFamily="18" charset="0"/>
              </a:rPr>
              <a:t>Thank you for your attention</a:t>
            </a:r>
            <a:endParaRPr lang="en-US" sz="4400" dirty="0">
              <a:solidFill>
                <a:srgbClr val="00B0F0"/>
              </a:solidFill>
            </a:endParaRPr>
          </a:p>
        </p:txBody>
      </p:sp>
      <p:sp>
        <p:nvSpPr>
          <p:cNvPr id="4" name="ZoneTexte 3">
            <a:extLst>
              <a:ext uri="{FF2B5EF4-FFF2-40B4-BE49-F238E27FC236}">
                <a16:creationId xmlns:a16="http://schemas.microsoft.com/office/drawing/2014/main" id="{CC8B7AB7-9EC1-4AD1-B1BD-1B727CDDA4BE}"/>
              </a:ext>
            </a:extLst>
          </p:cNvPr>
          <p:cNvSpPr txBox="1"/>
          <p:nvPr/>
        </p:nvSpPr>
        <p:spPr>
          <a:xfrm>
            <a:off x="4565488" y="2945757"/>
            <a:ext cx="3061021"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Questions ?</a:t>
            </a:r>
          </a:p>
        </p:txBody>
      </p:sp>
      <p:pic>
        <p:nvPicPr>
          <p:cNvPr id="6" name="Image 5">
            <a:extLst>
              <a:ext uri="{FF2B5EF4-FFF2-40B4-BE49-F238E27FC236}">
                <a16:creationId xmlns:a16="http://schemas.microsoft.com/office/drawing/2014/main" id="{7B33A8CF-56E5-4D90-AAC7-ADE1A3145B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5466" y="4768562"/>
            <a:ext cx="1216066" cy="1216066"/>
          </a:xfrm>
          <a:prstGeom prst="rect">
            <a:avLst/>
          </a:prstGeom>
        </p:spPr>
      </p:pic>
      <p:sp>
        <p:nvSpPr>
          <p:cNvPr id="7" name="ZoneTexte 6">
            <a:extLst>
              <a:ext uri="{FF2B5EF4-FFF2-40B4-BE49-F238E27FC236}">
                <a16:creationId xmlns:a16="http://schemas.microsoft.com/office/drawing/2014/main" id="{FEE6E1EF-AEA7-46EE-95FE-276BDF15F94E}"/>
              </a:ext>
            </a:extLst>
          </p:cNvPr>
          <p:cNvSpPr txBox="1"/>
          <p:nvPr/>
        </p:nvSpPr>
        <p:spPr>
          <a:xfrm>
            <a:off x="12374124" y="3854823"/>
            <a:ext cx="1407408"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Contact</a:t>
            </a:r>
          </a:p>
        </p:txBody>
      </p:sp>
    </p:spTree>
    <p:extLst>
      <p:ext uri="{BB962C8B-B14F-4D97-AF65-F5344CB8AC3E}">
        <p14:creationId xmlns:p14="http://schemas.microsoft.com/office/powerpoint/2010/main" val="2147954645"/>
      </p:ext>
    </p:extLst>
  </p:cSld>
  <p:clrMapOvr>
    <a:masterClrMapping/>
  </p:clrMapOvr>
</p:sld>
</file>

<file path=ppt/theme/theme1.xml><?xml version="1.0" encoding="utf-8"?>
<a:theme xmlns:a="http://schemas.openxmlformats.org/drawingml/2006/main" name="Rétrospective">
  <a:themeElements>
    <a:clrScheme name="Bleu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ba76e9f-4f2f-4519-971e-cbbbafc6fb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4A25B986E9CB141BC9F05ED1BFF851D" ma:contentTypeVersion="8" ma:contentTypeDescription="Crée un document." ma:contentTypeScope="" ma:versionID="35ca94328866e4f901204d3007f23855">
  <xsd:schema xmlns:xsd="http://www.w3.org/2001/XMLSchema" xmlns:xs="http://www.w3.org/2001/XMLSchema" xmlns:p="http://schemas.microsoft.com/office/2006/metadata/properties" xmlns:ns3="eba76e9f-4f2f-4519-971e-cbbbafc6fbcb" xmlns:ns4="9a468b09-1a0d-4693-b2da-f886d104b45f" targetNamespace="http://schemas.microsoft.com/office/2006/metadata/properties" ma:root="true" ma:fieldsID="a3d6fea45bed797f3e804397c7d32ce4" ns3:_="" ns4:_="">
    <xsd:import namespace="eba76e9f-4f2f-4519-971e-cbbbafc6fbcb"/>
    <xsd:import namespace="9a468b09-1a0d-4693-b2da-f886d104b45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76e9f-4f2f-4519-971e-cbbbafc6fb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468b09-1a0d-4693-b2da-f886d104b45f" elementFormDefault="qualified">
    <xsd:import namespace="http://schemas.microsoft.com/office/2006/documentManagement/types"/>
    <xsd:import namespace="http://schemas.microsoft.com/office/infopath/2007/PartnerControls"/>
    <xsd:element name="SharedWithUsers" ma:index="13"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Partagé avec détails" ma:internalName="SharedWithDetails" ma:readOnly="true">
      <xsd:simpleType>
        <xsd:restriction base="dms:Note">
          <xsd:maxLength value="255"/>
        </xsd:restriction>
      </xsd:simpleType>
    </xsd:element>
    <xsd:element name="SharingHintHash" ma:index="15"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0A1F4B-C5D2-431E-B60B-B34521A901BA}">
  <ds:schemaRefs>
    <ds:schemaRef ds:uri="http://schemas.openxmlformats.org/package/2006/metadata/core-properties"/>
    <ds:schemaRef ds:uri="eba76e9f-4f2f-4519-971e-cbbbafc6fbcb"/>
    <ds:schemaRef ds:uri="http://schemas.microsoft.com/office/infopath/2007/PartnerControls"/>
    <ds:schemaRef ds:uri="9a468b09-1a0d-4693-b2da-f886d104b45f"/>
    <ds:schemaRef ds:uri="http://www.w3.org/XML/1998/namespace"/>
    <ds:schemaRef ds:uri="http://schemas.microsoft.com/office/2006/documentManagement/types"/>
    <ds:schemaRef ds:uri="http://purl.org/dc/dcmitype/"/>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621BF578-B8FA-4F98-ACC1-58D04B5F2B33}">
  <ds:schemaRefs>
    <ds:schemaRef ds:uri="http://schemas.microsoft.com/sharepoint/v3/contenttype/forms"/>
  </ds:schemaRefs>
</ds:datastoreItem>
</file>

<file path=customXml/itemProps3.xml><?xml version="1.0" encoding="utf-8"?>
<ds:datastoreItem xmlns:ds="http://schemas.openxmlformats.org/officeDocument/2006/customXml" ds:itemID="{561AEB0C-3A5A-4146-AE45-18FD64FF37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a76e9f-4f2f-4519-971e-cbbbafc6fbcb"/>
    <ds:schemaRef ds:uri="9a468b09-1a0d-4693-b2da-f886d104b4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32595</TotalTime>
  <Words>1726</Words>
  <Application>Microsoft Office PowerPoint</Application>
  <PresentationFormat>Grand écran</PresentationFormat>
  <Paragraphs>334</Paragraphs>
  <Slides>21</Slides>
  <Notes>14</Notes>
  <HiddenSlides>1</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Arial</vt:lpstr>
      <vt:lpstr>Calibri</vt:lpstr>
      <vt:lpstr>Calibri Light</vt:lpstr>
      <vt:lpstr>Cambria Math</vt:lpstr>
      <vt:lpstr>Times New Roman</vt:lpstr>
      <vt:lpstr>Wingdings</vt:lpstr>
      <vt:lpstr>Rétrospective</vt:lpstr>
      <vt:lpstr>Leveraging Neural Networks In a Hybrid Model Predictive Control framework for District Heating Networks</vt:lpstr>
      <vt:lpstr>Context</vt:lpstr>
      <vt:lpstr>Model Predictive Control (MPC)</vt:lpstr>
      <vt:lpstr>Model Predictive Control (MPC)</vt:lpstr>
      <vt:lpstr>Model Predictive Control (MPC)</vt:lpstr>
      <vt:lpstr>Problematic</vt:lpstr>
      <vt:lpstr>Proposed methodology</vt:lpstr>
      <vt:lpstr>Proposed methodology</vt:lpstr>
      <vt:lpstr>Proposed methodology</vt:lpstr>
      <vt:lpstr>Proposed methodology</vt:lpstr>
      <vt:lpstr>Proposed methodology</vt:lpstr>
      <vt:lpstr>Proposed methodology</vt:lpstr>
      <vt:lpstr>Proposed methodology</vt:lpstr>
      <vt:lpstr>Surrogate neural networks models</vt:lpstr>
      <vt:lpstr>Data generation</vt:lpstr>
      <vt:lpstr>Hybrid MPC vs Physical MPC</vt:lpstr>
      <vt:lpstr>Results (learning performances)</vt:lpstr>
      <vt:lpstr>Results (Hybrid MPC accuracy)</vt:lpstr>
      <vt:lpstr>Results (CPU gains)</vt:lpstr>
      <vt:lpstr>Conclusion and perspectives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Dubon RODRIGUE</dc:creator>
  <cp:lastModifiedBy>dubon.rodrigue@imt-atlantique.fr</cp:lastModifiedBy>
  <cp:revision>975</cp:revision>
  <dcterms:created xsi:type="dcterms:W3CDTF">2023-04-20T10:16:21Z</dcterms:created>
  <dcterms:modified xsi:type="dcterms:W3CDTF">2024-06-30T20:00:59Z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0x010100B4A25B986E9CB141BC9F05ED1BFF851D</vt:lpwstr>
  </property>
</Properties>
</file>